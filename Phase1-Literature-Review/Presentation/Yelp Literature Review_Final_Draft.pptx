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73" r:id="rId3"/>
    <p:sldId id="257" r:id="rId4"/>
    <p:sldId id="258" r:id="rId5"/>
    <p:sldId id="260" r:id="rId6"/>
    <p:sldId id="261" r:id="rId7"/>
    <p:sldId id="262" r:id="rId8"/>
    <p:sldId id="263" r:id="rId9"/>
    <p:sldId id="274" r:id="rId10"/>
    <p:sldId id="264" r:id="rId11"/>
    <p:sldId id="265" r:id="rId12"/>
    <p:sldId id="27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DD6"/>
          </a:solidFill>
        </a:fill>
      </a:tcStyle>
    </a:wholeTbl>
    <a:band2H>
      <a:tcTxStyle/>
      <a:tcStyle>
        <a:tcBdr/>
        <a:fill>
          <a:solidFill>
            <a:srgbClr val="E6E7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0EC"/>
          </a:solidFill>
        </a:fill>
      </a:tcStyle>
    </a:wholeTbl>
    <a:band2H>
      <a:tcTxStyle/>
      <a:tcStyle>
        <a:tcBdr/>
        <a:fill>
          <a:solidFill>
            <a:srgbClr val="E6F0F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CACB"/>
          </a:solidFill>
        </a:fill>
      </a:tcStyle>
    </a:wholeTbl>
    <a:band2H>
      <a:tcTxStyle/>
      <a:tcStyle>
        <a:tcBdr/>
        <a:fill>
          <a:solidFill>
            <a:srgbClr val="E9E6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0"/>
    <p:restoredTop sz="94651"/>
  </p:normalViewPr>
  <p:slideViewPr>
    <p:cSldViewPr snapToGrid="0">
      <p:cViewPr>
        <p:scale>
          <a:sx n="140" d="100"/>
          <a:sy n="140" d="100"/>
        </p:scale>
        <p:origin x="135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5" name="Shape 1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126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9852F-C953-3445-B10C-3B6B94EB422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82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9852F-C953-3445-B10C-3B6B94EB422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794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427893" y="530103"/>
            <a:ext cx="5267657" cy="17319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27896" y="2479367"/>
            <a:ext cx="5267655" cy="97860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indent="342991">
              <a:buSzTx/>
              <a:buFontTx/>
              <a:buNone/>
              <a:defRPr sz="2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indent="685982">
              <a:buSzTx/>
              <a:buFontTx/>
              <a:buNone/>
              <a:defRPr sz="2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indent="1028974">
              <a:buSzTx/>
              <a:buFontTx/>
              <a:buNone/>
              <a:defRPr sz="2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indent="1371965">
              <a:buSzTx/>
              <a:buFontTx/>
              <a:buNone/>
              <a:defRPr sz="2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27896" y="6210693"/>
            <a:ext cx="203024" cy="1930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"/>
          <p:cNvSpPr/>
          <p:nvPr/>
        </p:nvSpPr>
        <p:spPr>
          <a:xfrm>
            <a:off x="-1" y="6049341"/>
            <a:ext cx="9157815" cy="808659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3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04" y="6371261"/>
            <a:ext cx="3067996" cy="223846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Rectangle 6"/>
          <p:cNvSpPr/>
          <p:nvPr/>
        </p:nvSpPr>
        <p:spPr>
          <a:xfrm>
            <a:off x="-1" y="5956648"/>
            <a:ext cx="9144001" cy="92698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xfrm>
            <a:off x="722312" y="4406905"/>
            <a:ext cx="7772401" cy="1362076"/>
          </a:xfrm>
          <a:prstGeom prst="rect">
            <a:avLst/>
          </a:prstGeom>
        </p:spPr>
        <p:txBody>
          <a:bodyPr/>
          <a:lstStyle>
            <a:lvl1pPr>
              <a:defRPr sz="3000" cap="all"/>
            </a:lvl1pPr>
          </a:lstStyle>
          <a:p>
            <a:r>
              <a:t>Title Text</a:t>
            </a:r>
          </a:p>
        </p:txBody>
      </p:sp>
      <p:sp>
        <p:nvSpPr>
          <p:cNvPr id="3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1pPr>
            <a:lvl2pPr marL="0" indent="342991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2pPr>
            <a:lvl3pPr marL="0" indent="685982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3pPr>
            <a:lvl4pPr marL="0" indent="1028974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4pPr>
            <a:lvl5pPr marL="0" indent="1371965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"/>
          <p:cNvSpPr/>
          <p:nvPr/>
        </p:nvSpPr>
        <p:spPr>
          <a:xfrm>
            <a:off x="-1" y="6049341"/>
            <a:ext cx="9157815" cy="808659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5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04" y="6371261"/>
            <a:ext cx="3067996" cy="223846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Rectangle 6"/>
          <p:cNvSpPr/>
          <p:nvPr/>
        </p:nvSpPr>
        <p:spPr>
          <a:xfrm>
            <a:off x="-1" y="5956648"/>
            <a:ext cx="9144001" cy="92698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27896" y="6156903"/>
            <a:ext cx="203024" cy="1930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3"/>
          <p:cNvSpPr/>
          <p:nvPr/>
        </p:nvSpPr>
        <p:spPr>
          <a:xfrm>
            <a:off x="-1" y="6049341"/>
            <a:ext cx="9157815" cy="808659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6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04" y="6371261"/>
            <a:ext cx="3067996" cy="223846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Rectangle 6"/>
          <p:cNvSpPr/>
          <p:nvPr/>
        </p:nvSpPr>
        <p:spPr>
          <a:xfrm>
            <a:off x="-1" y="5956648"/>
            <a:ext cx="9144001" cy="92698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27896" y="6156903"/>
            <a:ext cx="203024" cy="1930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3"/>
          <p:cNvSpPr/>
          <p:nvPr/>
        </p:nvSpPr>
        <p:spPr>
          <a:xfrm>
            <a:off x="-1" y="6049341"/>
            <a:ext cx="9157815" cy="808659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7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04" y="6371261"/>
            <a:ext cx="3067996" cy="223846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Rectangle 6"/>
          <p:cNvSpPr/>
          <p:nvPr/>
        </p:nvSpPr>
        <p:spPr>
          <a:xfrm>
            <a:off x="-1" y="5956648"/>
            <a:ext cx="9144001" cy="92698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0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6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 marL="593089" indent="-250098">
              <a:defRPr sz="2100"/>
            </a:lvl2pPr>
            <a:lvl3pPr marL="926077" indent="-240094">
              <a:defRPr sz="2100"/>
            </a:lvl3pPr>
            <a:lvl4pPr marL="1306006" indent="-277032">
              <a:defRPr sz="2100"/>
            </a:lvl4pPr>
            <a:lvl5pPr marL="1648997" indent="-277032">
              <a:defRPr sz="21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27896" y="6156903"/>
            <a:ext cx="203024" cy="1930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1800" b="1"/>
            </a:lvl1pPr>
            <a:lvl2pPr marL="0" indent="342991">
              <a:spcBef>
                <a:spcPts val="400"/>
              </a:spcBef>
              <a:buSzTx/>
              <a:buFontTx/>
              <a:buNone/>
              <a:defRPr sz="1800" b="1"/>
            </a:lvl2pPr>
            <a:lvl3pPr marL="0" indent="685982">
              <a:spcBef>
                <a:spcPts val="400"/>
              </a:spcBef>
              <a:buSzTx/>
              <a:buFontTx/>
              <a:buNone/>
              <a:defRPr sz="1800" b="1"/>
            </a:lvl3pPr>
            <a:lvl4pPr marL="0" indent="1028974">
              <a:spcBef>
                <a:spcPts val="400"/>
              </a:spcBef>
              <a:buSzTx/>
              <a:buFontTx/>
              <a:buNone/>
              <a:defRPr sz="1800" b="1"/>
            </a:lvl4pPr>
            <a:lvl5pPr marL="0" indent="1371965">
              <a:spcBef>
                <a:spcPts val="400"/>
              </a:spcBef>
              <a:buSzTx/>
              <a:buFontTx/>
              <a:buNone/>
              <a:defRPr sz="18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0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400"/>
              </a:spcBef>
              <a:buSzTx/>
              <a:buFontTx/>
              <a:buNone/>
              <a:defRPr sz="1800" b="1"/>
            </a:pPr>
            <a:endParaRPr/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27896" y="6156903"/>
            <a:ext cx="203024" cy="1930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3"/>
          <p:cNvSpPr/>
          <p:nvPr/>
        </p:nvSpPr>
        <p:spPr>
          <a:xfrm>
            <a:off x="-1" y="6049341"/>
            <a:ext cx="9157815" cy="808659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89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04" y="6371261"/>
            <a:ext cx="3067996" cy="223846"/>
          </a:xfrm>
          <a:prstGeom prst="rect">
            <a:avLst/>
          </a:prstGeom>
          <a:ln w="12700">
            <a:miter lim="400000"/>
          </a:ln>
        </p:spPr>
      </p:pic>
      <p:sp>
        <p:nvSpPr>
          <p:cNvPr id="90" name="Rectangle 6"/>
          <p:cNvSpPr/>
          <p:nvPr/>
        </p:nvSpPr>
        <p:spPr>
          <a:xfrm>
            <a:off x="-1" y="5956648"/>
            <a:ext cx="9144001" cy="92698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27896" y="6156903"/>
            <a:ext cx="203024" cy="1930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3"/>
          <p:cNvSpPr/>
          <p:nvPr/>
        </p:nvSpPr>
        <p:spPr>
          <a:xfrm>
            <a:off x="-1" y="6049341"/>
            <a:ext cx="9157815" cy="808659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00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04" y="6371261"/>
            <a:ext cx="3067996" cy="223846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Rectangle 6"/>
          <p:cNvSpPr/>
          <p:nvPr/>
        </p:nvSpPr>
        <p:spPr>
          <a:xfrm>
            <a:off x="-1" y="5956648"/>
            <a:ext cx="9144001" cy="92698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27896" y="6156903"/>
            <a:ext cx="203024" cy="1930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3"/>
          <p:cNvSpPr/>
          <p:nvPr/>
        </p:nvSpPr>
        <p:spPr>
          <a:xfrm>
            <a:off x="-1" y="6049341"/>
            <a:ext cx="9157815" cy="808659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10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04" y="6371261"/>
            <a:ext cx="3067996" cy="223846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Rectangle 6"/>
          <p:cNvSpPr/>
          <p:nvPr/>
        </p:nvSpPr>
        <p:spPr>
          <a:xfrm>
            <a:off x="-1" y="5956648"/>
            <a:ext cx="9144001" cy="92698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2" name="Title Text"/>
          <p:cNvSpPr txBox="1">
            <a:spLocks noGrp="1"/>
          </p:cNvSpPr>
          <p:nvPr>
            <p:ph type="title"/>
          </p:nvPr>
        </p:nvSpPr>
        <p:spPr>
          <a:xfrm>
            <a:off x="457203" y="273050"/>
            <a:ext cx="3008314" cy="1162050"/>
          </a:xfrm>
          <a:prstGeom prst="rect">
            <a:avLst/>
          </a:prstGeom>
        </p:spPr>
        <p:txBody>
          <a:bodyPr anchor="b"/>
          <a:lstStyle>
            <a:lvl1pPr>
              <a:defRPr sz="1500"/>
            </a:lvl1pPr>
          </a:lstStyle>
          <a:p>
            <a:r>
              <a:t>Title Text</a:t>
            </a:r>
          </a:p>
        </p:txBody>
      </p:sp>
      <p:sp>
        <p:nvSpPr>
          <p:cNvPr id="113" name="Body Level One…"/>
          <p:cNvSpPr txBox="1">
            <a:spLocks noGrp="1"/>
          </p:cNvSpPr>
          <p:nvPr>
            <p:ph type="body" idx="1"/>
          </p:nvPr>
        </p:nvSpPr>
        <p:spPr>
          <a:xfrm>
            <a:off x="3575050" y="273056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Text Placeholder 3"/>
          <p:cNvSpPr>
            <a:spLocks noGrp="1"/>
          </p:cNvSpPr>
          <p:nvPr>
            <p:ph type="body" sz="half" idx="21"/>
          </p:nvPr>
        </p:nvSpPr>
        <p:spPr>
          <a:xfrm>
            <a:off x="457202" y="1435103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200"/>
              </a:spcBef>
              <a:buSzTx/>
              <a:buFontTx/>
              <a:buNone/>
              <a:defRPr sz="1000"/>
            </a:pPr>
            <a:endParaRPr/>
          </a:p>
        </p:txBody>
      </p:sp>
      <p:sp>
        <p:nvSpPr>
          <p:cNvPr id="1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27896" y="6156903"/>
            <a:ext cx="203024" cy="1930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3"/>
          <p:cNvSpPr/>
          <p:nvPr/>
        </p:nvSpPr>
        <p:spPr>
          <a:xfrm>
            <a:off x="-1" y="6049341"/>
            <a:ext cx="9157815" cy="808659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23" name="Picture 4" descr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1904" y="6371261"/>
            <a:ext cx="3067996" cy="223846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Rectangle 6"/>
          <p:cNvSpPr/>
          <p:nvPr/>
        </p:nvSpPr>
        <p:spPr>
          <a:xfrm>
            <a:off x="-1" y="5956648"/>
            <a:ext cx="9144001" cy="92698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5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>
              <a:defRPr sz="1500"/>
            </a:lvl1pPr>
          </a:lstStyle>
          <a:p>
            <a:r>
              <a:t>Title Text</a:t>
            </a:r>
          </a:p>
        </p:txBody>
      </p:sp>
      <p:sp>
        <p:nvSpPr>
          <p:cNvPr id="12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"/>
              </a:spcBef>
              <a:buSzTx/>
              <a:buFontTx/>
              <a:buNone/>
              <a:defRPr sz="1000"/>
            </a:lvl1pPr>
            <a:lvl2pPr marL="0" indent="342991">
              <a:spcBef>
                <a:spcPts val="200"/>
              </a:spcBef>
              <a:buSzTx/>
              <a:buFontTx/>
              <a:buNone/>
              <a:defRPr sz="1000"/>
            </a:lvl2pPr>
            <a:lvl3pPr marL="0" indent="685982">
              <a:spcBef>
                <a:spcPts val="200"/>
              </a:spcBef>
              <a:buSzTx/>
              <a:buFontTx/>
              <a:buNone/>
              <a:defRPr sz="1000"/>
            </a:lvl3pPr>
            <a:lvl4pPr marL="0" indent="1028974">
              <a:spcBef>
                <a:spcPts val="200"/>
              </a:spcBef>
              <a:buSzTx/>
              <a:buFontTx/>
              <a:buNone/>
              <a:defRPr sz="1000"/>
            </a:lvl4pPr>
            <a:lvl5pPr marL="0" indent="1371965">
              <a:spcBef>
                <a:spcPts val="200"/>
              </a:spcBef>
              <a:buSzTx/>
              <a:buFontTx/>
              <a:buNone/>
              <a:defRPr sz="10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27896" y="6156903"/>
            <a:ext cx="203024" cy="1930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/>
          <p:nvPr/>
        </p:nvSpPr>
        <p:spPr>
          <a:xfrm>
            <a:off x="-1" y="6049341"/>
            <a:ext cx="9157815" cy="808659"/>
          </a:xfrm>
          <a:prstGeom prst="rect">
            <a:avLst/>
          </a:prstGeom>
          <a:solidFill>
            <a:srgbClr val="041E42"/>
          </a:solidFill>
          <a:ln>
            <a:solidFill>
              <a:srgbClr val="003A79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" name="Picture 4" descr="Picture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31904" y="6371261"/>
            <a:ext cx="3067996" cy="223846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6"/>
          <p:cNvSpPr/>
          <p:nvPr/>
        </p:nvSpPr>
        <p:spPr>
          <a:xfrm>
            <a:off x="-1" y="5956648"/>
            <a:ext cx="9144001" cy="92698"/>
          </a:xfrm>
          <a:prstGeom prst="rect">
            <a:avLst/>
          </a:prstGeom>
          <a:solidFill>
            <a:srgbClr val="BBBCB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213474" y="341768"/>
            <a:ext cx="8686427" cy="878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Title Text</a:t>
            </a:r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213474" y="1338867"/>
            <a:ext cx="8686427" cy="426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5532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>
              <a:defRPr sz="700">
                <a:solidFill>
                  <a:srgbClr val="FFFFFF"/>
                </a:solidFill>
                <a:latin typeface="55 Helvetica Roman"/>
                <a:ea typeface="55 Helvetica Roman"/>
                <a:cs typeface="55 Helvetica Roman"/>
                <a:sym typeface="55 Helvetica Roma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0" algn="l" defTabSz="34299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" b="1" i="0" u="none" strike="noStrike" cap="none" spc="0" baseline="0">
          <a:solidFill>
            <a:srgbClr val="002D5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titleStyle>
    <p:bodyStyle>
      <a:lvl1pPr marL="257243" marR="0" indent="-257243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1pPr>
      <a:lvl2pPr marL="587985" marR="0" indent="-244994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2pPr>
      <a:lvl3pPr marL="914644" marR="0" indent="-228661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3pPr>
      <a:lvl4pPr marL="1303367" marR="0" indent="-274393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4pPr>
      <a:lvl5pPr marL="1646358" marR="0" indent="-274393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sz="2400" b="0" i="0" u="none" strike="noStrike" cap="none" spc="0" baseline="0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5pPr>
      <a:lvl6pPr marL="1989350" marR="0" indent="-274393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6pPr>
      <a:lvl7pPr marL="2332341" marR="0" indent="-274393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7pPr>
      <a:lvl8pPr marL="2675333" marR="0" indent="-274393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8pPr>
      <a:lvl9pPr marL="3018324" marR="0" indent="-274393" algn="l" defTabSz="342991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Adobe Caslon Pro"/>
          <a:ea typeface="Adobe Caslon Pro"/>
          <a:cs typeface="Adobe Caslon Pro"/>
          <a:sym typeface="Adobe Caslon Pro"/>
        </a:defRPr>
      </a:lvl9pPr>
    </p:bodyStyle>
    <p:other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1pPr>
      <a:lvl2pPr marL="0" marR="0" indent="4572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2pPr>
      <a:lvl3pPr marL="0" marR="0" indent="9144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3pPr>
      <a:lvl4pPr marL="0" marR="0" indent="13716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4pPr>
      <a:lvl5pPr marL="0" marR="0" indent="18288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5pPr>
      <a:lvl6pPr marL="0" marR="0" indent="22860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6pPr>
      <a:lvl7pPr marL="0" marR="0" indent="27432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7pPr>
      <a:lvl8pPr marL="0" marR="0" indent="32004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8pPr>
      <a:lvl9pPr marL="0" marR="0" indent="365760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55 Helvetica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4"/>
          <p:cNvSpPr/>
          <p:nvPr/>
        </p:nvSpPr>
        <p:spPr>
          <a:xfrm>
            <a:off x="2" y="0"/>
            <a:ext cx="9151874" cy="6858000"/>
          </a:xfrm>
          <a:prstGeom prst="rect">
            <a:avLst/>
          </a:prstGeom>
          <a:solidFill>
            <a:srgbClr val="011B39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8" name="Title 5"/>
          <p:cNvSpPr txBox="1">
            <a:spLocks noGrp="1"/>
          </p:cNvSpPr>
          <p:nvPr>
            <p:ph type="ctrTitle"/>
          </p:nvPr>
        </p:nvSpPr>
        <p:spPr>
          <a:xfrm>
            <a:off x="626684" y="1502819"/>
            <a:ext cx="8184807" cy="978697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BBBCBC"/>
                </a:solidFill>
              </a:defRPr>
            </a:lvl1pPr>
          </a:lstStyle>
          <a:p>
            <a:r>
              <a:t>Yelp Dataset Sentiment Analysis</a:t>
            </a:r>
          </a:p>
        </p:txBody>
      </p:sp>
      <p:sp>
        <p:nvSpPr>
          <p:cNvPr id="139" name="Subtitle 6"/>
          <p:cNvSpPr txBox="1">
            <a:spLocks noGrp="1"/>
          </p:cNvSpPr>
          <p:nvPr>
            <p:ph type="subTitle" sz="quarter" idx="1"/>
          </p:nvPr>
        </p:nvSpPr>
        <p:spPr>
          <a:xfrm>
            <a:off x="626685" y="2397727"/>
            <a:ext cx="3558230" cy="547974"/>
          </a:xfrm>
          <a:prstGeom prst="rect">
            <a:avLst/>
          </a:prstGeom>
        </p:spPr>
        <p:txBody>
          <a:bodyPr/>
          <a:lstStyle>
            <a:lvl1pPr>
              <a:spcBef>
                <a:spcPts val="400"/>
              </a:spcBef>
              <a:defRPr sz="1800" b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Literature Review Survey</a:t>
            </a:r>
          </a:p>
        </p:txBody>
      </p:sp>
      <p:pic>
        <p:nvPicPr>
          <p:cNvPr id="140" name="Picture 1" descr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898" y="4690386"/>
            <a:ext cx="2016789" cy="1422957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Subtitle 6"/>
          <p:cNvSpPr txBox="1"/>
          <p:nvPr/>
        </p:nvSpPr>
        <p:spPr>
          <a:xfrm>
            <a:off x="672404" y="4372202"/>
            <a:ext cx="4131249" cy="1422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defTabSz="342991">
              <a:lnSpc>
                <a:spcPct val="80000"/>
              </a:lnSpc>
              <a:spcBef>
                <a:spcPts val="200"/>
              </a:spcBef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Cole Hanrahan and Julia Sober</a:t>
            </a:r>
          </a:p>
          <a:p>
            <a:pPr defTabSz="342991">
              <a:lnSpc>
                <a:spcPct val="80000"/>
              </a:lnSpc>
              <a:spcBef>
                <a:spcPts val="200"/>
              </a:spcBef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COSC 5540</a:t>
            </a: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 — </a:t>
            </a:r>
            <a:r>
              <a:t>Text Mining &amp; Analysis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342991">
              <a:lnSpc>
                <a:spcPct val="80000"/>
              </a:lnSpc>
              <a:spcBef>
                <a:spcPts val="200"/>
              </a:spcBef>
              <a:defRPr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Fall 2025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C8230-4EBB-92EE-B786-7745E3C15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DA7F1A-EACD-226A-CA3C-9885974AC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  <a:p>
            <a:pPr lvl="1"/>
            <a:r>
              <a:rPr lang="en-US" dirty="0"/>
              <a:t>Research Directions</a:t>
            </a:r>
          </a:p>
          <a:p>
            <a:pPr lvl="1"/>
            <a:r>
              <a:rPr lang="en-US" dirty="0"/>
              <a:t>Dataset</a:t>
            </a:r>
          </a:p>
          <a:p>
            <a:pPr lvl="1"/>
            <a:r>
              <a:rPr lang="en-US" dirty="0"/>
              <a:t>Approaches</a:t>
            </a:r>
          </a:p>
          <a:p>
            <a:r>
              <a:rPr lang="en-US" dirty="0"/>
              <a:t>Selected Papers</a:t>
            </a:r>
          </a:p>
          <a:p>
            <a:r>
              <a:rPr lang="en-US" dirty="0"/>
              <a:t>Overall Summary</a:t>
            </a:r>
          </a:p>
        </p:txBody>
      </p:sp>
    </p:spTree>
    <p:extLst>
      <p:ext uri="{BB962C8B-B14F-4D97-AF65-F5344CB8AC3E}">
        <p14:creationId xmlns:p14="http://schemas.microsoft.com/office/powerpoint/2010/main" val="78850911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itle 1"/>
          <p:cNvSpPr txBox="1">
            <a:spLocks noGrp="1"/>
          </p:cNvSpPr>
          <p:nvPr>
            <p:ph type="title"/>
          </p:nvPr>
        </p:nvSpPr>
        <p:spPr>
          <a:xfrm>
            <a:off x="213473" y="341768"/>
            <a:ext cx="8686428" cy="878968"/>
          </a:xfrm>
          <a:prstGeom prst="rect">
            <a:avLst/>
          </a:prstGeom>
        </p:spPr>
        <p:txBody>
          <a:bodyPr/>
          <a:lstStyle/>
          <a:p>
            <a:r>
              <a:t>Background and Motivation</a:t>
            </a:r>
          </a:p>
        </p:txBody>
      </p:sp>
      <p:sp>
        <p:nvSpPr>
          <p:cNvPr id="144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213473" y="1338867"/>
            <a:ext cx="8686428" cy="2301364"/>
          </a:xfrm>
          <a:prstGeom prst="rect">
            <a:avLst/>
          </a:prstGeom>
        </p:spPr>
        <p:txBody>
          <a:bodyPr/>
          <a:lstStyle/>
          <a:p>
            <a:pPr marL="223802" indent="-223802" defTabSz="298402">
              <a:defRPr sz="1914"/>
            </a:pPr>
            <a:r>
              <a:rPr dirty="0"/>
              <a:t>Online platforms like Yelp contain millions of reviews, but the link between text and star ratings is not straightforward. </a:t>
            </a:r>
          </a:p>
          <a:p>
            <a:pPr marL="223802" indent="-223802" defTabSz="298402">
              <a:defRPr sz="1914"/>
            </a:pPr>
            <a:r>
              <a:rPr dirty="0"/>
              <a:t>Automating star prediction helps users and businesses understand sentiment quickly</a:t>
            </a:r>
            <a:endParaRPr lang="en-US" dirty="0"/>
          </a:p>
          <a:p>
            <a:pPr marL="223802" indent="-223802" defTabSz="298402">
              <a:defRPr sz="1914"/>
            </a:pPr>
            <a:r>
              <a:rPr dirty="0"/>
              <a:t>Literature shows high accuracy for binary sentiment, but more nuanced star prediction is difficult due to imbalanced data, reviewer subjectivity, and noisy language.</a:t>
            </a:r>
          </a:p>
        </p:txBody>
      </p:sp>
      <p:pic>
        <p:nvPicPr>
          <p:cNvPr id="145" name="Screenshot 2025-10-13 at 7.39.23 PM.png" descr="Screenshot 2025-10-13 at 7.39.23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361" y="3588206"/>
            <a:ext cx="5266652" cy="2046526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Source: Yelp Dataset Challenge: Review Rating Prediction, Nabiha Asghar"/>
          <p:cNvSpPr txBox="1"/>
          <p:nvPr/>
        </p:nvSpPr>
        <p:spPr>
          <a:xfrm>
            <a:off x="1782613" y="5531750"/>
            <a:ext cx="5592587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latin typeface="Adobe Caslon Pro"/>
                <a:ea typeface="Adobe Caslon Pro"/>
                <a:cs typeface="Adobe Caslon Pro"/>
                <a:sym typeface="Adobe Caslon Pro"/>
              </a:defRPr>
            </a:lvl1pPr>
          </a:lstStyle>
          <a:p>
            <a:r>
              <a:t>Source: Yelp Dataset Challenge: Review Rating Prediction, Nabiha Asghar 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itle 1"/>
          <p:cNvSpPr txBox="1">
            <a:spLocks noGrp="1"/>
          </p:cNvSpPr>
          <p:nvPr>
            <p:ph type="title"/>
          </p:nvPr>
        </p:nvSpPr>
        <p:spPr>
          <a:xfrm>
            <a:off x="213473" y="341768"/>
            <a:ext cx="8686428" cy="878968"/>
          </a:xfrm>
          <a:prstGeom prst="rect">
            <a:avLst/>
          </a:prstGeom>
        </p:spPr>
        <p:txBody>
          <a:bodyPr/>
          <a:lstStyle/>
          <a:p>
            <a:r>
              <a:t>Research Directions in Literature</a:t>
            </a:r>
          </a:p>
        </p:txBody>
      </p:sp>
      <p:sp>
        <p:nvSpPr>
          <p:cNvPr id="14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6537" y="1297644"/>
            <a:ext cx="8686427" cy="4262712"/>
          </a:xfrm>
          <a:prstGeom prst="rect">
            <a:avLst/>
          </a:prstGeom>
        </p:spPr>
        <p:txBody>
          <a:bodyPr/>
          <a:lstStyle/>
          <a:p>
            <a:pPr marL="828842" lvl="1" indent="-320842">
              <a:buFontTx/>
              <a:buAutoNum type="arabicPeriod"/>
              <a:defRPr b="1"/>
            </a:pPr>
            <a:r>
              <a:rPr dirty="0"/>
              <a:t>Binary Sentiment Classification</a:t>
            </a:r>
            <a:r>
              <a:rPr b="0" dirty="0"/>
              <a:t> – positive vs. negative reviews.</a:t>
            </a:r>
            <a:endParaRPr sz="2100" dirty="0"/>
          </a:p>
          <a:p>
            <a:pPr marL="828842" lvl="1" indent="-320842">
              <a:buFontTx/>
              <a:buAutoNum type="arabicPeriod"/>
              <a:defRPr b="1"/>
            </a:pPr>
            <a:r>
              <a:rPr dirty="0"/>
              <a:t>Star Rating Prediction</a:t>
            </a:r>
            <a:r>
              <a:rPr b="0" dirty="0"/>
              <a:t> – predict 1–5 stars from text.</a:t>
            </a:r>
            <a:endParaRPr sz="2100" dirty="0"/>
          </a:p>
          <a:p>
            <a:pPr marL="828842" lvl="1" indent="-320842">
              <a:buFontTx/>
              <a:buAutoNum type="arabicPeriod"/>
              <a:defRPr b="1"/>
            </a:pPr>
            <a:r>
              <a:rPr dirty="0"/>
              <a:t>Bias Analysis</a:t>
            </a:r>
            <a:r>
              <a:rPr b="0" dirty="0"/>
              <a:t> – explore inconsistencies between text and rating.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Datase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Dataset</a:t>
            </a:r>
          </a:p>
        </p:txBody>
      </p:sp>
      <p:sp>
        <p:nvSpPr>
          <p:cNvPr id="155" name="Yelp Dataset Challenge (~7–8 million reviews)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Yelp Dataset Challenge (~7–8 million reviews). </a:t>
            </a:r>
          </a:p>
          <a:p>
            <a:r>
              <a:rPr dirty="0"/>
              <a:t>Each review includes text and star rating (+ many more features); known imbalance with most ratings ≥4 stars. </a:t>
            </a:r>
          </a:p>
          <a:p>
            <a:r>
              <a:rPr dirty="0"/>
              <a:t>Similar datasets in research: Amazon, Twitter, IMDB for method comparison.</a:t>
            </a:r>
          </a:p>
          <a:p>
            <a:pPr marL="600234" lvl="1" indent="-257243">
              <a:buChar char="•"/>
            </a:pPr>
            <a:r>
              <a:rPr dirty="0"/>
              <a:t>Some papers used these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itle 1"/>
          <p:cNvSpPr txBox="1">
            <a:spLocks noGrp="1"/>
          </p:cNvSpPr>
          <p:nvPr>
            <p:ph type="title"/>
          </p:nvPr>
        </p:nvSpPr>
        <p:spPr>
          <a:xfrm>
            <a:off x="213473" y="341768"/>
            <a:ext cx="8686428" cy="878968"/>
          </a:xfrm>
          <a:prstGeom prst="rect">
            <a:avLst/>
          </a:prstGeom>
        </p:spPr>
        <p:txBody>
          <a:bodyPr/>
          <a:lstStyle/>
          <a:p>
            <a:r>
              <a:t>Preprocessing Methods</a:t>
            </a:r>
          </a:p>
        </p:txBody>
      </p:sp>
      <p:sp>
        <p:nvSpPr>
          <p:cNvPr id="15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13473" y="1338867"/>
            <a:ext cx="8686428" cy="426271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r>
              <a:rPr dirty="0"/>
              <a:t>Lowercase conversion, punctuation/special character removal, stop word elimination. </a:t>
            </a:r>
          </a:p>
          <a:p>
            <a:pPr>
              <a:lnSpc>
                <a:spcPct val="90000"/>
              </a:lnSpc>
            </a:pPr>
            <a:r>
              <a:rPr dirty="0"/>
              <a:t>Extract features (length, punctuation) before cleaning. </a:t>
            </a:r>
          </a:p>
          <a:p>
            <a:pPr>
              <a:lnSpc>
                <a:spcPct val="90000"/>
              </a:lnSpc>
            </a:pPr>
            <a:r>
              <a:rPr dirty="0"/>
              <a:t>Negation handling (“not good” → “</a:t>
            </a:r>
            <a:r>
              <a:rPr dirty="0" err="1"/>
              <a:t>not_good</a:t>
            </a:r>
            <a:r>
              <a:rPr dirty="0"/>
              <a:t>”), optional stemming.</a:t>
            </a:r>
          </a:p>
          <a:p>
            <a:pPr>
              <a:lnSpc>
                <a:spcPct val="90000"/>
              </a:lnSpc>
            </a:pPr>
            <a:r>
              <a:rPr dirty="0"/>
              <a:t>Part of Speech tagging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itle 1"/>
          <p:cNvSpPr txBox="1">
            <a:spLocks noGrp="1"/>
          </p:cNvSpPr>
          <p:nvPr>
            <p:ph type="title"/>
          </p:nvPr>
        </p:nvSpPr>
        <p:spPr>
          <a:xfrm>
            <a:off x="213473" y="341768"/>
            <a:ext cx="8686428" cy="878968"/>
          </a:xfrm>
          <a:prstGeom prst="rect">
            <a:avLst/>
          </a:prstGeom>
        </p:spPr>
        <p:txBody>
          <a:bodyPr/>
          <a:lstStyle/>
          <a:p>
            <a:r>
              <a:t>Feature Engineering Approaches</a:t>
            </a:r>
          </a:p>
        </p:txBody>
      </p:sp>
      <p:sp>
        <p:nvSpPr>
          <p:cNvPr id="16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13473" y="1338867"/>
            <a:ext cx="8686428" cy="426271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182643" indent="-182643" defTabSz="243523">
              <a:spcBef>
                <a:spcPts val="400"/>
              </a:spcBef>
              <a:defRPr sz="1703" b="1"/>
            </a:pPr>
            <a:r>
              <a:rPr dirty="0"/>
              <a:t>Bag of Words (</a:t>
            </a:r>
            <a:r>
              <a:rPr dirty="0" err="1"/>
              <a:t>BoW</a:t>
            </a:r>
            <a:r>
              <a:rPr dirty="0"/>
              <a:t>):</a:t>
            </a:r>
          </a:p>
          <a:p>
            <a:pPr marL="426166" lvl="1" indent="-182643" defTabSz="243523">
              <a:spcBef>
                <a:spcPts val="400"/>
              </a:spcBef>
              <a:buChar char="•"/>
              <a:defRPr sz="1703"/>
            </a:pPr>
            <a:r>
              <a:rPr dirty="0"/>
              <a:t>Baseline—simple but effective</a:t>
            </a:r>
          </a:p>
          <a:p>
            <a:pPr marL="182643" indent="-182643" defTabSz="243523">
              <a:spcBef>
                <a:spcPts val="400"/>
              </a:spcBef>
              <a:defRPr sz="1703"/>
            </a:pPr>
            <a:r>
              <a:rPr b="1" dirty="0"/>
              <a:t>TF-IDF</a:t>
            </a:r>
            <a:r>
              <a:rPr dirty="0"/>
              <a:t> and </a:t>
            </a:r>
            <a:r>
              <a:rPr b="1" dirty="0"/>
              <a:t>n-grams</a:t>
            </a:r>
            <a:r>
              <a:rPr dirty="0"/>
              <a:t> (unigrams, bigrams, trigrams):</a:t>
            </a:r>
          </a:p>
          <a:p>
            <a:pPr marL="426166" lvl="1" indent="-182643" defTabSz="243523">
              <a:spcBef>
                <a:spcPts val="400"/>
              </a:spcBef>
              <a:buChar char="•"/>
              <a:defRPr sz="1703"/>
            </a:pPr>
            <a:r>
              <a:rPr dirty="0"/>
              <a:t>Define rare/meaningful words/phrases</a:t>
            </a:r>
          </a:p>
          <a:p>
            <a:pPr marL="182643" indent="-182643" defTabSz="243523">
              <a:spcBef>
                <a:spcPts val="400"/>
              </a:spcBef>
              <a:defRPr sz="1703" b="1"/>
            </a:pPr>
            <a:r>
              <a:rPr dirty="0"/>
              <a:t>Sentiment Lexicons: </a:t>
            </a:r>
          </a:p>
          <a:p>
            <a:pPr marL="426166" lvl="1" indent="-182643" defTabSz="243523">
              <a:spcBef>
                <a:spcPts val="400"/>
              </a:spcBef>
              <a:buChar char="•"/>
              <a:defRPr sz="1703"/>
            </a:pPr>
            <a:r>
              <a:rPr dirty="0"/>
              <a:t>Compare text with predefined word lists (e.g., Bing Liu)</a:t>
            </a:r>
          </a:p>
          <a:p>
            <a:pPr marL="426166" lvl="1" indent="-182643" defTabSz="243523">
              <a:spcBef>
                <a:spcPts val="400"/>
              </a:spcBef>
              <a:buChar char="•"/>
              <a:defRPr sz="1703"/>
            </a:pPr>
            <a:r>
              <a:rPr dirty="0"/>
              <a:t>Struggle with slang/typos</a:t>
            </a:r>
          </a:p>
          <a:p>
            <a:pPr marL="182643" indent="-182643" defTabSz="243523">
              <a:spcBef>
                <a:spcPts val="400"/>
              </a:spcBef>
              <a:defRPr sz="1703" b="1"/>
            </a:pPr>
            <a:r>
              <a:rPr dirty="0"/>
              <a:t>Part-of-Speech Tagging:</a:t>
            </a:r>
            <a:endParaRPr b="0" dirty="0"/>
          </a:p>
          <a:p>
            <a:pPr marL="426166" lvl="1" indent="-182643" defTabSz="243523">
              <a:spcBef>
                <a:spcPts val="400"/>
              </a:spcBef>
              <a:buChar char="•"/>
              <a:defRPr sz="1703" b="1"/>
            </a:pPr>
            <a:r>
              <a:rPr b="0" dirty="0"/>
              <a:t>e.g. use only adjectives</a:t>
            </a:r>
          </a:p>
          <a:p>
            <a:pPr marL="426166" lvl="1" indent="-182643" defTabSz="243523">
              <a:spcBef>
                <a:spcPts val="400"/>
              </a:spcBef>
              <a:buChar char="•"/>
              <a:defRPr sz="1703"/>
            </a:pPr>
            <a:r>
              <a:rPr lang="en-US" dirty="0"/>
              <a:t>Could </a:t>
            </a:r>
            <a:r>
              <a:rPr dirty="0"/>
              <a:t>improve interpretability and model performance</a:t>
            </a:r>
          </a:p>
          <a:p>
            <a:pPr marL="182643" indent="-182643" defTabSz="243523">
              <a:spcBef>
                <a:spcPts val="400"/>
              </a:spcBef>
              <a:defRPr sz="1703" b="1"/>
            </a:pPr>
            <a:r>
              <a:rPr dirty="0"/>
              <a:t>Contextual Embeddings:</a:t>
            </a:r>
            <a:endParaRPr b="0" dirty="0"/>
          </a:p>
          <a:p>
            <a:pPr marL="426166" lvl="1" indent="-182643" defTabSz="243523">
              <a:spcBef>
                <a:spcPts val="400"/>
              </a:spcBef>
              <a:buChar char="•"/>
              <a:defRPr sz="1703"/>
            </a:pPr>
            <a:r>
              <a:rPr dirty="0"/>
              <a:t>e.g. BERT</a:t>
            </a:r>
            <a:endParaRPr lang="en-US" dirty="0"/>
          </a:p>
          <a:p>
            <a:pPr marL="426166" lvl="1" indent="-182643" defTabSz="243523">
              <a:spcBef>
                <a:spcPts val="400"/>
              </a:spcBef>
              <a:buChar char="•"/>
              <a:defRPr sz="1703"/>
            </a:pPr>
            <a:r>
              <a:rPr lang="en-US" dirty="0"/>
              <a:t>Supplement with </a:t>
            </a:r>
            <a:r>
              <a:rPr dirty="0"/>
              <a:t>extracted features like review length, positivity/negativity scores, user votes if feasible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Modeling Approach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Modeling Approaches</a:t>
            </a:r>
          </a:p>
        </p:txBody>
      </p:sp>
      <p:sp>
        <p:nvSpPr>
          <p:cNvPr id="164" name="Baseline classifiers: Logistic Regression, Naive Bayes, SVM (linear/non-linear), Passive-Aggressive (similar to SVM)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1" dirty="0"/>
              <a:t>Baseline classifiers:</a:t>
            </a:r>
            <a:r>
              <a:rPr dirty="0"/>
              <a:t> Logistic Regression, Naive Bayes, SVM (linear/non-linear), Passive-Aggressive (similar to SVM). </a:t>
            </a:r>
          </a:p>
          <a:p>
            <a:r>
              <a:rPr b="1" dirty="0"/>
              <a:t>Tree-based ensembles:</a:t>
            </a:r>
            <a:r>
              <a:rPr dirty="0"/>
              <a:t> Random Forest, AdaBoost. </a:t>
            </a:r>
          </a:p>
          <a:p>
            <a:r>
              <a:rPr dirty="0"/>
              <a:t>Shallow/deep </a:t>
            </a:r>
            <a:r>
              <a:rPr b="1" dirty="0"/>
              <a:t>Multi-Layer </a:t>
            </a:r>
            <a:r>
              <a:rPr b="1" dirty="0" err="1"/>
              <a:t>Perceptrons</a:t>
            </a:r>
            <a:r>
              <a:rPr dirty="0"/>
              <a:t> with contextual embeddings. </a:t>
            </a:r>
          </a:p>
          <a:p>
            <a:r>
              <a:rPr b="1" dirty="0"/>
              <a:t>Ensemble methods:</a:t>
            </a:r>
            <a:r>
              <a:rPr dirty="0"/>
              <a:t> weighted voting, stacking. </a:t>
            </a:r>
          </a:p>
          <a:p>
            <a:r>
              <a:rPr b="1" dirty="0"/>
              <a:t>Ordinal models</a:t>
            </a:r>
            <a:r>
              <a:rPr dirty="0"/>
              <a:t> (ordered logistic regression) to honor rating order (i.e. 1 is closer to 2 than 4). </a:t>
            </a:r>
          </a:p>
          <a:p>
            <a:r>
              <a:rPr b="1" dirty="0"/>
              <a:t>Regressors</a:t>
            </a:r>
            <a:r>
              <a:rPr dirty="0"/>
              <a:t> (</a:t>
            </a:r>
            <a:r>
              <a:rPr dirty="0" err="1"/>
              <a:t>RandomForest</a:t>
            </a:r>
            <a:r>
              <a:rPr dirty="0"/>
              <a:t>, SVM, etc.), layered strategies (classify sentiment then regress rating).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101022 Campus_0028.jpeg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13" r="19763"/>
          <a:stretch/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" y="2320781"/>
            <a:ext cx="9144000" cy="2178782"/>
          </a:xfrm>
          <a:prstGeom prst="rect">
            <a:avLst/>
          </a:prstGeom>
          <a:solidFill>
            <a:srgbClr val="011B39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6167" y="2972297"/>
            <a:ext cx="3827110" cy="791659"/>
          </a:xfrm>
        </p:spPr>
        <p:txBody>
          <a:bodyPr>
            <a:noAutofit/>
          </a:bodyPr>
          <a:lstStyle/>
          <a:p>
            <a:pPr algn="l"/>
            <a:r>
              <a:rPr lang="en-US" sz="3001" dirty="0">
                <a:solidFill>
                  <a:srgbClr val="BBBCBC"/>
                </a:solidFill>
              </a:rPr>
              <a:t>Binary Classification</a:t>
            </a:r>
            <a:endParaRPr lang="en-US" sz="1800" dirty="0">
              <a:solidFill>
                <a:srgbClr val="BBBCB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55057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entiment Analysis on Product Reviews Using Machine Learning Techniques; Jagdale et al. (2019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18981">
              <a:defRPr sz="2511"/>
            </a:pPr>
            <a:r>
              <a:t>Sentiment Analysis on Product Reviews Using Machine Learning Techniques; </a:t>
            </a:r>
            <a:r>
              <a:rPr b="0"/>
              <a:t>Jagdale et al. (2019)</a:t>
            </a:r>
          </a:p>
        </p:txBody>
      </p:sp>
      <p:sp>
        <p:nvSpPr>
          <p:cNvPr id="167" name="Amazon product reviews: Camera, Laptops, Mobile phones, tablets, TVs, video surveillance (approx 13k total reviews)…"/>
          <p:cNvSpPr txBox="1">
            <a:spLocks noGrp="1"/>
          </p:cNvSpPr>
          <p:nvPr>
            <p:ph type="body" sz="half" idx="1"/>
          </p:nvPr>
        </p:nvSpPr>
        <p:spPr>
          <a:xfrm>
            <a:off x="213474" y="1338867"/>
            <a:ext cx="5749538" cy="2359515"/>
          </a:xfrm>
          <a:prstGeom prst="rect">
            <a:avLst/>
          </a:prstGeom>
        </p:spPr>
        <p:txBody>
          <a:bodyPr/>
          <a:lstStyle/>
          <a:p>
            <a:pPr marL="370331" indent="-257175" defTabSz="277822">
              <a:spcBef>
                <a:spcPts val="400"/>
              </a:spcBef>
              <a:buClr>
                <a:srgbClr val="1F2328"/>
              </a:buClr>
              <a:buFont typeface="TimesNewRomanPSMT"/>
              <a:defRPr sz="1944"/>
            </a:pPr>
            <a:r>
              <a:rPr b="1"/>
              <a:t>Amazon product reviews</a:t>
            </a:r>
            <a:r>
              <a:t>: Camera, Laptops, Mobile phones, tablets, TVs, video surveillance (approx 13k total reviews)</a:t>
            </a:r>
          </a:p>
          <a:p>
            <a:pPr marL="370331" indent="-257175" defTabSz="277822">
              <a:spcBef>
                <a:spcPts val="400"/>
              </a:spcBef>
              <a:buClr>
                <a:srgbClr val="1F2328"/>
              </a:buClr>
              <a:buFont typeface="TimesNewRomanPSMT"/>
              <a:defRPr sz="1944"/>
            </a:pPr>
            <a:r>
              <a:rPr b="1"/>
              <a:t>Binary</a:t>
            </a:r>
            <a:r>
              <a:t> classification</a:t>
            </a:r>
          </a:p>
          <a:p>
            <a:pPr marL="370331" indent="-257175" defTabSz="277822">
              <a:spcBef>
                <a:spcPts val="400"/>
              </a:spcBef>
              <a:buClr>
                <a:srgbClr val="1F2328"/>
              </a:buClr>
              <a:buFont typeface="TimesNewRomanPSMT"/>
              <a:defRPr sz="1944"/>
            </a:pPr>
            <a:r>
              <a:rPr b="1"/>
              <a:t>Future work</a:t>
            </a:r>
            <a:r>
              <a:t>: aspect level analysis could improve (e.g. Camera’s quality, megapixel, picture size, structure, lens, picture quality, etc.)</a:t>
            </a:r>
          </a:p>
        </p:txBody>
      </p:sp>
      <p:pic>
        <p:nvPicPr>
          <p:cNvPr id="168" name="Screenshot 2025-10-24 at 9.44.06 AM.png" descr="Screenshot 2025-10-24 at 9.44.06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719" y="1191314"/>
            <a:ext cx="3181436" cy="28974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Screenshot 2025-10-24 at 9.44.39 AM.png" descr="Screenshot 2025-10-24 at 9.44.39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08" y="3635158"/>
            <a:ext cx="5379771" cy="21519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Screenshot 2025-10-24 at 9.46.32 AM.png" descr="Screenshot 2025-10-24 at 9.46.32 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473" y="4309084"/>
            <a:ext cx="2906858" cy="14272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Ensemble Sentiment Analysis Using Bi-LSTM and CNN; Puneet Singh Lamba et al. (2024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25841">
              <a:defRPr sz="2565"/>
            </a:pPr>
            <a:r>
              <a:t>Ensemble Sentiment Analysis Using Bi-LSTM and CNN; </a:t>
            </a:r>
            <a:r>
              <a:rPr b="0"/>
              <a:t>Puneet Singh Lamba et al. (2024)</a:t>
            </a:r>
          </a:p>
        </p:txBody>
      </p:sp>
      <p:sp>
        <p:nvSpPr>
          <p:cNvPr id="173" name="Dataset: IMDB movie reviews and Yelp (separate models)…"/>
          <p:cNvSpPr txBox="1">
            <a:spLocks noGrp="1"/>
          </p:cNvSpPr>
          <p:nvPr>
            <p:ph type="body" sz="half" idx="1"/>
          </p:nvPr>
        </p:nvSpPr>
        <p:spPr>
          <a:xfrm>
            <a:off x="213474" y="1338867"/>
            <a:ext cx="4877202" cy="3229852"/>
          </a:xfrm>
          <a:prstGeom prst="rect">
            <a:avLst/>
          </a:prstGeom>
        </p:spPr>
        <p:txBody>
          <a:bodyPr/>
          <a:lstStyle/>
          <a:p>
            <a:pPr marL="162063" indent="-162063" defTabSz="216084">
              <a:spcBef>
                <a:spcPts val="300"/>
              </a:spcBef>
              <a:defRPr sz="1512"/>
            </a:pPr>
            <a:r>
              <a:rPr b="1"/>
              <a:t>Dataset</a:t>
            </a:r>
            <a:r>
              <a:t>: IMDB movie reviews and Yelp (separate models)</a:t>
            </a:r>
          </a:p>
          <a:p>
            <a:pPr marL="162063" indent="-162063" defTabSz="216084">
              <a:spcBef>
                <a:spcPts val="300"/>
              </a:spcBef>
              <a:defRPr sz="1512"/>
            </a:pPr>
            <a:r>
              <a:rPr b="1"/>
              <a:t>Binary</a:t>
            </a:r>
            <a:r>
              <a:t> classification</a:t>
            </a:r>
          </a:p>
          <a:p>
            <a:pPr marL="162063" indent="-162063" defTabSz="216084">
              <a:spcBef>
                <a:spcPts val="300"/>
              </a:spcBef>
              <a:defRPr sz="1512"/>
            </a:pPr>
            <a:r>
              <a:rPr b="1"/>
              <a:t>Tokenization</a:t>
            </a:r>
            <a:r>
              <a:t>: NLTK library's word_tokenize() </a:t>
            </a:r>
          </a:p>
          <a:p>
            <a:pPr marL="162063" indent="-162063" defTabSz="216084">
              <a:spcBef>
                <a:spcPts val="300"/>
              </a:spcBef>
              <a:defRPr sz="1512"/>
            </a:pPr>
            <a:r>
              <a:rPr b="1"/>
              <a:t>Hybrid</a:t>
            </a:r>
            <a:r>
              <a:t> of two techniques (Keras Sequential CNN and Bi-LSTM): </a:t>
            </a:r>
          </a:p>
          <a:p>
            <a:pPr marL="378148" lvl="1" indent="-162063" defTabSz="216084">
              <a:spcBef>
                <a:spcPts val="300"/>
              </a:spcBef>
              <a:buChar char="•"/>
              <a:defRPr sz="1512"/>
            </a:pPr>
            <a:r>
              <a:t>Built/saved model with </a:t>
            </a:r>
            <a:r>
              <a:rPr b="1"/>
              <a:t>Bi-LSTM</a:t>
            </a:r>
            <a:r>
              <a:t> </a:t>
            </a:r>
          </a:p>
          <a:p>
            <a:pPr marL="378148" lvl="1" indent="-162063" defTabSz="216084">
              <a:spcBef>
                <a:spcPts val="300"/>
              </a:spcBef>
              <a:buChar char="•"/>
              <a:defRPr sz="1512"/>
            </a:pPr>
            <a:r>
              <a:t>Built/saved </a:t>
            </a:r>
            <a:r>
              <a:rPr b="1"/>
              <a:t>CNN</a:t>
            </a:r>
            <a:r>
              <a:t> with Bert Tokenizer and Keras Module </a:t>
            </a:r>
          </a:p>
          <a:p>
            <a:pPr marL="378148" lvl="1" indent="-162063" defTabSz="216084">
              <a:spcBef>
                <a:spcPts val="300"/>
              </a:spcBef>
              <a:buChar char="•"/>
              <a:defRPr sz="1512"/>
            </a:pPr>
            <a:r>
              <a:rPr b="1"/>
              <a:t>Ensemble</a:t>
            </a:r>
            <a:r>
              <a:t> of both models</a:t>
            </a:r>
          </a:p>
          <a:p>
            <a:pPr marL="594232" lvl="2" indent="-162063" defTabSz="216084">
              <a:spcBef>
                <a:spcPts val="300"/>
              </a:spcBef>
              <a:defRPr sz="1512"/>
            </a:pPr>
            <a:r>
              <a:t>Weighted average</a:t>
            </a:r>
          </a:p>
          <a:p>
            <a:pPr marL="594232" lvl="2" indent="-162063" defTabSz="216084">
              <a:spcBef>
                <a:spcPts val="300"/>
              </a:spcBef>
              <a:defRPr sz="1512"/>
            </a:pPr>
            <a:r>
              <a:t>Stacking</a:t>
            </a:r>
          </a:p>
        </p:txBody>
      </p:sp>
      <p:pic>
        <p:nvPicPr>
          <p:cNvPr id="174" name="Screenshot 2025-10-24 at 9.51.36 AM.png" descr="Screenshot 2025-10-24 at 9.51.36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637" y="4674675"/>
            <a:ext cx="7404101" cy="1155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" name="Screenshot 2025-10-24 at 9.52.52 AM.png" descr="Screenshot 2025-10-24 at 9.52.52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256" y="1005678"/>
            <a:ext cx="3821380" cy="34547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20100408 Campus_0051.jpg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490" r="12622"/>
          <a:stretch/>
        </p:blipFill>
        <p:spPr>
          <a:xfrm>
            <a:off x="0" y="0"/>
            <a:ext cx="9144000" cy="685800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" y="2320781"/>
            <a:ext cx="9144000" cy="2178782"/>
          </a:xfrm>
          <a:prstGeom prst="rect">
            <a:avLst/>
          </a:prstGeom>
          <a:solidFill>
            <a:srgbClr val="011B39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06166" y="2972297"/>
            <a:ext cx="5033929" cy="791659"/>
          </a:xfrm>
        </p:spPr>
        <p:txBody>
          <a:bodyPr>
            <a:noAutofit/>
          </a:bodyPr>
          <a:lstStyle/>
          <a:p>
            <a:pPr algn="l"/>
            <a:r>
              <a:rPr lang="en-US" sz="3001" dirty="0">
                <a:solidFill>
                  <a:srgbClr val="BBBCBC"/>
                </a:solidFill>
              </a:rPr>
              <a:t>1-5 Star Rating Prediction</a:t>
            </a:r>
            <a:endParaRPr lang="en-US" sz="1800" dirty="0">
              <a:solidFill>
                <a:srgbClr val="BBBCB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64922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redicting a Business’ Star in Yelp from Its Reviews’ Text Alone; Mingming Fan &amp; Maryam Khademi (2014)"/>
          <p:cNvSpPr txBox="1">
            <a:spLocks noGrp="1"/>
          </p:cNvSpPr>
          <p:nvPr>
            <p:ph type="title"/>
          </p:nvPr>
        </p:nvSpPr>
        <p:spPr>
          <a:xfrm>
            <a:off x="213474" y="341768"/>
            <a:ext cx="4705428" cy="878968"/>
          </a:xfrm>
          <a:prstGeom prst="rect">
            <a:avLst/>
          </a:prstGeom>
        </p:spPr>
        <p:txBody>
          <a:bodyPr/>
          <a:lstStyle/>
          <a:p>
            <a:pPr defTabSz="216084">
              <a:defRPr sz="1701"/>
            </a:pPr>
            <a:r>
              <a:t>Predicting a Business’ Star in Yelp from Its Reviews’ Text Alone; </a:t>
            </a:r>
            <a:r>
              <a:rPr b="0"/>
              <a:t>Mingming Fan &amp; Maryam Khademi (2014)</a:t>
            </a:r>
          </a:p>
        </p:txBody>
      </p:sp>
      <p:sp>
        <p:nvSpPr>
          <p:cNvPr id="178" name="Feature Selection:…"/>
          <p:cNvSpPr txBox="1">
            <a:spLocks noGrp="1"/>
          </p:cNvSpPr>
          <p:nvPr>
            <p:ph type="body" sz="quarter" idx="1"/>
          </p:nvPr>
        </p:nvSpPr>
        <p:spPr>
          <a:xfrm>
            <a:off x="213474" y="1338867"/>
            <a:ext cx="4406477" cy="2350151"/>
          </a:xfrm>
          <a:prstGeom prst="rect">
            <a:avLst/>
          </a:prstGeom>
        </p:spPr>
        <p:txBody>
          <a:bodyPr/>
          <a:lstStyle/>
          <a:p>
            <a:pPr marL="118332" indent="-118332" defTabSz="157775">
              <a:spcBef>
                <a:spcPts val="200"/>
              </a:spcBef>
              <a:defRPr sz="1104"/>
            </a:pPr>
            <a:r>
              <a:rPr b="1" dirty="0"/>
              <a:t>Feature Selection:</a:t>
            </a:r>
            <a:r>
              <a:rPr dirty="0"/>
              <a:t> </a:t>
            </a:r>
          </a:p>
          <a:p>
            <a:pPr marL="276108" lvl="1" indent="-118332" defTabSz="157775">
              <a:spcBef>
                <a:spcPts val="200"/>
              </a:spcBef>
              <a:buChar char="•"/>
              <a:defRPr sz="1104"/>
            </a:pPr>
            <a:r>
              <a:rPr dirty="0"/>
              <a:t>BOW — top K frequency words</a:t>
            </a:r>
          </a:p>
          <a:p>
            <a:pPr marL="276108" lvl="1" indent="-118332" defTabSz="157775">
              <a:spcBef>
                <a:spcPts val="200"/>
              </a:spcBef>
              <a:buChar char="•"/>
              <a:defRPr sz="1104"/>
            </a:pPr>
            <a:r>
              <a:rPr dirty="0"/>
              <a:t>3 feature vectors: </a:t>
            </a:r>
          </a:p>
          <a:p>
            <a:pPr marL="433884" lvl="2" indent="-118332" defTabSz="157775">
              <a:spcBef>
                <a:spcPts val="200"/>
              </a:spcBef>
              <a:defRPr sz="1104"/>
            </a:pPr>
            <a:r>
              <a:rPr b="1" dirty="0"/>
              <a:t>baseline:</a:t>
            </a:r>
            <a:r>
              <a:rPr dirty="0"/>
              <a:t> raw data of the top K frequent words in all the reviews</a:t>
            </a:r>
          </a:p>
          <a:p>
            <a:pPr marL="433884" lvl="2" indent="-118332" defTabSz="157775">
              <a:spcBef>
                <a:spcPts val="200"/>
              </a:spcBef>
              <a:defRPr sz="1104"/>
            </a:pPr>
            <a:r>
              <a:rPr b="1" dirty="0"/>
              <a:t>feature engineering I:</a:t>
            </a:r>
            <a:r>
              <a:rPr dirty="0"/>
              <a:t> POS analysis per sentence, top K words</a:t>
            </a:r>
          </a:p>
          <a:p>
            <a:pPr marL="433884" lvl="2" indent="-118332" defTabSz="157775">
              <a:spcBef>
                <a:spcPts val="200"/>
              </a:spcBef>
              <a:defRPr sz="1104"/>
            </a:pPr>
            <a:r>
              <a:rPr b="1" dirty="0"/>
              <a:t>feature engineering II: </a:t>
            </a:r>
            <a:r>
              <a:rPr dirty="0"/>
              <a:t>K frequent adjectives</a:t>
            </a:r>
          </a:p>
          <a:p>
            <a:pPr marL="118332" indent="-118332" defTabSz="157775">
              <a:spcBef>
                <a:spcPts val="200"/>
              </a:spcBef>
              <a:defRPr sz="1104"/>
            </a:pPr>
            <a:r>
              <a:rPr dirty="0"/>
              <a:t>Predicting star rating as a </a:t>
            </a:r>
            <a:r>
              <a:rPr b="1" dirty="0"/>
              <a:t>regression</a:t>
            </a:r>
            <a:r>
              <a:rPr dirty="0"/>
              <a:t> task </a:t>
            </a:r>
          </a:p>
          <a:p>
            <a:pPr marL="118332" indent="-118332" defTabSz="157775">
              <a:spcBef>
                <a:spcPts val="200"/>
              </a:spcBef>
              <a:defRPr sz="1104"/>
            </a:pPr>
            <a:r>
              <a:rPr dirty="0"/>
              <a:t>Would try to generalize the model in the future by using other business categories (e.g., fashion, beauty) that are not restaurants.</a:t>
            </a:r>
          </a:p>
        </p:txBody>
      </p:sp>
      <p:pic>
        <p:nvPicPr>
          <p:cNvPr id="179" name="Screenshot 2025-10-24 at 10.11.28 AM.png" descr="Screenshot 2025-10-24 at 10.11.28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1448" y="431423"/>
            <a:ext cx="4071995" cy="32575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" name="Screenshot 2025-10-24 at 10.21.50 AM.png" descr="Screenshot 2025-10-24 at 10.21.50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3" y="3798067"/>
            <a:ext cx="3067996" cy="21374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Screenshot 2025-10-24 at 10.22.19 AM.png" descr="Screenshot 2025-10-24 at 10.22.19 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512" y="3814262"/>
            <a:ext cx="2920789" cy="21050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Screenshot 2025-10-24 at 10.22.31 AM.png" descr="Screenshot 2025-10-24 at 10.22.31 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8356" y="3823230"/>
            <a:ext cx="2895902" cy="208713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Yelp Dataset Challenge: Review Rating Prediction; Nabiha Asghar (2016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325841">
              <a:defRPr sz="2565"/>
            </a:pPr>
            <a:r>
              <a:rPr dirty="0"/>
              <a:t>Yelp Dataset Challenge: Review Rating Prediction; </a:t>
            </a:r>
            <a:r>
              <a:rPr b="0" dirty="0"/>
              <a:t>Nabiha Asghar (2016)</a:t>
            </a:r>
          </a:p>
        </p:txBody>
      </p:sp>
      <p:sp>
        <p:nvSpPr>
          <p:cNvPr id="185" name="Preprocessing: removed capitalizations, stop words and punctuations…"/>
          <p:cNvSpPr txBox="1">
            <a:spLocks noGrp="1"/>
          </p:cNvSpPr>
          <p:nvPr>
            <p:ph type="body" sz="half" idx="1"/>
          </p:nvPr>
        </p:nvSpPr>
        <p:spPr>
          <a:xfrm>
            <a:off x="213474" y="1338867"/>
            <a:ext cx="5041548" cy="4180266"/>
          </a:xfrm>
          <a:prstGeom prst="rect">
            <a:avLst/>
          </a:prstGeom>
        </p:spPr>
        <p:txBody>
          <a:bodyPr/>
          <a:lstStyle/>
          <a:p>
            <a:pPr marL="128621" indent="-128621" defTabSz="171495">
              <a:spcBef>
                <a:spcPts val="200"/>
              </a:spcBef>
              <a:defRPr sz="1200"/>
            </a:pPr>
            <a:r>
              <a:rPr b="1" dirty="0"/>
              <a:t>Preprocessing</a:t>
            </a:r>
            <a:r>
              <a:rPr dirty="0"/>
              <a:t>: removed capitalizations, stop words and punctuations </a:t>
            </a:r>
          </a:p>
          <a:p>
            <a:pPr marL="128621" indent="-128621" defTabSz="171495">
              <a:spcBef>
                <a:spcPts val="200"/>
              </a:spcBef>
              <a:defRPr sz="1200"/>
            </a:pPr>
            <a:r>
              <a:rPr b="1" dirty="0"/>
              <a:t>Feature Extraction</a:t>
            </a:r>
            <a:r>
              <a:rPr dirty="0"/>
              <a:t>: feature vector for each review from four different methods:</a:t>
            </a:r>
          </a:p>
          <a:p>
            <a:pPr marL="300117" lvl="1" indent="-128621" defTabSz="171495">
              <a:spcBef>
                <a:spcPts val="200"/>
              </a:spcBef>
              <a:buChar char="•"/>
              <a:defRPr sz="1200"/>
            </a:pPr>
            <a:r>
              <a:rPr dirty="0"/>
              <a:t>Unigrams (BOW)</a:t>
            </a:r>
          </a:p>
          <a:p>
            <a:pPr marL="300117" lvl="1" indent="-128621" defTabSz="171495">
              <a:spcBef>
                <a:spcPts val="200"/>
              </a:spcBef>
              <a:buChar char="•"/>
              <a:defRPr sz="1200"/>
            </a:pPr>
            <a:r>
              <a:rPr dirty="0"/>
              <a:t>Unigrams &amp; Bigrams</a:t>
            </a:r>
          </a:p>
          <a:p>
            <a:pPr marL="300117" lvl="1" indent="-128621" defTabSz="171495">
              <a:spcBef>
                <a:spcPts val="200"/>
              </a:spcBef>
              <a:buChar char="•"/>
              <a:defRPr sz="1200"/>
            </a:pPr>
            <a:r>
              <a:rPr dirty="0"/>
              <a:t>Unigrams, Bigrams, &amp; Trigrams</a:t>
            </a:r>
          </a:p>
          <a:p>
            <a:pPr marL="300117" lvl="1" indent="-128621" defTabSz="171495">
              <a:spcBef>
                <a:spcPts val="200"/>
              </a:spcBef>
              <a:buChar char="•"/>
              <a:defRPr sz="1200"/>
            </a:pPr>
            <a:r>
              <a:rPr dirty="0"/>
              <a:t>LSI </a:t>
            </a:r>
          </a:p>
          <a:p>
            <a:pPr marL="471613" lvl="2" indent="-128621" defTabSz="171495">
              <a:spcBef>
                <a:spcPts val="200"/>
              </a:spcBef>
              <a:defRPr sz="1200"/>
            </a:pPr>
            <a:r>
              <a:rPr dirty="0"/>
              <a:t>By default, t = the size of vocabulary </a:t>
            </a:r>
          </a:p>
          <a:p>
            <a:pPr marL="471613" lvl="2" indent="-128621" defTabSz="171495">
              <a:spcBef>
                <a:spcPts val="200"/>
              </a:spcBef>
              <a:defRPr sz="1200"/>
            </a:pPr>
            <a:r>
              <a:rPr dirty="0"/>
              <a:t>first t*  topics can be chosen as the most important ones, and thus the top t* rows of V can be used as the feature matrix</a:t>
            </a:r>
          </a:p>
          <a:p>
            <a:pPr marL="128621" indent="-128621" defTabSz="171495">
              <a:spcBef>
                <a:spcPts val="200"/>
              </a:spcBef>
              <a:defRPr sz="1200" b="1"/>
            </a:pPr>
            <a:r>
              <a:rPr dirty="0"/>
              <a:t>ML Models: </a:t>
            </a:r>
            <a:endParaRPr b="0" dirty="0"/>
          </a:p>
          <a:p>
            <a:pPr marL="300117" lvl="1" indent="-128621" defTabSz="171495">
              <a:spcBef>
                <a:spcPts val="200"/>
              </a:spcBef>
              <a:buChar char="•"/>
              <a:defRPr sz="1200" b="1"/>
            </a:pPr>
            <a:r>
              <a:rPr b="0" dirty="0"/>
              <a:t>Logistic Regression</a:t>
            </a:r>
          </a:p>
          <a:p>
            <a:pPr marL="300117" lvl="1" indent="-128621" defTabSz="171495">
              <a:spcBef>
                <a:spcPts val="200"/>
              </a:spcBef>
              <a:buChar char="•"/>
              <a:defRPr sz="1200" b="1"/>
            </a:pPr>
            <a:r>
              <a:rPr b="0" dirty="0"/>
              <a:t>Multinomial Naive Bayes </a:t>
            </a:r>
          </a:p>
          <a:p>
            <a:pPr marL="300117" lvl="1" indent="-128621" defTabSz="171495">
              <a:spcBef>
                <a:spcPts val="200"/>
              </a:spcBef>
              <a:buChar char="•"/>
              <a:defRPr sz="1200" b="1"/>
            </a:pPr>
            <a:r>
              <a:rPr b="0" dirty="0"/>
              <a:t>Perceptron (</a:t>
            </a:r>
            <a:r>
              <a:rPr b="0" dirty="0" err="1"/>
              <a:t>n_iterations</a:t>
            </a:r>
            <a:r>
              <a:rPr b="0" dirty="0"/>
              <a:t> = 50) </a:t>
            </a:r>
          </a:p>
          <a:p>
            <a:pPr marL="300117" lvl="1" indent="-128621" defTabSz="171495">
              <a:spcBef>
                <a:spcPts val="200"/>
              </a:spcBef>
              <a:buChar char="•"/>
              <a:defRPr sz="1200" b="1"/>
            </a:pPr>
            <a:r>
              <a:rPr b="0" dirty="0"/>
              <a:t>SVM (linear, tolerance = 0.001) </a:t>
            </a:r>
          </a:p>
          <a:p>
            <a:pPr marL="128621" indent="-128621" defTabSz="171495">
              <a:spcBef>
                <a:spcPts val="200"/>
              </a:spcBef>
              <a:defRPr sz="1200" b="1"/>
            </a:pPr>
            <a:r>
              <a:rPr dirty="0"/>
              <a:t>Results:</a:t>
            </a:r>
            <a:r>
              <a:rPr b="0" dirty="0"/>
              <a:t> Logistic Regression achieved the highest accuracy of 64% using the top 10,000 Unigrams &amp; Bigrams as features, followed very closely by Linear SVC which achieved 63% accuracy using the top 10,000 Unigrams &amp; Bigrams.</a:t>
            </a:r>
          </a:p>
        </p:txBody>
      </p:sp>
      <p:pic>
        <p:nvPicPr>
          <p:cNvPr id="186" name="Screenshot 2025-10-24 at 9.58.04 AM.png" descr="Screenshot 2025-10-24 at 9.58.04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610" y="781252"/>
            <a:ext cx="2311813" cy="21016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Screenshot 2025-10-24 at 10.03.33 AM.png" descr="Screenshot 2025-10-24 at 10.03.33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726" y="3578509"/>
            <a:ext cx="3497451" cy="1976821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A13CFE93-BEA9-57EA-D5C4-1E45F745D5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684" y="2814379"/>
            <a:ext cx="3319533" cy="293984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entiment Analysis: A Systematic Case Study with Yelp Scores; Wenping Wang et al. (2023)"/>
          <p:cNvSpPr txBox="1">
            <a:spLocks noGrp="1"/>
          </p:cNvSpPr>
          <p:nvPr>
            <p:ph type="title"/>
          </p:nvPr>
        </p:nvSpPr>
        <p:spPr>
          <a:xfrm>
            <a:off x="213474" y="341768"/>
            <a:ext cx="4244772" cy="878968"/>
          </a:xfrm>
          <a:prstGeom prst="rect">
            <a:avLst/>
          </a:prstGeom>
        </p:spPr>
        <p:txBody>
          <a:bodyPr/>
          <a:lstStyle/>
          <a:p>
            <a:pPr defTabSz="216084">
              <a:defRPr sz="1701"/>
            </a:pPr>
            <a:r>
              <a:t>Sentiment Analysis: A Systematic Case Study with Yelp Scores; </a:t>
            </a:r>
            <a:r>
              <a:rPr b="0"/>
              <a:t>Wenping Wang et al. (2023)</a:t>
            </a:r>
          </a:p>
        </p:txBody>
      </p:sp>
      <p:sp>
        <p:nvSpPr>
          <p:cNvPr id="190" name="Feature Extraction/Engineering:…"/>
          <p:cNvSpPr txBox="1">
            <a:spLocks noGrp="1"/>
          </p:cNvSpPr>
          <p:nvPr>
            <p:ph type="body" sz="half" idx="1"/>
          </p:nvPr>
        </p:nvSpPr>
        <p:spPr>
          <a:xfrm>
            <a:off x="213474" y="1338867"/>
            <a:ext cx="4393609" cy="4499650"/>
          </a:xfrm>
          <a:prstGeom prst="rect">
            <a:avLst/>
          </a:prstGeom>
        </p:spPr>
        <p:txBody>
          <a:bodyPr/>
          <a:lstStyle/>
          <a:p>
            <a:pPr marL="115759" indent="-115759" defTabSz="154345">
              <a:spcBef>
                <a:spcPts val="200"/>
              </a:spcBef>
              <a:defRPr sz="1079" b="1"/>
            </a:pPr>
            <a:r>
              <a:t>Feature Extraction/Engineering:</a:t>
            </a:r>
          </a:p>
          <a:p>
            <a:pPr marL="270105" lvl="1" indent="-115759" defTabSz="154345">
              <a:spcBef>
                <a:spcPts val="200"/>
              </a:spcBef>
              <a:buChar char="•"/>
              <a:defRPr sz="1079"/>
            </a:pPr>
            <a:r>
              <a:t>Hashing Vectorizer (sklearn)</a:t>
            </a:r>
          </a:p>
          <a:p>
            <a:pPr marL="270105" lvl="1" indent="-115759" defTabSz="154345">
              <a:spcBef>
                <a:spcPts val="200"/>
              </a:spcBef>
              <a:buChar char="•"/>
              <a:defRPr sz="1079"/>
            </a:pPr>
            <a:r>
              <a:t>TF-IDF</a:t>
            </a:r>
          </a:p>
          <a:p>
            <a:pPr marL="115759" indent="-115759" defTabSz="154345">
              <a:spcBef>
                <a:spcPts val="200"/>
              </a:spcBef>
              <a:defRPr sz="1079" b="1"/>
            </a:pPr>
            <a:r>
              <a:t>ML Models: </a:t>
            </a:r>
          </a:p>
          <a:p>
            <a:pPr marL="270105" lvl="1" indent="-115759" defTabSz="154345">
              <a:spcBef>
                <a:spcPts val="200"/>
              </a:spcBef>
              <a:buChar char="•"/>
              <a:defRPr sz="1079" b="1"/>
            </a:pPr>
            <a:r>
              <a:t>Logistic Regression</a:t>
            </a:r>
            <a:r>
              <a:rPr b="0"/>
              <a:t> with SGD I and SGD II</a:t>
            </a:r>
          </a:p>
          <a:p>
            <a:pPr marL="270105" lvl="1" indent="-115759" defTabSz="154345">
              <a:spcBef>
                <a:spcPts val="200"/>
              </a:spcBef>
              <a:buChar char="•"/>
              <a:defRPr sz="1079" b="1"/>
            </a:pPr>
            <a:r>
              <a:t>Multinomial Naive Bayes</a:t>
            </a:r>
            <a:endParaRPr b="0"/>
          </a:p>
          <a:p>
            <a:pPr marL="270105" lvl="1" indent="-115759" defTabSz="154345">
              <a:spcBef>
                <a:spcPts val="200"/>
              </a:spcBef>
              <a:buChar char="•"/>
              <a:defRPr sz="1079" b="1"/>
            </a:pPr>
            <a:r>
              <a:t>Passive Aggressive </a:t>
            </a:r>
          </a:p>
          <a:p>
            <a:pPr marL="424452" lvl="2" indent="-115759" defTabSz="154345">
              <a:spcBef>
                <a:spcPts val="200"/>
              </a:spcBef>
              <a:defRPr sz="1079" b="1"/>
            </a:pPr>
            <a:r>
              <a:rPr b="0"/>
              <a:t>Similar to SVM (maximizing the margin of the separating planes between the data points)</a:t>
            </a:r>
          </a:p>
          <a:p>
            <a:pPr marL="270105" lvl="1" indent="-115759" defTabSz="154345">
              <a:spcBef>
                <a:spcPts val="200"/>
              </a:spcBef>
              <a:buChar char="•"/>
              <a:defRPr sz="1079" b="1"/>
            </a:pPr>
            <a:r>
              <a:rPr b="0"/>
              <a:t>(</a:t>
            </a:r>
            <a:r>
              <a:t>Shallow</a:t>
            </a:r>
            <a:r>
              <a:rPr b="0"/>
              <a:t>) Multi-Layer Perceptron (</a:t>
            </a:r>
            <a:r>
              <a:t>MLP</a:t>
            </a:r>
            <a:r>
              <a:rPr b="0"/>
              <a:t>) with BERT </a:t>
            </a:r>
          </a:p>
          <a:p>
            <a:pPr marL="424452" lvl="2" indent="-115759" defTabSz="154345">
              <a:spcBef>
                <a:spcPts val="200"/>
              </a:spcBef>
              <a:defRPr sz="1079" b="1"/>
            </a:pPr>
            <a:r>
              <a:rPr b="0"/>
              <a:t>7 fully connected layers (768, 1024, 512, 512, 256, 64, 32, 5) </a:t>
            </a:r>
          </a:p>
          <a:p>
            <a:pPr marL="270105" lvl="1" indent="-115759" defTabSz="154345">
              <a:spcBef>
                <a:spcPts val="200"/>
              </a:spcBef>
              <a:buChar char="•"/>
              <a:defRPr sz="1079" b="1"/>
            </a:pPr>
            <a:r>
              <a:rPr b="0"/>
              <a:t>(</a:t>
            </a:r>
            <a:r>
              <a:t>Deep</a:t>
            </a:r>
            <a:r>
              <a:rPr b="0"/>
              <a:t>) </a:t>
            </a:r>
            <a:r>
              <a:t>MLP</a:t>
            </a:r>
            <a:r>
              <a:rPr b="0"/>
              <a:t> with BERT (+ other features)</a:t>
            </a:r>
          </a:p>
          <a:p>
            <a:pPr marL="424452" lvl="2" indent="-115759" defTabSz="154345">
              <a:spcBef>
                <a:spcPts val="200"/>
              </a:spcBef>
              <a:defRPr sz="1079" b="1"/>
            </a:pPr>
            <a:r>
              <a:rPr b="0"/>
              <a:t>Useful, funny, cool, positive, negative, nchars, nwords, sentiment score </a:t>
            </a:r>
          </a:p>
          <a:p>
            <a:pPr marL="270105" lvl="1" indent="-115759" defTabSz="154345">
              <a:spcBef>
                <a:spcPts val="200"/>
              </a:spcBef>
              <a:buChar char="•"/>
              <a:defRPr sz="1079" b="1"/>
            </a:pPr>
            <a:r>
              <a:rPr b="0"/>
              <a:t>Heterogeneous (</a:t>
            </a:r>
            <a:r>
              <a:t>ensemble</a:t>
            </a:r>
            <a:r>
              <a:rPr b="0"/>
              <a:t>) classifiers (combined using weighted voting):</a:t>
            </a:r>
          </a:p>
          <a:p>
            <a:pPr marL="424452" lvl="2" indent="-115759" defTabSz="154345">
              <a:spcBef>
                <a:spcPts val="200"/>
              </a:spcBef>
              <a:defRPr sz="1079" b="1"/>
            </a:pPr>
            <a:r>
              <a:rPr b="0"/>
              <a:t>Baseline models ensemble</a:t>
            </a:r>
          </a:p>
          <a:p>
            <a:pPr marL="424452" lvl="2" indent="-115759" defTabSz="154345">
              <a:spcBef>
                <a:spcPts val="200"/>
              </a:spcBef>
              <a:defRPr sz="1079" b="1"/>
            </a:pPr>
            <a:r>
              <a:rPr b="0"/>
              <a:t>Baseline models and shallow MLP </a:t>
            </a:r>
          </a:p>
          <a:p>
            <a:pPr marL="424452" lvl="2" indent="-115759" defTabSz="154345">
              <a:spcBef>
                <a:spcPts val="200"/>
              </a:spcBef>
              <a:defRPr sz="1079" b="1"/>
            </a:pPr>
            <a:r>
              <a:rPr b="0"/>
              <a:t>Baseline models and deep MLP</a:t>
            </a:r>
          </a:p>
          <a:p>
            <a:pPr marL="270105" lvl="1" indent="-115759" defTabSz="154345">
              <a:spcBef>
                <a:spcPts val="200"/>
              </a:spcBef>
              <a:buChar char="•"/>
              <a:defRPr sz="1079" b="1"/>
            </a:pPr>
            <a:r>
              <a:rPr b="0"/>
              <a:t>AdaBoost </a:t>
            </a:r>
          </a:p>
          <a:p>
            <a:pPr marL="115759" indent="-115759" defTabSz="154345">
              <a:spcBef>
                <a:spcPts val="200"/>
              </a:spcBef>
              <a:defRPr sz="1079" b="1"/>
            </a:pPr>
            <a:r>
              <a:rPr b="0"/>
              <a:t>For star rating of 5, best model is able to correctly classify 79.57% of the test data points, but it could only correctly classify </a:t>
            </a:r>
            <a:r>
              <a:t>32.30% of the data that has ratings of 2</a:t>
            </a:r>
            <a:r>
              <a:rPr b="0"/>
              <a:t>.</a:t>
            </a:r>
          </a:p>
          <a:p>
            <a:pPr marL="115759" indent="-115759" defTabSz="154345">
              <a:spcBef>
                <a:spcPts val="200"/>
              </a:spcBef>
              <a:defRPr sz="1079" b="1"/>
            </a:pPr>
            <a:r>
              <a:rPr b="0"/>
              <a:t>Shallow &gt; deep</a:t>
            </a:r>
          </a:p>
        </p:txBody>
      </p:sp>
      <p:pic>
        <p:nvPicPr>
          <p:cNvPr id="191" name="Screenshot 2025-10-24 at 10.48.38 AM.png" descr="Screenshot 2025-10-24 at 10.48.38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018" y="4017206"/>
            <a:ext cx="3109305" cy="16200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2" name="Screenshot 2025-10-24 at 10.49.06 AM.png" descr="Screenshot 2025-10-24 at 10.49.06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033" y="497092"/>
            <a:ext cx="4613466" cy="33723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itle 1"/>
          <p:cNvSpPr txBox="1">
            <a:spLocks noGrp="1"/>
          </p:cNvSpPr>
          <p:nvPr>
            <p:ph type="title"/>
          </p:nvPr>
        </p:nvSpPr>
        <p:spPr>
          <a:xfrm>
            <a:off x="213473" y="341768"/>
            <a:ext cx="8686428" cy="878968"/>
          </a:xfrm>
          <a:prstGeom prst="rect">
            <a:avLst/>
          </a:prstGeom>
        </p:spPr>
        <p:txBody>
          <a:bodyPr/>
          <a:lstStyle/>
          <a:p>
            <a:r>
              <a:t>Review of Findings</a:t>
            </a:r>
          </a:p>
        </p:txBody>
      </p:sp>
      <p:sp>
        <p:nvSpPr>
          <p:cNvPr id="19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13473" y="1338867"/>
            <a:ext cx="8686428" cy="4262713"/>
          </a:xfrm>
          <a:prstGeom prst="rect">
            <a:avLst/>
          </a:prstGeom>
        </p:spPr>
        <p:txBody>
          <a:bodyPr/>
          <a:lstStyle/>
          <a:p>
            <a:pPr marL="200650" indent="-200650" defTabSz="267532">
              <a:spcBef>
                <a:spcPts val="400"/>
              </a:spcBef>
              <a:defRPr sz="1871"/>
            </a:pPr>
            <a:r>
              <a:rPr dirty="0"/>
              <a:t>Binary sentiment models (Naive Bayes, Random Forest) good at </a:t>
            </a:r>
            <a:r>
              <a:rPr b="1" dirty="0"/>
              <a:t>positive/negative</a:t>
            </a:r>
            <a:r>
              <a:rPr dirty="0"/>
              <a:t> </a:t>
            </a:r>
          </a:p>
          <a:p>
            <a:pPr marL="200650" indent="-200650" defTabSz="267532">
              <a:spcBef>
                <a:spcPts val="400"/>
              </a:spcBef>
              <a:defRPr sz="1871"/>
            </a:pPr>
            <a:r>
              <a:rPr dirty="0"/>
              <a:t>Multi-class and regression models (Logistic/SVM, Linear Regression) weaker for all 5 star ratings (</a:t>
            </a:r>
            <a:r>
              <a:rPr b="1" dirty="0"/>
              <a:t>accuracy ≤ 65%</a:t>
            </a:r>
            <a:r>
              <a:rPr dirty="0"/>
              <a:t>). </a:t>
            </a:r>
          </a:p>
          <a:p>
            <a:pPr marL="200650" indent="-200650" defTabSz="267532">
              <a:spcBef>
                <a:spcPts val="400"/>
              </a:spcBef>
              <a:defRPr sz="1871"/>
            </a:pPr>
            <a:r>
              <a:rPr b="1" dirty="0"/>
              <a:t>TF-IDF and n-gram</a:t>
            </a:r>
            <a:r>
              <a:rPr dirty="0"/>
              <a:t> features are standard; context-sensitive embeddings (BERT) have emerged for fine-grained results. </a:t>
            </a:r>
          </a:p>
          <a:p>
            <a:pPr marL="200650" indent="-200650" defTabSz="267532">
              <a:spcBef>
                <a:spcPts val="400"/>
              </a:spcBef>
              <a:defRPr sz="1871"/>
            </a:pPr>
            <a:r>
              <a:rPr dirty="0"/>
              <a:t>Lexicons help but struggle with </a:t>
            </a:r>
            <a:r>
              <a:rPr b="1" dirty="0"/>
              <a:t>slang, typos, noisy data; sarcasm</a:t>
            </a:r>
            <a:r>
              <a:rPr dirty="0"/>
              <a:t> and nuanced language largely unsolved. </a:t>
            </a:r>
          </a:p>
          <a:p>
            <a:pPr marL="200650" indent="-200650" defTabSz="267532">
              <a:spcBef>
                <a:spcPts val="400"/>
              </a:spcBef>
              <a:defRPr sz="1871"/>
            </a:pPr>
            <a:r>
              <a:rPr b="1" dirty="0"/>
              <a:t>Ensemble methods</a:t>
            </a:r>
            <a:r>
              <a:rPr dirty="0"/>
              <a:t> sometimes improve results; deep learning gaining ground, especially for multi-aspect analysis and context.</a:t>
            </a:r>
          </a:p>
          <a:p>
            <a:pPr marL="200650" indent="-200650" defTabSz="267532">
              <a:spcBef>
                <a:spcPts val="400"/>
              </a:spcBef>
              <a:defRPr sz="1871" b="1"/>
            </a:pPr>
            <a:r>
              <a:rPr dirty="0"/>
              <a:t>Trends observed:</a:t>
            </a:r>
          </a:p>
          <a:p>
            <a:pPr marL="434741" lvl="1" indent="-167208" defTabSz="267532">
              <a:spcBef>
                <a:spcPts val="400"/>
              </a:spcBef>
              <a:defRPr sz="1871"/>
            </a:pPr>
            <a:r>
              <a:rPr dirty="0"/>
              <a:t>More features ≠ better performance (can cause overfitting).</a:t>
            </a:r>
            <a:endParaRPr sz="1637" dirty="0"/>
          </a:p>
          <a:p>
            <a:pPr marL="434741" lvl="1" indent="-167208" defTabSz="267532">
              <a:spcBef>
                <a:spcPts val="400"/>
              </a:spcBef>
              <a:defRPr sz="1871"/>
            </a:pPr>
            <a:r>
              <a:rPr dirty="0"/>
              <a:t>Simple &gt; Complex Models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itle 1"/>
          <p:cNvSpPr txBox="1">
            <a:spLocks noGrp="1"/>
          </p:cNvSpPr>
          <p:nvPr>
            <p:ph type="title"/>
          </p:nvPr>
        </p:nvSpPr>
        <p:spPr>
          <a:xfrm>
            <a:off x="213473" y="341768"/>
            <a:ext cx="8686428" cy="878968"/>
          </a:xfrm>
          <a:prstGeom prst="rect">
            <a:avLst/>
          </a:prstGeom>
        </p:spPr>
        <p:txBody>
          <a:bodyPr/>
          <a:lstStyle/>
          <a:p>
            <a:r>
              <a:t>Interesting Findings</a:t>
            </a:r>
          </a:p>
        </p:txBody>
      </p:sp>
      <p:sp>
        <p:nvSpPr>
          <p:cNvPr id="19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13473" y="1338867"/>
            <a:ext cx="8686428" cy="4262713"/>
          </a:xfrm>
          <a:prstGeom prst="rect">
            <a:avLst/>
          </a:prstGeom>
        </p:spPr>
        <p:txBody>
          <a:bodyPr/>
          <a:lstStyle/>
          <a:p>
            <a:r>
              <a:rPr dirty="0"/>
              <a:t>Standard preprocessing and Bag of Words are still strong baselines.</a:t>
            </a:r>
          </a:p>
          <a:p>
            <a:r>
              <a:rPr dirty="0"/>
              <a:t>Too many features can hurt linear regression results; keep it simple when possible.</a:t>
            </a:r>
          </a:p>
          <a:p>
            <a:pPr>
              <a:defRPr b="1"/>
            </a:pPr>
            <a:r>
              <a:rPr b="0" dirty="0"/>
              <a:t>Context-aware models (e.g., BERT) for sarcasm, multi-aspect sentiment are promising.</a:t>
            </a:r>
          </a:p>
          <a:p>
            <a:pPr>
              <a:defRPr b="1"/>
            </a:pPr>
            <a:r>
              <a:rPr b="0" dirty="0"/>
              <a:t>Aspect-Based Sentiment Analysis worth trying.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itle 1"/>
          <p:cNvSpPr txBox="1">
            <a:spLocks noGrp="1"/>
          </p:cNvSpPr>
          <p:nvPr>
            <p:ph type="title"/>
          </p:nvPr>
        </p:nvSpPr>
        <p:spPr>
          <a:xfrm>
            <a:off x="213473" y="341768"/>
            <a:ext cx="8686428" cy="878968"/>
          </a:xfrm>
          <a:prstGeom prst="rect">
            <a:avLst/>
          </a:prstGeom>
        </p:spPr>
        <p:txBody>
          <a:bodyPr/>
          <a:lstStyle/>
          <a:p>
            <a:r>
              <a:t>Challenges and Gaps</a:t>
            </a:r>
          </a:p>
        </p:txBody>
      </p:sp>
      <p:sp>
        <p:nvSpPr>
          <p:cNvPr id="20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13473" y="1338867"/>
            <a:ext cx="8686428" cy="4262713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rPr dirty="0"/>
              <a:t>Context &amp; Sarcasm:</a:t>
            </a:r>
            <a:r>
              <a:rPr b="0" dirty="0"/>
              <a:t> “Great job burning my pizza!” — an unsolved problem</a:t>
            </a:r>
          </a:p>
          <a:p>
            <a:pPr>
              <a:defRPr b="1"/>
            </a:pPr>
            <a:r>
              <a:rPr dirty="0"/>
              <a:t>Lexicon mismatch:</a:t>
            </a:r>
            <a:r>
              <a:rPr b="0" dirty="0"/>
              <a:t> limited by real-world data noise, slang, and sarcasm</a:t>
            </a:r>
          </a:p>
          <a:p>
            <a:pPr>
              <a:defRPr b="1"/>
            </a:pPr>
            <a:r>
              <a:rPr dirty="0"/>
              <a:t>***Imbalanced data***:</a:t>
            </a:r>
            <a:r>
              <a:rPr b="0" dirty="0"/>
              <a:t> most reviews are 4 or 5 stars </a:t>
            </a:r>
          </a:p>
          <a:p>
            <a:pPr>
              <a:defRPr b="1"/>
            </a:pPr>
            <a:r>
              <a:rPr dirty="0"/>
              <a:t>Explaining middle ratings: </a:t>
            </a:r>
            <a:r>
              <a:rPr b="0" dirty="0"/>
              <a:t>very difficult to discern between 2 &amp; 3 star ratings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apers Rea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Papers Read</a:t>
            </a:r>
          </a:p>
        </p:txBody>
      </p:sp>
      <p:sp>
        <p:nvSpPr>
          <p:cNvPr id="204" name="Sentiment Analysis on Product Reviews Using Machine Learning Techniques; Rajkumar S. Jagdale, Vishal S. Shirsat and Sachin N. Deshmuk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434340">
              <a:spcBef>
                <a:spcPts val="1500"/>
              </a:spcBef>
              <a:buSzTx/>
              <a:buFontTx/>
              <a:buNone/>
              <a:defRPr sz="133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Sentiment Analysis on Product Reviews Using Machine Learning Techniques</a:t>
            </a:r>
            <a:r>
              <a:t>; Rajkumar S. Jagdale, Vishal S. Shirsat and Sachin N. Deshmuk </a:t>
            </a:r>
          </a:p>
          <a:p>
            <a:pPr marL="0" indent="0" defTabSz="434340">
              <a:spcBef>
                <a:spcPts val="1500"/>
              </a:spcBef>
              <a:buSzTx/>
              <a:buFontTx/>
              <a:buNone/>
              <a:defRPr sz="133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Yelp Dataset Challenge: Review Rating Prediction</a:t>
            </a:r>
            <a:r>
              <a:t>; Nabiha Asghar </a:t>
            </a:r>
          </a:p>
          <a:p>
            <a:pPr marL="0" indent="0" defTabSz="434340">
              <a:spcBef>
                <a:spcPts val="1500"/>
              </a:spcBef>
              <a:buSzTx/>
              <a:buFontTx/>
              <a:buNone/>
              <a:defRPr sz="133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Sentiment Analysis: A Systematic Case Study with Yelp Scores</a:t>
            </a:r>
            <a:r>
              <a:t>; Wenping Wang Et al. </a:t>
            </a:r>
          </a:p>
          <a:p>
            <a:pPr marL="0" indent="0" defTabSz="434340">
              <a:spcBef>
                <a:spcPts val="1500"/>
              </a:spcBef>
              <a:buSzTx/>
              <a:buFontTx/>
              <a:buNone/>
              <a:defRPr sz="133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Ensemble Sentiment Analysis Using Bi-LSTM and CNN</a:t>
            </a:r>
            <a:r>
              <a:t>; Puneet Singh Lamba Et al.</a:t>
            </a:r>
          </a:p>
          <a:p>
            <a:pPr marL="0" indent="0" defTabSz="434340">
              <a:spcBef>
                <a:spcPts val="1500"/>
              </a:spcBef>
              <a:buSzTx/>
              <a:buFontTx/>
              <a:buNone/>
              <a:defRPr sz="133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Sentiment Analysis of Restaurant Reviews using Combined CNN-LSTM</a:t>
            </a:r>
            <a:r>
              <a:t>; Naimul Hossain Et al. </a:t>
            </a:r>
          </a:p>
          <a:p>
            <a:pPr marL="0" indent="0" defTabSz="434340">
              <a:spcBef>
                <a:spcPts val="1500"/>
              </a:spcBef>
              <a:buSzTx/>
              <a:buFontTx/>
              <a:buNone/>
              <a:defRPr sz="133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Sentiment Analysis of Yelp Reviews by Machine Learning</a:t>
            </a:r>
            <a:r>
              <a:t>; Hemalatha S, Ramathmika </a:t>
            </a:r>
          </a:p>
          <a:p>
            <a:pPr marL="0" indent="0" defTabSz="434340">
              <a:spcBef>
                <a:spcPts val="1500"/>
              </a:spcBef>
              <a:buSzTx/>
              <a:buFontTx/>
              <a:buNone/>
              <a:defRPr sz="133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Sentiment Analysis on Food Review using Machine Learning Approach</a:t>
            </a:r>
            <a:r>
              <a:t>; Nourin Islam, Ms. Nasrin Akter, Abdus Sattar </a:t>
            </a:r>
          </a:p>
          <a:p>
            <a:pPr marL="0" indent="0" defTabSz="434340">
              <a:spcBef>
                <a:spcPts val="1500"/>
              </a:spcBef>
              <a:buSzTx/>
              <a:buFontTx/>
              <a:buNone/>
              <a:defRPr sz="133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Sentiment Analysis using Machine Learning Techniques on Python</a:t>
            </a:r>
            <a:r>
              <a:t>; Ratheee Et al. </a:t>
            </a:r>
          </a:p>
          <a:p>
            <a:pPr marL="0" indent="0" defTabSz="434340">
              <a:spcBef>
                <a:spcPts val="1500"/>
              </a:spcBef>
              <a:buSzTx/>
              <a:buFontTx/>
              <a:buNone/>
              <a:defRPr sz="133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Sentiment Analysis of Yelp‘s Ratings Based on Text Reviews;</a:t>
            </a:r>
            <a:r>
              <a:t> Xu Et al. </a:t>
            </a:r>
          </a:p>
          <a:p>
            <a:pPr marL="0" indent="0" defTabSz="434340">
              <a:spcBef>
                <a:spcPts val="1500"/>
              </a:spcBef>
              <a:buSzTx/>
              <a:buFontTx/>
              <a:buNone/>
              <a:defRPr sz="1330">
                <a:latin typeface="+mj-lt"/>
                <a:ea typeface="+mj-ea"/>
                <a:cs typeface="+mj-cs"/>
                <a:sym typeface="Helvetica"/>
              </a:defRPr>
            </a:pPr>
            <a:r>
              <a:rPr i="1"/>
              <a:t>Predicting a Business’ Star in Yelp from Its Reviews’ Text Alone</a:t>
            </a:r>
            <a:r>
              <a:t>; Fan, Khademi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3B7C"/>
      </a:accent1>
      <a:accent2>
        <a:srgbClr val="9CA09C"/>
      </a:accent2>
      <a:accent3>
        <a:srgbClr val="00A4CC"/>
      </a:accent3>
      <a:accent4>
        <a:srgbClr val="46A536"/>
      </a:accent4>
      <a:accent5>
        <a:srgbClr val="CD0032"/>
      </a:accent5>
      <a:accent6>
        <a:srgbClr val="580A1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3B7C"/>
      </a:accent1>
      <a:accent2>
        <a:srgbClr val="9CA09C"/>
      </a:accent2>
      <a:accent3>
        <a:srgbClr val="00A4CC"/>
      </a:accent3>
      <a:accent4>
        <a:srgbClr val="46A536"/>
      </a:accent4>
      <a:accent5>
        <a:srgbClr val="CD0032"/>
      </a:accent5>
      <a:accent6>
        <a:srgbClr val="580A1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1383</Words>
  <Application>Microsoft Macintosh PowerPoint</Application>
  <PresentationFormat>On-screen Show (4:3)</PresentationFormat>
  <Paragraphs>144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55 Helvetica Roman</vt:lpstr>
      <vt:lpstr>Adobe Caslon Pro</vt:lpstr>
      <vt:lpstr>Arial</vt:lpstr>
      <vt:lpstr>Calibri</vt:lpstr>
      <vt:lpstr>Helvetica Neue</vt:lpstr>
      <vt:lpstr>TimesNewRomanPSMT</vt:lpstr>
      <vt:lpstr>Office Theme</vt:lpstr>
      <vt:lpstr>Yelp Dataset Sentiment Analysis</vt:lpstr>
      <vt:lpstr>Outline</vt:lpstr>
      <vt:lpstr>Background and Motivation</vt:lpstr>
      <vt:lpstr>Research Directions in Literature</vt:lpstr>
      <vt:lpstr>Dataset</vt:lpstr>
      <vt:lpstr>Preprocessing Methods</vt:lpstr>
      <vt:lpstr>Feature Engineering Approaches</vt:lpstr>
      <vt:lpstr>Modeling Approaches</vt:lpstr>
      <vt:lpstr>Binary Classification</vt:lpstr>
      <vt:lpstr>Sentiment Analysis on Product Reviews Using Machine Learning Techniques; Jagdale et al. (2019)</vt:lpstr>
      <vt:lpstr>Ensemble Sentiment Analysis Using Bi-LSTM and CNN; Puneet Singh Lamba et al. (2024)</vt:lpstr>
      <vt:lpstr>1-5 Star Rating Prediction</vt:lpstr>
      <vt:lpstr>Predicting a Business’ Star in Yelp from Its Reviews’ Text Alone; Mingming Fan &amp; Maryam Khademi (2014)</vt:lpstr>
      <vt:lpstr>Yelp Dataset Challenge: Review Rating Prediction; Nabiha Asghar (2016)</vt:lpstr>
      <vt:lpstr>Sentiment Analysis: A Systematic Case Study with Yelp Scores; Wenping Wang et al. (2023)</vt:lpstr>
      <vt:lpstr>Review of Findings</vt:lpstr>
      <vt:lpstr>Interesting Findings</vt:lpstr>
      <vt:lpstr>Challenges and Gaps</vt:lpstr>
      <vt:lpstr>Papers Read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Cole Hanrahan</cp:lastModifiedBy>
  <cp:revision>7</cp:revision>
  <dcterms:modified xsi:type="dcterms:W3CDTF">2025-10-26T20:49:45Z</dcterms:modified>
</cp:coreProperties>
</file>