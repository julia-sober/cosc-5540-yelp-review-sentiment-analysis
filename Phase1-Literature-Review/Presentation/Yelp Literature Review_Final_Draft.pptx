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DD6"/>
          </a:solidFill>
        </a:fill>
      </a:tcStyle>
    </a:wholeTbl>
    <a:band2H>
      <a:tcTxStyle b="def" i="def"/>
      <a:tcStyle>
        <a:tcBdr/>
        <a:fill>
          <a:solidFill>
            <a:srgbClr val="E6E7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EC"/>
          </a:solidFill>
        </a:fill>
      </a:tcStyle>
    </a:wholeTbl>
    <a:band2H>
      <a:tcTxStyle b="def" i="def"/>
      <a:tcStyle>
        <a:tcBdr/>
        <a:fill>
          <a:solidFill>
            <a:srgbClr val="E6F0F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CACB"/>
          </a:solidFill>
        </a:fill>
      </a:tcStyle>
    </a:wholeTbl>
    <a:band2H>
      <a:tcTxStyle b="def" i="def"/>
      <a:tcStyle>
        <a:tcBdr/>
        <a:fill>
          <a:solidFill>
            <a:srgbClr val="E9E6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5" name="Shape 13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Text"/>
          <p:cNvSpPr txBox="1"/>
          <p:nvPr>
            <p:ph type="title"/>
          </p:nvPr>
        </p:nvSpPr>
        <p:spPr>
          <a:xfrm>
            <a:off x="427893" y="530103"/>
            <a:ext cx="5267657" cy="173195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" name="Body Level One…"/>
          <p:cNvSpPr txBox="1"/>
          <p:nvPr>
            <p:ph type="body" sz="quarter" idx="1"/>
          </p:nvPr>
        </p:nvSpPr>
        <p:spPr>
          <a:xfrm>
            <a:off x="427896" y="2479367"/>
            <a:ext cx="5267655" cy="97860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342991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685982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028974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371965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" name="Slide Number"/>
          <p:cNvSpPr txBox="1"/>
          <p:nvPr>
            <p:ph type="sldNum" sz="quarter" idx="2"/>
          </p:nvPr>
        </p:nvSpPr>
        <p:spPr>
          <a:xfrm>
            <a:off x="427896" y="621069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4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3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35" name="Title Text"/>
          <p:cNvSpPr txBox="1"/>
          <p:nvPr>
            <p:ph type="title"/>
          </p:nvPr>
        </p:nvSpPr>
        <p:spPr>
          <a:xfrm>
            <a:off x="722312" y="4406905"/>
            <a:ext cx="7772401" cy="1362076"/>
          </a:xfrm>
          <a:prstGeom prst="rect">
            <a:avLst/>
          </a:prstGeom>
        </p:spPr>
        <p:txBody>
          <a:bodyPr/>
          <a:lstStyle>
            <a:lvl1pPr>
              <a:defRPr cap="all" sz="3000"/>
            </a:lvl1pPr>
          </a:lstStyle>
          <a:p>
            <a:pPr/>
            <a:r>
              <a:t>Title Text</a:t>
            </a:r>
          </a:p>
        </p:txBody>
      </p:sp>
      <p:sp>
        <p:nvSpPr>
          <p:cNvPr id="36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1pPr>
            <a:lvl2pPr marL="0" indent="342991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2pPr>
            <a:lvl3pPr marL="0" indent="685982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3pPr>
            <a:lvl4pPr marL="0" indent="1028974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4pPr>
            <a:lvl5pPr marL="0" indent="1371965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45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5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5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9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6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0" name="Body Level One…"/>
          <p:cNvSpPr txBox="1"/>
          <p:nvPr>
            <p:ph type="body" sz="half" idx="1"/>
          </p:nvPr>
        </p:nvSpPr>
        <p:spPr>
          <a:xfrm>
            <a:off x="457200" y="1600206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 marL="593089" indent="-250098">
              <a:defRPr sz="2100"/>
            </a:lvl2pPr>
            <a:lvl3pPr marL="926077" indent="-240094">
              <a:defRPr sz="2100"/>
            </a:lvl3pPr>
            <a:lvl4pPr marL="1306006" indent="-277032">
              <a:defRPr sz="2100"/>
            </a:lvl4pPr>
            <a:lvl5pPr marL="1648997" indent="-277032"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1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9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b="1" sz="1800"/>
            </a:lvl1pPr>
            <a:lvl2pPr marL="0" indent="342991">
              <a:spcBef>
                <a:spcPts val="400"/>
              </a:spcBef>
              <a:buSzTx/>
              <a:buFontTx/>
              <a:buNone/>
              <a:defRPr b="1" sz="1800"/>
            </a:lvl2pPr>
            <a:lvl3pPr marL="0" indent="685982">
              <a:spcBef>
                <a:spcPts val="400"/>
              </a:spcBef>
              <a:buSzTx/>
              <a:buFontTx/>
              <a:buNone/>
              <a:defRPr b="1" sz="1800"/>
            </a:lvl3pPr>
            <a:lvl4pPr marL="0" indent="1028974">
              <a:spcBef>
                <a:spcPts val="400"/>
              </a:spcBef>
              <a:buSzTx/>
              <a:buFontTx/>
              <a:buNone/>
              <a:defRPr b="1" sz="1800"/>
            </a:lvl4pPr>
            <a:lvl5pPr marL="0" indent="1371965">
              <a:spcBef>
                <a:spcPts val="400"/>
              </a:spcBef>
              <a:buSzTx/>
              <a:buFontTx/>
              <a:buNone/>
              <a:defRPr b="1"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400"/>
              </a:spcBef>
              <a:buSzTx/>
              <a:buFontTx/>
              <a:buNone/>
              <a:defRPr b="1" sz="1800"/>
            </a:pP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8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90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9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10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102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11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112" name="Title Text"/>
          <p:cNvSpPr txBox="1"/>
          <p:nvPr>
            <p:ph type="title"/>
          </p:nvPr>
        </p:nvSpPr>
        <p:spPr>
          <a:xfrm>
            <a:off x="457203" y="273050"/>
            <a:ext cx="3008314" cy="1162050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pPr/>
            <a:r>
              <a:t>Title Text</a:t>
            </a:r>
          </a:p>
        </p:txBody>
      </p:sp>
      <p:sp>
        <p:nvSpPr>
          <p:cNvPr id="113" name="Body Level One…"/>
          <p:cNvSpPr txBox="1"/>
          <p:nvPr>
            <p:ph type="body" idx="1"/>
          </p:nvPr>
        </p:nvSpPr>
        <p:spPr>
          <a:xfrm>
            <a:off x="3575050" y="273056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4" name="Text Placeholder 3"/>
          <p:cNvSpPr/>
          <p:nvPr>
            <p:ph type="body" sz="half" idx="21"/>
          </p:nvPr>
        </p:nvSpPr>
        <p:spPr>
          <a:xfrm>
            <a:off x="457202" y="1435103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200"/>
              </a:spcBef>
              <a:buSzTx/>
              <a:buFontTx/>
              <a:buNone/>
              <a:defRPr sz="1000"/>
            </a:pPr>
          </a:p>
        </p:txBody>
      </p:sp>
      <p:sp>
        <p:nvSpPr>
          <p:cNvPr id="115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12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125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pPr/>
            <a:r>
              <a:t>Title Text</a:t>
            </a:r>
          </a:p>
        </p:txBody>
      </p:sp>
      <p:sp>
        <p:nvSpPr>
          <p:cNvPr id="126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127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"/>
              </a:spcBef>
              <a:buSzTx/>
              <a:buFontTx/>
              <a:buNone/>
              <a:defRPr sz="1000"/>
            </a:lvl1pPr>
            <a:lvl2pPr marL="0" indent="342991">
              <a:spcBef>
                <a:spcPts val="200"/>
              </a:spcBef>
              <a:buSzTx/>
              <a:buFontTx/>
              <a:buNone/>
              <a:defRPr sz="1000"/>
            </a:lvl2pPr>
            <a:lvl3pPr marL="0" indent="685982">
              <a:spcBef>
                <a:spcPts val="200"/>
              </a:spcBef>
              <a:buSzTx/>
              <a:buFontTx/>
              <a:buNone/>
              <a:defRPr sz="1000"/>
            </a:lvl3pPr>
            <a:lvl4pPr marL="0" indent="1028974">
              <a:spcBef>
                <a:spcPts val="200"/>
              </a:spcBef>
              <a:buSzTx/>
              <a:buFontTx/>
              <a:buNone/>
              <a:defRPr sz="1000"/>
            </a:lvl4pPr>
            <a:lvl5pPr marL="0" indent="1371965">
              <a:spcBef>
                <a:spcPts val="200"/>
              </a:spcBef>
              <a:buSzTx/>
              <a:buFontTx/>
              <a:buNone/>
              <a:defRPr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pic>
        <p:nvPicPr>
          <p:cNvPr id="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5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6" name="Body Level One…"/>
          <p:cNvSpPr txBox="1"/>
          <p:nvPr>
            <p:ph type="body" idx="1"/>
          </p:nvPr>
        </p:nvSpPr>
        <p:spPr>
          <a:xfrm>
            <a:off x="213474" y="1338867"/>
            <a:ext cx="8686427" cy="426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" name="Slide Number"/>
          <p:cNvSpPr txBox="1"/>
          <p:nvPr>
            <p:ph type="sldNum" sz="quarter" idx="2"/>
          </p:nvPr>
        </p:nvSpPr>
        <p:spPr>
          <a:xfrm>
            <a:off x="6553200" y="6172200"/>
            <a:ext cx="21336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>
              <a:defRPr sz="700">
                <a:solidFill>
                  <a:srgbClr val="FFFFFF"/>
                </a:solidFill>
                <a:latin typeface="55 Helvetica Roman"/>
                <a:ea typeface="55 Helvetica Roman"/>
                <a:cs typeface="55 Helvetica Roman"/>
                <a:sym typeface="55 Helvetica Roman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ransition xmlns:p14="http://schemas.microsoft.com/office/powerpoint/2010/main" spd="med" advClick="1"/>
  <p:txStyles>
    <p:titleStyle>
      <a:lvl1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titleStyle>
    <p:bodyStyle>
      <a:lvl1pPr marL="257243" marR="0" indent="-25724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1pPr>
      <a:lvl2pPr marL="587985" marR="0" indent="-244994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2pPr>
      <a:lvl3pPr marL="914644" marR="0" indent="-22866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3pPr>
      <a:lvl4pPr marL="1303367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4pPr>
      <a:lvl5pPr marL="1646358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5pPr>
      <a:lvl6pPr marL="1989350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6pPr>
      <a:lvl7pPr marL="2332341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7pPr>
      <a:lvl8pPr marL="2675333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8pPr>
      <a:lvl9pPr marL="3018324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9pPr>
    </p:bodyStyle>
    <p:other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1pPr>
      <a:lvl2pPr marL="0" marR="0" indent="4572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2pPr>
      <a:lvl3pPr marL="0" marR="0" indent="9144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3pPr>
      <a:lvl4pPr marL="0" marR="0" indent="13716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4pPr>
      <a:lvl5pPr marL="0" marR="0" indent="18288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5pPr>
      <a:lvl6pPr marL="0" marR="0" indent="22860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6pPr>
      <a:lvl7pPr marL="0" marR="0" indent="27432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7pPr>
      <a:lvl8pPr marL="0" marR="0" indent="32004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8pPr>
      <a:lvl9pPr marL="0" marR="0" indent="36576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4"/>
          <p:cNvSpPr/>
          <p:nvPr/>
        </p:nvSpPr>
        <p:spPr>
          <a:xfrm>
            <a:off x="2" y="0"/>
            <a:ext cx="9151874" cy="6858000"/>
          </a:xfrm>
          <a:prstGeom prst="rect">
            <a:avLst/>
          </a:prstGeom>
          <a:solidFill>
            <a:srgbClr val="011B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</a:p>
        </p:txBody>
      </p:sp>
      <p:sp>
        <p:nvSpPr>
          <p:cNvPr id="138" name="Title 5"/>
          <p:cNvSpPr txBox="1"/>
          <p:nvPr>
            <p:ph type="ctrTitle"/>
          </p:nvPr>
        </p:nvSpPr>
        <p:spPr>
          <a:xfrm>
            <a:off x="626684" y="1502819"/>
            <a:ext cx="8184807" cy="978697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BBBCBC"/>
                </a:solidFill>
              </a:defRPr>
            </a:lvl1pPr>
          </a:lstStyle>
          <a:p>
            <a:pPr/>
            <a:r>
              <a:t>Yelp Dataset Sentiment Analysis</a:t>
            </a:r>
          </a:p>
        </p:txBody>
      </p:sp>
      <p:sp>
        <p:nvSpPr>
          <p:cNvPr id="139" name="Subtitle 6"/>
          <p:cNvSpPr txBox="1"/>
          <p:nvPr>
            <p:ph type="subTitle" sz="quarter" idx="1"/>
          </p:nvPr>
        </p:nvSpPr>
        <p:spPr>
          <a:xfrm>
            <a:off x="626685" y="2397727"/>
            <a:ext cx="3558230" cy="547974"/>
          </a:xfrm>
          <a:prstGeom prst="rect">
            <a:avLst/>
          </a:prstGeom>
        </p:spPr>
        <p:txBody>
          <a:bodyPr/>
          <a:lstStyle>
            <a:lvl1pPr>
              <a:spcBef>
                <a:spcPts val="400"/>
              </a:spcBef>
              <a:defRPr b="0" sz="1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Literature Review Survey</a:t>
            </a:r>
          </a:p>
        </p:txBody>
      </p:sp>
      <p:pic>
        <p:nvPicPr>
          <p:cNvPr id="14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68898" y="4690386"/>
            <a:ext cx="2016789" cy="1422957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Subtitle 6"/>
          <p:cNvSpPr txBox="1"/>
          <p:nvPr/>
        </p:nvSpPr>
        <p:spPr>
          <a:xfrm>
            <a:off x="672404" y="4372202"/>
            <a:ext cx="4131249" cy="1422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Cole Hanrahan and Julia Sober</a:t>
            </a: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COSC 5540</a:t>
            </a:r>
            <a:r>
              <a:rPr b="1">
                <a:latin typeface="Helvetica Neue"/>
                <a:ea typeface="Helvetica Neue"/>
                <a:cs typeface="Helvetica Neue"/>
                <a:sym typeface="Helvetica Neue"/>
              </a:rPr>
              <a:t> — </a:t>
            </a:r>
            <a:r>
              <a:t>Text Mining &amp; Analysis</a:t>
            </a:r>
            <a:endParaRPr b="1">
              <a:latin typeface="Helvetica Neue"/>
              <a:ea typeface="Helvetica Neue"/>
              <a:cs typeface="Helvetica Neue"/>
              <a:sym typeface="Helvetica Neue"/>
            </a:endParaRP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Fall 2025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Background and Motivation</a:t>
            </a:r>
          </a:p>
        </p:txBody>
      </p:sp>
      <p:sp>
        <p:nvSpPr>
          <p:cNvPr id="144" name="Content Placeholder 2"/>
          <p:cNvSpPr txBox="1"/>
          <p:nvPr>
            <p:ph type="body" sz="half" idx="1"/>
          </p:nvPr>
        </p:nvSpPr>
        <p:spPr>
          <a:xfrm>
            <a:off x="213473" y="1338867"/>
            <a:ext cx="8686428" cy="2301364"/>
          </a:xfrm>
          <a:prstGeom prst="rect">
            <a:avLst/>
          </a:prstGeom>
        </p:spPr>
        <p:txBody>
          <a:bodyPr/>
          <a:lstStyle/>
          <a:p>
            <a:pPr marL="223802" indent="-223802" defTabSz="298402">
              <a:defRPr sz="1914"/>
            </a:pPr>
            <a:r>
              <a:t>Online platforms like Yelp contain millions of reviews, but the link between text and star ratings is not straightforward. </a:t>
            </a:r>
          </a:p>
          <a:p>
            <a:pPr marL="223802" indent="-223802" defTabSz="298402">
              <a:defRPr sz="1914"/>
            </a:pPr>
            <a:r>
              <a:t>Automating star prediction helps users and businesses understand sentiment quickly, and researchers analyze which aspects most affect ratings. </a:t>
            </a:r>
          </a:p>
          <a:p>
            <a:pPr marL="223802" indent="-223802" defTabSz="298402">
              <a:defRPr sz="1914"/>
            </a:pPr>
            <a:r>
              <a:t>Literature shows high accuracy for binary sentiment, but more nuanced star prediction is difficult due to imbalanced data, reviewer subjectivity, and noisy language.</a:t>
            </a:r>
          </a:p>
        </p:txBody>
      </p:sp>
      <p:pic>
        <p:nvPicPr>
          <p:cNvPr id="145" name="Screenshot 2025-10-13 at 7.39.23 PM.png" descr="Screenshot 2025-10-13 at 7.39.23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923361" y="3588206"/>
            <a:ext cx="5266652" cy="2046526"/>
          </a:xfrm>
          <a:prstGeom prst="rect">
            <a:avLst/>
          </a:prstGeom>
          <a:ln w="12700">
            <a:miter lim="400000"/>
          </a:ln>
        </p:spPr>
      </p:pic>
      <p:sp>
        <p:nvSpPr>
          <p:cNvPr id="146" name="Source: Yelp Dataset Challenge: Review Rating Prediction, Nabiha Asghar"/>
          <p:cNvSpPr txBox="1"/>
          <p:nvPr/>
        </p:nvSpPr>
        <p:spPr>
          <a:xfrm>
            <a:off x="1782613" y="5531750"/>
            <a:ext cx="5592587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latin typeface="Adobe Caslon Pro"/>
                <a:ea typeface="Adobe Caslon Pro"/>
                <a:cs typeface="Adobe Caslon Pro"/>
                <a:sym typeface="Adobe Caslon Pro"/>
              </a:defRPr>
            </a:lvl1pPr>
          </a:lstStyle>
          <a:p>
            <a:pPr/>
            <a:r>
              <a:t>Source: Yelp Dataset Challenge: Review Rating Prediction, Nabiha Asghar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Research Directions in Literature</a:t>
            </a:r>
          </a:p>
        </p:txBody>
      </p:sp>
      <p:sp>
        <p:nvSpPr>
          <p:cNvPr id="149" name="Content Placeholder 2"/>
          <p:cNvSpPr txBox="1"/>
          <p:nvPr>
            <p:ph type="body" idx="1"/>
          </p:nvPr>
        </p:nvSpPr>
        <p:spPr>
          <a:xfrm>
            <a:off x="6537" y="1297644"/>
            <a:ext cx="8686427" cy="4262712"/>
          </a:xfrm>
          <a:prstGeom prst="rect">
            <a:avLst/>
          </a:prstGeom>
        </p:spPr>
        <p:txBody>
          <a:bodyPr/>
          <a:lstStyle/>
          <a:p>
            <a:pPr lvl="1" marL="828842" indent="-320842">
              <a:buFontTx/>
              <a:buAutoNum type="arabicPeriod" startAt="1"/>
              <a:defRPr b="1"/>
            </a:pPr>
            <a:r>
              <a:t>Binary Sentiment Classification</a:t>
            </a:r>
            <a:r>
              <a:rPr b="0"/>
              <a:t> – positive vs. negative reviews.</a:t>
            </a:r>
            <a:endParaRPr sz="2100"/>
          </a:p>
          <a:p>
            <a:pPr lvl="1" marL="828842" indent="-320842">
              <a:buFontTx/>
              <a:buAutoNum type="arabicPeriod" startAt="1"/>
              <a:defRPr b="1"/>
            </a:pPr>
            <a:r>
              <a:t>Star Rating Prediction</a:t>
            </a:r>
            <a:r>
              <a:rPr b="0"/>
              <a:t> – predict 1–5 stars from text.</a:t>
            </a:r>
            <a:endParaRPr sz="2100"/>
          </a:p>
          <a:p>
            <a:pPr lvl="1" marL="828842" indent="-320842">
              <a:buFontTx/>
              <a:buAutoNum type="arabicPeriod" startAt="1"/>
              <a:defRPr b="1"/>
            </a:pPr>
            <a:r>
              <a:t>Bias Analysis</a:t>
            </a:r>
            <a:r>
              <a:rPr b="0"/>
              <a:t> – explore inconsistencies between text and rating.</a:t>
            </a:r>
            <a:endParaRPr b="0"/>
          </a:p>
          <a:p>
            <a:pPr lvl="1" marL="828842" indent="-320842">
              <a:buFontTx/>
              <a:buAutoNum type="arabicPeriod" startAt="1"/>
              <a:defRPr b="1"/>
            </a:pPr>
            <a:r>
              <a:t>Aspect-based sentiment analysis (ABSA)</a:t>
            </a:r>
            <a:r>
              <a:rPr b="0"/>
              <a:t> — how does the reviewer feel about certain “aspects” of the product/restaurant (e.g. good food, bad service). Can we use these extracted opinions in our model?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Objectiv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Objectives</a:t>
            </a:r>
          </a:p>
        </p:txBody>
      </p:sp>
      <p:sp>
        <p:nvSpPr>
          <p:cNvPr id="152" name="Accurately predict a restaurant’s star rating (1–5) from review text alone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Accurately predict a restaurant’s star rating (1–5) from </a:t>
            </a:r>
            <a:r>
              <a:rPr b="1"/>
              <a:t>review text alone</a:t>
            </a:r>
            <a:r>
              <a:t>. </a:t>
            </a:r>
          </a:p>
          <a:p>
            <a:pPr/>
            <a:r>
              <a:rPr b="1"/>
              <a:t>Compare multiple feature extraction methods</a:t>
            </a:r>
            <a:r>
              <a:t> (n-grams, TF-IDF, sentiment lexicons, embeddings). </a:t>
            </a:r>
          </a:p>
          <a:p>
            <a:pPr/>
            <a:r>
              <a:t>Explore </a:t>
            </a:r>
            <a:r>
              <a:rPr b="1"/>
              <a:t>supplemental features</a:t>
            </a:r>
            <a:r>
              <a:t> (review length, punctuation usage) and </a:t>
            </a:r>
            <a:r>
              <a:rPr b="1"/>
              <a:t>address class imbalance</a:t>
            </a:r>
            <a:r>
              <a:t> </a:t>
            </a:r>
          </a:p>
          <a:p>
            <a:pPr/>
            <a:r>
              <a:t>Benchmark baseline ML models against deep neural networks and ensemble approaches.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Datase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Dataset</a:t>
            </a:r>
          </a:p>
        </p:txBody>
      </p:sp>
      <p:sp>
        <p:nvSpPr>
          <p:cNvPr id="155" name="Yelp Dataset Challenge (~7–8 million reviews)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Yelp Dataset Challenge (~7–8 million reviews). </a:t>
            </a:r>
          </a:p>
          <a:p>
            <a:pPr/>
            <a:r>
              <a:t>Each review includes text and star rating (+ many more features); known imbalance with most ratings ≥4 stars. </a:t>
            </a:r>
          </a:p>
          <a:p>
            <a:pPr/>
            <a:r>
              <a:t>Similar datasets in research: Amazon, Twitter, IMDB for method comparison.</a:t>
            </a:r>
          </a:p>
          <a:p>
            <a:pPr lvl="1" marL="600234" indent="-257243">
              <a:buChar char="•"/>
            </a:pPr>
            <a:r>
              <a:t>Some papers used these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Preprocessing Methods</a:t>
            </a:r>
          </a:p>
        </p:txBody>
      </p:sp>
      <p:sp>
        <p:nvSpPr>
          <p:cNvPr id="158" name="Content Placeholder 2"/>
          <p:cNvSpPr txBox="1"/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</a:pPr>
            <a:r>
              <a:t>Lowercase conversion, punctuation/special character removal, stop word elimination. </a:t>
            </a:r>
          </a:p>
          <a:p>
            <a:pPr>
              <a:lnSpc>
                <a:spcPct val="90000"/>
              </a:lnSpc>
            </a:pPr>
            <a:r>
              <a:t>Extract features (length, punctuation) before cleaning. </a:t>
            </a:r>
          </a:p>
          <a:p>
            <a:pPr>
              <a:lnSpc>
                <a:spcPct val="90000"/>
              </a:lnSpc>
            </a:pPr>
            <a:r>
              <a:t>Negation handling (“not good” → “not_good”), optional stemming.</a:t>
            </a:r>
          </a:p>
          <a:p>
            <a:pPr>
              <a:lnSpc>
                <a:spcPct val="90000"/>
              </a:lnSpc>
            </a:pPr>
            <a:r>
              <a:t>Part of Speech tagging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Feature Engineering Approaches</a:t>
            </a:r>
          </a:p>
        </p:txBody>
      </p:sp>
      <p:sp>
        <p:nvSpPr>
          <p:cNvPr id="161" name="Content Placeholder 2"/>
          <p:cNvSpPr txBox="1"/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 marL="182643" indent="-182643" defTabSz="243523">
              <a:spcBef>
                <a:spcPts val="400"/>
              </a:spcBef>
              <a:defRPr b="1" sz="1703"/>
            </a:pPr>
            <a:r>
              <a:t>Bag of Words (BoW):</a:t>
            </a:r>
          </a:p>
          <a:p>
            <a:pPr lvl="1" marL="426166" indent="-182643" defTabSz="243523">
              <a:spcBef>
                <a:spcPts val="400"/>
              </a:spcBef>
              <a:buChar char="•"/>
              <a:defRPr sz="1703"/>
            </a:pPr>
            <a:r>
              <a:t>Baseline—simple but effective</a:t>
            </a:r>
          </a:p>
          <a:p>
            <a:pPr marL="182643" indent="-182643" defTabSz="243523">
              <a:spcBef>
                <a:spcPts val="400"/>
              </a:spcBef>
              <a:defRPr sz="1703"/>
            </a:pPr>
            <a:r>
              <a:rPr b="1"/>
              <a:t>TF-IDF</a:t>
            </a:r>
            <a:r>
              <a:t> and </a:t>
            </a:r>
            <a:r>
              <a:rPr b="1"/>
              <a:t>n-grams</a:t>
            </a:r>
            <a:r>
              <a:t> (unigrams, bigrams, trigrams):</a:t>
            </a:r>
          </a:p>
          <a:p>
            <a:pPr lvl="1" marL="426166" indent="-182643" defTabSz="243523">
              <a:spcBef>
                <a:spcPts val="400"/>
              </a:spcBef>
              <a:buChar char="•"/>
              <a:defRPr sz="1703"/>
            </a:pPr>
            <a:r>
              <a:t>Define rare/meaningful words/phrases</a:t>
            </a:r>
          </a:p>
          <a:p>
            <a:pPr marL="182643" indent="-182643" defTabSz="243523">
              <a:spcBef>
                <a:spcPts val="400"/>
              </a:spcBef>
              <a:defRPr b="1" sz="1703"/>
            </a:pPr>
            <a:r>
              <a:t>Sentiment Lexicons: </a:t>
            </a:r>
          </a:p>
          <a:p>
            <a:pPr lvl="1" marL="426166" indent="-182643" defTabSz="243523">
              <a:spcBef>
                <a:spcPts val="400"/>
              </a:spcBef>
              <a:buChar char="•"/>
              <a:defRPr sz="1703"/>
            </a:pPr>
            <a:r>
              <a:t>Compare text with predefined word lists (e.g., Bing Liu)</a:t>
            </a:r>
          </a:p>
          <a:p>
            <a:pPr lvl="1" marL="426166" indent="-182643" defTabSz="243523">
              <a:spcBef>
                <a:spcPts val="400"/>
              </a:spcBef>
              <a:buChar char="•"/>
              <a:defRPr sz="1703"/>
            </a:pPr>
            <a:r>
              <a:t>Struggle with slang/typos</a:t>
            </a:r>
          </a:p>
          <a:p>
            <a:pPr marL="182643" indent="-182643" defTabSz="243523">
              <a:spcBef>
                <a:spcPts val="400"/>
              </a:spcBef>
              <a:defRPr b="1" sz="1703"/>
            </a:pPr>
            <a:r>
              <a:t>Part-of-Speech Tagging:</a:t>
            </a:r>
            <a:endParaRPr b="0"/>
          </a:p>
          <a:p>
            <a:pPr lvl="1" marL="426166" indent="-182643" defTabSz="243523">
              <a:spcBef>
                <a:spcPts val="400"/>
              </a:spcBef>
              <a:buChar char="•"/>
              <a:defRPr b="1" sz="1703"/>
            </a:pPr>
            <a:r>
              <a:rPr b="0"/>
              <a:t>e.g. use only adjectives</a:t>
            </a:r>
            <a:endParaRPr b="0"/>
          </a:p>
          <a:p>
            <a:pPr lvl="1" marL="426166" indent="-182643" defTabSz="243523">
              <a:spcBef>
                <a:spcPts val="400"/>
              </a:spcBef>
              <a:buChar char="•"/>
              <a:defRPr sz="1703"/>
            </a:pPr>
            <a:r>
              <a:t>improves interpretability and model performance</a:t>
            </a:r>
          </a:p>
          <a:p>
            <a:pPr marL="182643" indent="-182643" defTabSz="243523">
              <a:spcBef>
                <a:spcPts val="400"/>
              </a:spcBef>
              <a:defRPr b="1" sz="1703"/>
            </a:pPr>
            <a:r>
              <a:t>Contextual Embeddings:</a:t>
            </a:r>
            <a:endParaRPr b="0"/>
          </a:p>
          <a:p>
            <a:pPr lvl="1" marL="426166" indent="-182643" defTabSz="243523">
              <a:spcBef>
                <a:spcPts val="400"/>
              </a:spcBef>
              <a:buChar char="•"/>
              <a:defRPr sz="1703"/>
            </a:pPr>
            <a:r>
              <a:t>e.g. BERT</a:t>
            </a:r>
          </a:p>
          <a:p>
            <a:pPr marL="182643" indent="-182643" defTabSz="243523">
              <a:spcBef>
                <a:spcPts val="400"/>
              </a:spcBef>
              <a:defRPr sz="1703"/>
            </a:pPr>
            <a:r>
              <a:t>Try adding extracted features like review length, positivity/negativity scores, user votes if feasible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Modeling Approach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Modeling Approaches</a:t>
            </a:r>
          </a:p>
        </p:txBody>
      </p:sp>
      <p:sp>
        <p:nvSpPr>
          <p:cNvPr id="164" name="Baseline classifiers: Logistic Regression, Naive Bayes, SVM (linear/non-linear), Passive-Aggressive (similar to SVM)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/>
              <a:t>Baseline classifiers:</a:t>
            </a:r>
            <a:r>
              <a:t> Logistic Regression, Naive Bayes, SVM (linear/non-linear), Passive-Aggressive (similar to SVM). </a:t>
            </a:r>
          </a:p>
          <a:p>
            <a:pPr/>
            <a:r>
              <a:rPr b="1"/>
              <a:t>Tree-based ensembles:</a:t>
            </a:r>
            <a:r>
              <a:t> Random Forest, AdaBoost. </a:t>
            </a:r>
          </a:p>
          <a:p>
            <a:pPr/>
            <a:r>
              <a:t>Shallow/deep </a:t>
            </a:r>
            <a:r>
              <a:rPr b="1"/>
              <a:t>Multi-Layer Perceptrons</a:t>
            </a:r>
            <a:r>
              <a:t> with contextual embeddings. </a:t>
            </a:r>
          </a:p>
          <a:p>
            <a:pPr/>
            <a:r>
              <a:rPr b="1"/>
              <a:t>Ensemble methods:</a:t>
            </a:r>
            <a:r>
              <a:t> weighted voting, stacking. </a:t>
            </a:r>
          </a:p>
          <a:p>
            <a:pPr/>
            <a:r>
              <a:rPr b="1"/>
              <a:t>Ordinal models</a:t>
            </a:r>
            <a:r>
              <a:t> (ordered logistic regression) to honor rating order (i.e. 1 is closer to 2 than 4). </a:t>
            </a:r>
          </a:p>
          <a:p>
            <a:pPr/>
            <a:r>
              <a:rPr b="1"/>
              <a:t>Regressors</a:t>
            </a:r>
            <a:r>
              <a:t> (RandomForest, SVM, etc.), layered strategies (classify sentiment then regress rating).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entiment Analysis on Product Reviews Using Machine Learning Techniques; Jagdale et al. (2019)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18981">
              <a:defRPr sz="2511"/>
            </a:pPr>
            <a:r>
              <a:t>Sentiment Analysis on Product Reviews Using Machine Learning Techniques; </a:t>
            </a:r>
            <a:r>
              <a:rPr b="0"/>
              <a:t>Jagdale et al. (2019)</a:t>
            </a:r>
          </a:p>
        </p:txBody>
      </p:sp>
      <p:sp>
        <p:nvSpPr>
          <p:cNvPr id="167" name="Amazon product reviews: Camera, Laptops, Mobile phones, tablets, TVs, video surveillance (approx 13k total reviews)…"/>
          <p:cNvSpPr txBox="1"/>
          <p:nvPr>
            <p:ph type="body" sz="half" idx="1"/>
          </p:nvPr>
        </p:nvSpPr>
        <p:spPr>
          <a:xfrm>
            <a:off x="213474" y="1338867"/>
            <a:ext cx="5749538" cy="2359515"/>
          </a:xfrm>
          <a:prstGeom prst="rect">
            <a:avLst/>
          </a:prstGeom>
        </p:spPr>
        <p:txBody>
          <a:bodyPr/>
          <a:lstStyle/>
          <a:p>
            <a:pPr marL="370331" indent="-257175" defTabSz="277822">
              <a:spcBef>
                <a:spcPts val="400"/>
              </a:spcBef>
              <a:buClr>
                <a:srgbClr val="1F2328"/>
              </a:buClr>
              <a:buFont typeface="TimesNewRomanPSMT"/>
              <a:defRPr sz="1944"/>
            </a:pPr>
            <a:r>
              <a:rPr b="1"/>
              <a:t>Amazon product reviews</a:t>
            </a:r>
            <a:r>
              <a:t>: Camera, Laptops, Mobile phones, tablets, TVs, video surveillance (approx 13k total reviews)</a:t>
            </a:r>
          </a:p>
          <a:p>
            <a:pPr marL="370331" indent="-257175" defTabSz="277822">
              <a:spcBef>
                <a:spcPts val="400"/>
              </a:spcBef>
              <a:buClr>
                <a:srgbClr val="1F2328"/>
              </a:buClr>
              <a:buFont typeface="TimesNewRomanPSMT"/>
              <a:defRPr sz="1944"/>
            </a:pPr>
            <a:r>
              <a:rPr b="1"/>
              <a:t>Binary</a:t>
            </a:r>
            <a:r>
              <a:t> classification</a:t>
            </a:r>
          </a:p>
          <a:p>
            <a:pPr marL="370331" indent="-257175" defTabSz="277822">
              <a:spcBef>
                <a:spcPts val="400"/>
              </a:spcBef>
              <a:buClr>
                <a:srgbClr val="1F2328"/>
              </a:buClr>
              <a:buFont typeface="TimesNewRomanPSMT"/>
              <a:defRPr sz="1944"/>
            </a:pPr>
            <a:r>
              <a:rPr b="1"/>
              <a:t>Future work</a:t>
            </a:r>
            <a:r>
              <a:t>: aspect level analysis could improve (e.g. Camera’s quality, megapixel, picture size, structure, lens, picture quality, etc.)</a:t>
            </a:r>
          </a:p>
        </p:txBody>
      </p:sp>
      <p:pic>
        <p:nvPicPr>
          <p:cNvPr id="168" name="Screenshot 2025-10-24 at 9.44.06 AM.png" descr="Screenshot 2025-10-24 at 9.44.06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65719" y="1191314"/>
            <a:ext cx="3181436" cy="2897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Screenshot 2025-10-24 at 9.44.39 AM.png" descr="Screenshot 2025-10-24 at 9.44.39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6008" y="3635158"/>
            <a:ext cx="5379771" cy="21519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Screenshot 2025-10-24 at 9.46.32 AM.png" descr="Screenshot 2025-10-24 at 9.46.32 AM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912473" y="4309084"/>
            <a:ext cx="2906858" cy="14272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Ensemble Sentiment Analysis Using Bi-LSTM and CNN; Puneet Singh Lamba et al. (2024)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25841">
              <a:defRPr sz="2565"/>
            </a:pPr>
            <a:r>
              <a:t>Ensemble Sentiment Analysis Using Bi-LSTM and CNN; </a:t>
            </a:r>
            <a:r>
              <a:rPr b="0"/>
              <a:t>Puneet Singh Lamba et al. (2024)</a:t>
            </a:r>
          </a:p>
        </p:txBody>
      </p:sp>
      <p:sp>
        <p:nvSpPr>
          <p:cNvPr id="173" name="Dataset: IMDB movie reviews and Yelp (separate models)…"/>
          <p:cNvSpPr txBox="1"/>
          <p:nvPr>
            <p:ph type="body" sz="half" idx="1"/>
          </p:nvPr>
        </p:nvSpPr>
        <p:spPr>
          <a:xfrm>
            <a:off x="213474" y="1338867"/>
            <a:ext cx="4877202" cy="3229852"/>
          </a:xfrm>
          <a:prstGeom prst="rect">
            <a:avLst/>
          </a:prstGeom>
        </p:spPr>
        <p:txBody>
          <a:bodyPr/>
          <a:lstStyle/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Dataset</a:t>
            </a:r>
            <a:r>
              <a:t>: IMDB movie reviews and Yelp (separate models)</a:t>
            </a:r>
          </a:p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Binary</a:t>
            </a:r>
            <a:r>
              <a:t> classification</a:t>
            </a:r>
          </a:p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Tokenization</a:t>
            </a:r>
            <a:r>
              <a:t>: NLTK library's word_tokenize() </a:t>
            </a:r>
          </a:p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Hybrid</a:t>
            </a:r>
            <a:r>
              <a:t> of two techniques (Keras Sequential CNN and Bi-LSTM): </a:t>
            </a:r>
          </a:p>
          <a:p>
            <a:pPr lvl="1" marL="378148" indent="-162063" defTabSz="216084">
              <a:spcBef>
                <a:spcPts val="300"/>
              </a:spcBef>
              <a:buChar char="•"/>
              <a:defRPr sz="1512"/>
            </a:pPr>
            <a:r>
              <a:t>Built/saved model with </a:t>
            </a:r>
            <a:r>
              <a:rPr b="1"/>
              <a:t>Bi-LSTM</a:t>
            </a:r>
            <a:r>
              <a:t> </a:t>
            </a:r>
          </a:p>
          <a:p>
            <a:pPr lvl="1" marL="378148" indent="-162063" defTabSz="216084">
              <a:spcBef>
                <a:spcPts val="300"/>
              </a:spcBef>
              <a:buChar char="•"/>
              <a:defRPr sz="1512"/>
            </a:pPr>
            <a:r>
              <a:t>Built/saved </a:t>
            </a:r>
            <a:r>
              <a:rPr b="1"/>
              <a:t>CNN</a:t>
            </a:r>
            <a:r>
              <a:t> with Bert Tokenizer and Keras Module </a:t>
            </a:r>
          </a:p>
          <a:p>
            <a:pPr lvl="1" marL="378148" indent="-162063" defTabSz="216084">
              <a:spcBef>
                <a:spcPts val="300"/>
              </a:spcBef>
              <a:buChar char="•"/>
              <a:defRPr sz="1512"/>
            </a:pPr>
            <a:r>
              <a:rPr b="1"/>
              <a:t>Ensemble</a:t>
            </a:r>
            <a:r>
              <a:t> of both models</a:t>
            </a:r>
          </a:p>
          <a:p>
            <a:pPr lvl="2" marL="594232" indent="-162063" defTabSz="216084">
              <a:spcBef>
                <a:spcPts val="300"/>
              </a:spcBef>
              <a:defRPr sz="1512"/>
            </a:pPr>
            <a:r>
              <a:t>Weighted average</a:t>
            </a:r>
          </a:p>
          <a:p>
            <a:pPr lvl="2" marL="594232" indent="-162063" defTabSz="216084">
              <a:spcBef>
                <a:spcPts val="300"/>
              </a:spcBef>
              <a:defRPr sz="1512"/>
            </a:pPr>
            <a:r>
              <a:t>Stacking</a:t>
            </a:r>
          </a:p>
        </p:txBody>
      </p:sp>
      <p:pic>
        <p:nvPicPr>
          <p:cNvPr id="174" name="Screenshot 2025-10-24 at 9.51.36 AM.png" descr="Screenshot 2025-10-24 at 9.51.36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4637" y="4674675"/>
            <a:ext cx="7404101" cy="1155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Screenshot 2025-10-24 at 9.52.52 AM.png" descr="Screenshot 2025-10-24 at 9.52.52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200256" y="1005678"/>
            <a:ext cx="3821380" cy="34547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redicting a Business’ Star in Yelp from Its Reviews’ Text Alone; Mingming Fan &amp; Maryam Khademi (2014)"/>
          <p:cNvSpPr txBox="1"/>
          <p:nvPr>
            <p:ph type="title"/>
          </p:nvPr>
        </p:nvSpPr>
        <p:spPr>
          <a:xfrm>
            <a:off x="213474" y="341768"/>
            <a:ext cx="4705428" cy="878968"/>
          </a:xfrm>
          <a:prstGeom prst="rect">
            <a:avLst/>
          </a:prstGeom>
        </p:spPr>
        <p:txBody>
          <a:bodyPr/>
          <a:lstStyle/>
          <a:p>
            <a:pPr defTabSz="216084">
              <a:defRPr sz="1701"/>
            </a:pPr>
            <a:r>
              <a:t>Predicting a Business’ Star in Yelp from Its Reviews’ Text Alone; </a:t>
            </a:r>
            <a:r>
              <a:rPr b="0"/>
              <a:t>Mingming Fan &amp; Maryam Khademi (2014)</a:t>
            </a:r>
          </a:p>
        </p:txBody>
      </p:sp>
      <p:sp>
        <p:nvSpPr>
          <p:cNvPr id="178" name="Feature Selection:…"/>
          <p:cNvSpPr txBox="1"/>
          <p:nvPr>
            <p:ph type="body" sz="quarter" idx="1"/>
          </p:nvPr>
        </p:nvSpPr>
        <p:spPr>
          <a:xfrm>
            <a:off x="213474" y="1338867"/>
            <a:ext cx="4406477" cy="2350151"/>
          </a:xfrm>
          <a:prstGeom prst="rect">
            <a:avLst/>
          </a:prstGeom>
        </p:spPr>
        <p:txBody>
          <a:bodyPr/>
          <a:lstStyle/>
          <a:p>
            <a:pPr marL="118332" indent="-118332" defTabSz="157775">
              <a:spcBef>
                <a:spcPts val="200"/>
              </a:spcBef>
              <a:defRPr sz="1104"/>
            </a:pPr>
            <a:r>
              <a:rPr b="1"/>
              <a:t>Feature Selection:</a:t>
            </a:r>
            <a:r>
              <a:t> </a:t>
            </a:r>
          </a:p>
          <a:p>
            <a:pPr lvl="1" marL="276108" indent="-118332" defTabSz="157775">
              <a:spcBef>
                <a:spcPts val="200"/>
              </a:spcBef>
              <a:buChar char="•"/>
              <a:defRPr sz="1104"/>
            </a:pPr>
            <a:r>
              <a:t>BOW — top K frequency words</a:t>
            </a:r>
          </a:p>
          <a:p>
            <a:pPr lvl="1" marL="276108" indent="-118332" defTabSz="157775">
              <a:spcBef>
                <a:spcPts val="200"/>
              </a:spcBef>
              <a:buChar char="•"/>
              <a:defRPr sz="1104"/>
            </a:pPr>
            <a:r>
              <a:t>3 feature vectors: </a:t>
            </a:r>
          </a:p>
          <a:p>
            <a:pPr lvl="2" marL="433884" indent="-118332" defTabSz="157775">
              <a:spcBef>
                <a:spcPts val="200"/>
              </a:spcBef>
              <a:defRPr sz="1104"/>
            </a:pPr>
            <a:r>
              <a:rPr b="1"/>
              <a:t>baseline:</a:t>
            </a:r>
            <a:r>
              <a:t> raw data of the top K frequent words in all the reviews</a:t>
            </a:r>
          </a:p>
          <a:p>
            <a:pPr lvl="2" marL="433884" indent="-118332" defTabSz="157775">
              <a:spcBef>
                <a:spcPts val="200"/>
              </a:spcBef>
              <a:defRPr sz="1104"/>
            </a:pPr>
            <a:r>
              <a:rPr b="1"/>
              <a:t>feature engineering I:</a:t>
            </a:r>
            <a:r>
              <a:t> POS analysis per sentence, top K words</a:t>
            </a:r>
          </a:p>
          <a:p>
            <a:pPr lvl="2" marL="433884" indent="-118332" defTabSz="157775">
              <a:spcBef>
                <a:spcPts val="200"/>
              </a:spcBef>
              <a:defRPr sz="1104"/>
            </a:pPr>
            <a:r>
              <a:rPr b="1"/>
              <a:t>feature engineering II: </a:t>
            </a:r>
            <a:r>
              <a:t>K frequent adjectives</a:t>
            </a:r>
          </a:p>
          <a:p>
            <a:pPr marL="118332" indent="-118332" defTabSz="157775">
              <a:spcBef>
                <a:spcPts val="200"/>
              </a:spcBef>
              <a:defRPr sz="1104"/>
            </a:pPr>
            <a:r>
              <a:t>Predicting star rating as a </a:t>
            </a:r>
            <a:r>
              <a:rPr b="1"/>
              <a:t>regression</a:t>
            </a:r>
            <a:r>
              <a:t> task </a:t>
            </a:r>
          </a:p>
          <a:p>
            <a:pPr marL="118332" indent="-118332" defTabSz="157775">
              <a:spcBef>
                <a:spcPts val="200"/>
              </a:spcBef>
              <a:defRPr sz="1104"/>
            </a:pPr>
            <a:r>
              <a:t>Would try to generalize the model in the future by using other business categories (e.g., fashion, beauty) that are not restaurants.</a:t>
            </a:r>
          </a:p>
        </p:txBody>
      </p:sp>
      <p:pic>
        <p:nvPicPr>
          <p:cNvPr id="179" name="Screenshot 2025-10-24 at 10.11.28 AM.png" descr="Screenshot 2025-10-24 at 10.11.28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31448" y="431423"/>
            <a:ext cx="4071995" cy="3257595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Screenshot 2025-10-24 at 10.21.50 AM.png" descr="Screenshot 2025-10-24 at 10.21.50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753" y="3798067"/>
            <a:ext cx="3067996" cy="21374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Screenshot 2025-10-24 at 10.22.19 AM.png" descr="Screenshot 2025-10-24 at 10.22.19 AM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118512" y="3814262"/>
            <a:ext cx="2920789" cy="210507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" name="Screenshot 2025-10-24 at 10.22.31 AM.png" descr="Screenshot 2025-10-24 at 10.22.31 AM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228356" y="3823230"/>
            <a:ext cx="2895902" cy="20871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Yelp Dataset Challenge: Review Rating Prediction; Nabiha Asghar (2016)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25841">
              <a:defRPr sz="2565"/>
            </a:pPr>
            <a:r>
              <a:t>Yelp Dataset Challenge: Review Rating Prediction; </a:t>
            </a:r>
            <a:r>
              <a:rPr b="0"/>
              <a:t>Nabiha Asghar (2016)</a:t>
            </a:r>
          </a:p>
        </p:txBody>
      </p:sp>
      <p:sp>
        <p:nvSpPr>
          <p:cNvPr id="185" name="Preprocessing: removed capitalizations, stop words and punctuations…"/>
          <p:cNvSpPr txBox="1"/>
          <p:nvPr>
            <p:ph type="body" sz="half" idx="1"/>
          </p:nvPr>
        </p:nvSpPr>
        <p:spPr>
          <a:xfrm>
            <a:off x="213474" y="1338867"/>
            <a:ext cx="5041548" cy="4180266"/>
          </a:xfrm>
          <a:prstGeom prst="rect">
            <a:avLst/>
          </a:prstGeom>
        </p:spPr>
        <p:txBody>
          <a:bodyPr/>
          <a:lstStyle/>
          <a:p>
            <a:pPr marL="128621" indent="-128621" defTabSz="171495">
              <a:spcBef>
                <a:spcPts val="200"/>
              </a:spcBef>
              <a:defRPr sz="1200"/>
            </a:pPr>
            <a:r>
              <a:rPr b="1"/>
              <a:t>Preprocessing</a:t>
            </a:r>
            <a:r>
              <a:t>: removed capitalizations, stop words and punctuations </a:t>
            </a:r>
          </a:p>
          <a:p>
            <a:pPr marL="128621" indent="-128621" defTabSz="171495">
              <a:spcBef>
                <a:spcPts val="200"/>
              </a:spcBef>
              <a:defRPr sz="1200"/>
            </a:pPr>
            <a:r>
              <a:rPr b="1"/>
              <a:t>Feature Extraction</a:t>
            </a:r>
            <a:r>
              <a:t>: feature vector for each review from four different methods:</a:t>
            </a:r>
          </a:p>
          <a:p>
            <a:pPr lvl="1" marL="300117" indent="-128621" defTabSz="171495">
              <a:spcBef>
                <a:spcPts val="200"/>
              </a:spcBef>
              <a:buChar char="•"/>
              <a:defRPr sz="1200"/>
            </a:pPr>
            <a:r>
              <a:t>Unigrams (BOW)</a:t>
            </a:r>
          </a:p>
          <a:p>
            <a:pPr lvl="1" marL="300117" indent="-128621" defTabSz="171495">
              <a:spcBef>
                <a:spcPts val="200"/>
              </a:spcBef>
              <a:buChar char="•"/>
              <a:defRPr sz="1200"/>
            </a:pPr>
            <a:r>
              <a:t>Unigrams &amp; Bigrams</a:t>
            </a:r>
          </a:p>
          <a:p>
            <a:pPr lvl="1" marL="300117" indent="-128621" defTabSz="171495">
              <a:spcBef>
                <a:spcPts val="200"/>
              </a:spcBef>
              <a:buChar char="•"/>
              <a:defRPr sz="1200"/>
            </a:pPr>
            <a:r>
              <a:t>Unigrams, Bigrams, &amp; Trigrams</a:t>
            </a:r>
          </a:p>
          <a:p>
            <a:pPr lvl="1" marL="300117" indent="-128621" defTabSz="171495">
              <a:spcBef>
                <a:spcPts val="200"/>
              </a:spcBef>
              <a:buChar char="•"/>
              <a:defRPr sz="1200"/>
            </a:pPr>
            <a:r>
              <a:t>LSI </a:t>
            </a:r>
          </a:p>
          <a:p>
            <a:pPr lvl="2" marL="471613" indent="-128621" defTabSz="171495">
              <a:spcBef>
                <a:spcPts val="200"/>
              </a:spcBef>
              <a:defRPr sz="1200"/>
            </a:pPr>
            <a:r>
              <a:t>By default, t = the size of vocabulary </a:t>
            </a:r>
          </a:p>
          <a:p>
            <a:pPr lvl="2" marL="471613" indent="-128621" defTabSz="171495">
              <a:spcBef>
                <a:spcPts val="200"/>
              </a:spcBef>
              <a:defRPr sz="1200"/>
            </a:pPr>
            <a:r>
              <a:t>first t*  topics can be chosen as the most important ones, and thus the top t* rows of V can be used as the feature matrix</a:t>
            </a:r>
          </a:p>
          <a:p>
            <a:pPr marL="128621" indent="-128621" defTabSz="171495">
              <a:spcBef>
                <a:spcPts val="200"/>
              </a:spcBef>
              <a:defRPr b="1" sz="1200"/>
            </a:pPr>
            <a:r>
              <a:t>ML Models: </a:t>
            </a:r>
            <a:endParaRPr b="0"/>
          </a:p>
          <a:p>
            <a:pPr lvl="1" marL="300117" indent="-128621" defTabSz="171495">
              <a:spcBef>
                <a:spcPts val="200"/>
              </a:spcBef>
              <a:buChar char="•"/>
              <a:defRPr b="1" sz="1200"/>
            </a:pPr>
            <a:r>
              <a:rPr b="0"/>
              <a:t>Logistic Regression</a:t>
            </a:r>
            <a:endParaRPr b="0"/>
          </a:p>
          <a:p>
            <a:pPr lvl="1" marL="300117" indent="-128621" defTabSz="171495">
              <a:spcBef>
                <a:spcPts val="200"/>
              </a:spcBef>
              <a:buChar char="•"/>
              <a:defRPr b="1" sz="1200"/>
            </a:pPr>
            <a:r>
              <a:rPr b="0"/>
              <a:t>Multinomial Naive Bayes </a:t>
            </a:r>
            <a:endParaRPr b="0"/>
          </a:p>
          <a:p>
            <a:pPr lvl="1" marL="300117" indent="-128621" defTabSz="171495">
              <a:spcBef>
                <a:spcPts val="200"/>
              </a:spcBef>
              <a:buChar char="•"/>
              <a:defRPr b="1" sz="1200"/>
            </a:pPr>
            <a:r>
              <a:rPr b="0"/>
              <a:t>Perceptron (n_iterations = 50) </a:t>
            </a:r>
            <a:endParaRPr b="0"/>
          </a:p>
          <a:p>
            <a:pPr lvl="1" marL="300117" indent="-128621" defTabSz="171495">
              <a:spcBef>
                <a:spcPts val="200"/>
              </a:spcBef>
              <a:buChar char="•"/>
              <a:defRPr b="1" sz="1200"/>
            </a:pPr>
            <a:r>
              <a:rPr b="0"/>
              <a:t>SVM (linear, tolerance = 0.001) </a:t>
            </a:r>
            <a:endParaRPr b="0"/>
          </a:p>
          <a:p>
            <a:pPr marL="128621" indent="-128621" defTabSz="171495">
              <a:spcBef>
                <a:spcPts val="200"/>
              </a:spcBef>
              <a:defRPr b="1" sz="1200"/>
            </a:pPr>
            <a:r>
              <a:t>Results:</a:t>
            </a:r>
            <a:r>
              <a:rPr b="0"/>
              <a:t> Logistic Regression achieved the highest accuracy of 64% using the top 10,000 Unigrams &amp; Bigrams as features, followed very closely by Linear SVC which achieved 63% accuracy using the top 10,000 Unigrams &amp; Bigrams.</a:t>
            </a:r>
          </a:p>
        </p:txBody>
      </p:sp>
      <p:pic>
        <p:nvPicPr>
          <p:cNvPr id="186" name="Screenshot 2025-10-24 at 9.58.04 AM.png" descr="Screenshot 2025-10-24 at 9.58.04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763510" y="1103823"/>
            <a:ext cx="2479882" cy="225443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Screenshot 2025-10-24 at 10.03.33 AM.png" descr="Screenshot 2025-10-24 at 10.03.33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254726" y="3578509"/>
            <a:ext cx="3497451" cy="19768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entiment Analysis: A Systematic Case Study with Yelp Scores; Wenping Wang et al. (2023)"/>
          <p:cNvSpPr txBox="1"/>
          <p:nvPr>
            <p:ph type="title"/>
          </p:nvPr>
        </p:nvSpPr>
        <p:spPr>
          <a:xfrm>
            <a:off x="213474" y="341768"/>
            <a:ext cx="4244772" cy="878968"/>
          </a:xfrm>
          <a:prstGeom prst="rect">
            <a:avLst/>
          </a:prstGeom>
        </p:spPr>
        <p:txBody>
          <a:bodyPr/>
          <a:lstStyle/>
          <a:p>
            <a:pPr defTabSz="216084">
              <a:defRPr sz="1701"/>
            </a:pPr>
            <a:r>
              <a:t>Sentiment Analysis: A Systematic Case Study with Yelp Scores; </a:t>
            </a:r>
            <a:r>
              <a:rPr b="0"/>
              <a:t>Wenping Wang et al. (2023)</a:t>
            </a:r>
          </a:p>
        </p:txBody>
      </p:sp>
      <p:sp>
        <p:nvSpPr>
          <p:cNvPr id="190" name="Feature Extraction/Engineering:…"/>
          <p:cNvSpPr txBox="1"/>
          <p:nvPr>
            <p:ph type="body" sz="half" idx="1"/>
          </p:nvPr>
        </p:nvSpPr>
        <p:spPr>
          <a:xfrm>
            <a:off x="213474" y="1338867"/>
            <a:ext cx="4393609" cy="4499650"/>
          </a:xfrm>
          <a:prstGeom prst="rect">
            <a:avLst/>
          </a:prstGeom>
        </p:spPr>
        <p:txBody>
          <a:bodyPr/>
          <a:lstStyle/>
          <a:p>
            <a:pPr marL="115759" indent="-115759" defTabSz="154345">
              <a:spcBef>
                <a:spcPts val="200"/>
              </a:spcBef>
              <a:defRPr b="1" sz="1079"/>
            </a:pPr>
            <a:r>
              <a:t>Feature Extraction/Engineering:</a:t>
            </a:r>
          </a:p>
          <a:p>
            <a:pPr lvl="1" marL="270105" indent="-115759" defTabSz="154345">
              <a:spcBef>
                <a:spcPts val="200"/>
              </a:spcBef>
              <a:buChar char="•"/>
              <a:defRPr sz="1079"/>
            </a:pPr>
            <a:r>
              <a:t>Hashing Vectorizer (sklearn)</a:t>
            </a:r>
          </a:p>
          <a:p>
            <a:pPr lvl="1" marL="270105" indent="-115759" defTabSz="154345">
              <a:spcBef>
                <a:spcPts val="200"/>
              </a:spcBef>
              <a:buChar char="•"/>
              <a:defRPr sz="1079"/>
            </a:pPr>
            <a:r>
              <a:t>TF-IDF</a:t>
            </a:r>
          </a:p>
          <a:p>
            <a:pPr marL="115759" indent="-115759" defTabSz="154345">
              <a:spcBef>
                <a:spcPts val="200"/>
              </a:spcBef>
              <a:defRPr b="1" sz="1079"/>
            </a:pPr>
            <a:r>
              <a:t>ML Models: </a:t>
            </a:r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t>Logistic Regression</a:t>
            </a:r>
            <a:r>
              <a:rPr b="0"/>
              <a:t> with SGD I and SGD II</a:t>
            </a:r>
            <a:endParaRPr b="0"/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t>Multinomial Naive Bayes</a:t>
            </a:r>
            <a:endParaRPr b="0"/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t>Passive Aggressive </a:t>
            </a:r>
          </a:p>
          <a:p>
            <a:pPr lvl="2" marL="424452" indent="-115759" defTabSz="154345">
              <a:spcBef>
                <a:spcPts val="200"/>
              </a:spcBef>
              <a:defRPr b="1" sz="1079"/>
            </a:pPr>
            <a:r>
              <a:rPr b="0"/>
              <a:t>Similar to SVM (maximizing the margin of the separating planes between the data points)</a:t>
            </a:r>
            <a:endParaRPr b="0"/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rPr b="0"/>
              <a:t>(</a:t>
            </a:r>
            <a:r>
              <a:t>Shallow</a:t>
            </a:r>
            <a:r>
              <a:rPr b="0"/>
              <a:t>) Multi-Layer Perceptron (</a:t>
            </a:r>
            <a:r>
              <a:t>MLP</a:t>
            </a:r>
            <a:r>
              <a:rPr b="0"/>
              <a:t>) with BERT </a:t>
            </a:r>
            <a:endParaRPr b="0"/>
          </a:p>
          <a:p>
            <a:pPr lvl="2" marL="424452" indent="-115759" defTabSz="154345">
              <a:spcBef>
                <a:spcPts val="200"/>
              </a:spcBef>
              <a:defRPr b="1" sz="1079"/>
            </a:pPr>
            <a:r>
              <a:rPr b="0"/>
              <a:t>7 fully connected layers (768, 1024, 512, 512, 256, 64, 32, 5) </a:t>
            </a:r>
            <a:endParaRPr b="0"/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rPr b="0"/>
              <a:t>(</a:t>
            </a:r>
            <a:r>
              <a:t>Deep</a:t>
            </a:r>
            <a:r>
              <a:rPr b="0"/>
              <a:t>) </a:t>
            </a:r>
            <a:r>
              <a:t>MLP</a:t>
            </a:r>
            <a:r>
              <a:rPr b="0"/>
              <a:t> with BERT (+ other features)</a:t>
            </a:r>
            <a:endParaRPr b="0"/>
          </a:p>
          <a:p>
            <a:pPr lvl="2" marL="424452" indent="-115759" defTabSz="154345">
              <a:spcBef>
                <a:spcPts val="200"/>
              </a:spcBef>
              <a:defRPr b="1" sz="1079"/>
            </a:pPr>
            <a:r>
              <a:rPr b="0"/>
              <a:t>Useful, funny, cool, positive, negative, nchars, nwords, sentiment score </a:t>
            </a:r>
            <a:endParaRPr b="0"/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rPr b="0"/>
              <a:t>Heterogeneous (</a:t>
            </a:r>
            <a:r>
              <a:t>ensemble</a:t>
            </a:r>
            <a:r>
              <a:rPr b="0"/>
              <a:t>) classifiers (combined using weighted voting):</a:t>
            </a:r>
            <a:endParaRPr b="0"/>
          </a:p>
          <a:p>
            <a:pPr lvl="2" marL="424452" indent="-115759" defTabSz="154345">
              <a:spcBef>
                <a:spcPts val="200"/>
              </a:spcBef>
              <a:defRPr b="1" sz="1079"/>
            </a:pPr>
            <a:r>
              <a:rPr b="0"/>
              <a:t>Baseline models ensemble</a:t>
            </a:r>
            <a:endParaRPr b="0"/>
          </a:p>
          <a:p>
            <a:pPr lvl="2" marL="424452" indent="-115759" defTabSz="154345">
              <a:spcBef>
                <a:spcPts val="200"/>
              </a:spcBef>
              <a:defRPr b="1" sz="1079"/>
            </a:pPr>
            <a:r>
              <a:rPr b="0"/>
              <a:t>Baseline models and shallow MLP </a:t>
            </a:r>
            <a:endParaRPr b="0"/>
          </a:p>
          <a:p>
            <a:pPr lvl="2" marL="424452" indent="-115759" defTabSz="154345">
              <a:spcBef>
                <a:spcPts val="200"/>
              </a:spcBef>
              <a:defRPr b="1" sz="1079"/>
            </a:pPr>
            <a:r>
              <a:rPr b="0"/>
              <a:t>Baseline models and deep MLP</a:t>
            </a:r>
            <a:endParaRPr b="0"/>
          </a:p>
          <a:p>
            <a:pPr lvl="1" marL="270105" indent="-115759" defTabSz="154345">
              <a:spcBef>
                <a:spcPts val="200"/>
              </a:spcBef>
              <a:buChar char="•"/>
              <a:defRPr b="1" sz="1079"/>
            </a:pPr>
            <a:r>
              <a:rPr b="0"/>
              <a:t>AdaBoost </a:t>
            </a:r>
            <a:endParaRPr b="0"/>
          </a:p>
          <a:p>
            <a:pPr marL="115759" indent="-115759" defTabSz="154345">
              <a:spcBef>
                <a:spcPts val="200"/>
              </a:spcBef>
              <a:defRPr b="1" sz="1079"/>
            </a:pPr>
            <a:r>
              <a:rPr b="0"/>
              <a:t>For star rating of 5, best model is able to correctly classify 79.57% of the test data points, but it could only correctly classify </a:t>
            </a:r>
            <a:r>
              <a:t>32.30% of the data that has ratings of 2</a:t>
            </a:r>
            <a:r>
              <a:rPr b="0"/>
              <a:t>.</a:t>
            </a:r>
            <a:endParaRPr b="0"/>
          </a:p>
          <a:p>
            <a:pPr marL="115759" indent="-115759" defTabSz="154345">
              <a:spcBef>
                <a:spcPts val="200"/>
              </a:spcBef>
              <a:defRPr b="1" sz="1079"/>
            </a:pPr>
            <a:r>
              <a:rPr b="0"/>
              <a:t>Shallow &gt; deep</a:t>
            </a:r>
          </a:p>
        </p:txBody>
      </p:sp>
      <p:pic>
        <p:nvPicPr>
          <p:cNvPr id="191" name="Screenshot 2025-10-24 at 10.48.38 AM.png" descr="Screenshot 2025-10-24 at 10.48.38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14018" y="4017206"/>
            <a:ext cx="3109305" cy="16200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Screenshot 2025-10-24 at 10.49.06 AM.png" descr="Screenshot 2025-10-24 at 10.49.06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562033" y="497092"/>
            <a:ext cx="4613466" cy="33723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Review of Findings</a:t>
            </a:r>
          </a:p>
        </p:txBody>
      </p:sp>
      <p:sp>
        <p:nvSpPr>
          <p:cNvPr id="195" name="Content Placeholder 2"/>
          <p:cNvSpPr txBox="1"/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 marL="200650" indent="-200650" defTabSz="267532">
              <a:spcBef>
                <a:spcPts val="400"/>
              </a:spcBef>
              <a:defRPr sz="1871"/>
            </a:pPr>
            <a:r>
              <a:t>Binary sentiment models (Naive Bayes, Random Forest) good at </a:t>
            </a:r>
            <a:r>
              <a:rPr b="1"/>
              <a:t>positive/negative</a:t>
            </a:r>
            <a:r>
              <a:t>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t>Multi-class and regression models (Logistic/SVM, Linear Regression) weaker for all 5 star ratings (</a:t>
            </a:r>
            <a:r>
              <a:rPr b="1"/>
              <a:t>accuracy ≤ 65%</a:t>
            </a:r>
            <a:r>
              <a:t>).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rPr b="1"/>
              <a:t>TF-IDF and n-gram</a:t>
            </a:r>
            <a:r>
              <a:t> features are standard; context-sensitive embeddings (BERT) have emerged for fine-grained results.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t>Lexicons help but struggle with </a:t>
            </a:r>
            <a:r>
              <a:rPr b="1"/>
              <a:t>slang, typos, noisy data; sarcasm</a:t>
            </a:r>
            <a:r>
              <a:t> and nuanced language largely unsolved.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rPr b="1"/>
              <a:t>Ensemble methods</a:t>
            </a:r>
            <a:r>
              <a:t> sometimes improve results; deep learning gaining ground, especially for multi-aspect analysis and context.</a:t>
            </a:r>
          </a:p>
          <a:p>
            <a:pPr marL="200650" indent="-200650" defTabSz="267532">
              <a:spcBef>
                <a:spcPts val="400"/>
              </a:spcBef>
              <a:defRPr b="1" sz="1871"/>
            </a:pPr>
            <a:r>
              <a:t>Trends observed:</a:t>
            </a:r>
          </a:p>
          <a:p>
            <a:pPr lvl="1" marL="434741" indent="-167208" defTabSz="267532">
              <a:spcBef>
                <a:spcPts val="400"/>
              </a:spcBef>
              <a:defRPr sz="1871"/>
            </a:pPr>
            <a:r>
              <a:t>More features ≠ better performance (can cause overfitting).</a:t>
            </a:r>
            <a:endParaRPr sz="1637"/>
          </a:p>
          <a:p>
            <a:pPr lvl="1" marL="434741" indent="-167208" defTabSz="267532">
              <a:spcBef>
                <a:spcPts val="400"/>
              </a:spcBef>
              <a:defRPr sz="1871"/>
            </a:pPr>
            <a:r>
              <a:t>Simple &gt; Complex Models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Interesting Findings</a:t>
            </a:r>
          </a:p>
        </p:txBody>
      </p:sp>
      <p:sp>
        <p:nvSpPr>
          <p:cNvPr id="198" name="Content Placeholder 2"/>
          <p:cNvSpPr txBox="1"/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/>
            <a:r>
              <a:t>Standard preprocessing and Bag of Words are still strong baselines.</a:t>
            </a:r>
          </a:p>
          <a:p>
            <a:pPr/>
            <a:r>
              <a:t>Too many features can hurt linear regression results; keep it simple when possible.</a:t>
            </a:r>
          </a:p>
          <a:p>
            <a:pPr>
              <a:defRPr b="1"/>
            </a:pPr>
            <a:r>
              <a:rPr b="0"/>
              <a:t>Context-aware models (e.g., BERT) for sarcasm, multi-aspect sentiment are promising.</a:t>
            </a:r>
            <a:endParaRPr b="0"/>
          </a:p>
          <a:p>
            <a:pPr>
              <a:defRPr b="1"/>
            </a:pPr>
            <a:r>
              <a:rPr b="0"/>
              <a:t>Aspect-Based Sentiment Analysis worth trying.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 txBox="1"/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pPr/>
            <a:r>
              <a:t>Challenges and Gaps</a:t>
            </a:r>
          </a:p>
        </p:txBody>
      </p:sp>
      <p:sp>
        <p:nvSpPr>
          <p:cNvPr id="201" name="Content Placeholder 2"/>
          <p:cNvSpPr txBox="1"/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Context &amp; Sarcasm:</a:t>
            </a:r>
            <a:r>
              <a:rPr b="0"/>
              <a:t> “Great job burning my pizza!” — an unsolved problem</a:t>
            </a:r>
            <a:endParaRPr b="0"/>
          </a:p>
          <a:p>
            <a:pPr>
              <a:defRPr b="1"/>
            </a:pPr>
            <a:r>
              <a:t>Lexicon mismatch:</a:t>
            </a:r>
            <a:r>
              <a:rPr b="0"/>
              <a:t> limited by real-world data noise, slang, and sarcasm</a:t>
            </a:r>
            <a:endParaRPr b="0"/>
          </a:p>
          <a:p>
            <a:pPr>
              <a:defRPr b="1"/>
            </a:pPr>
            <a:r>
              <a:t>***</a:t>
            </a:r>
            <a:r>
              <a:t>Imbalanced data***:</a:t>
            </a:r>
            <a:r>
              <a:rPr b="0"/>
              <a:t> most reviews are 4 or 5 stars </a:t>
            </a:r>
            <a:endParaRPr b="0"/>
          </a:p>
          <a:p>
            <a:pPr>
              <a:defRPr b="1"/>
            </a:pPr>
            <a:r>
              <a:t>Explaining middle ratings: </a:t>
            </a:r>
            <a:r>
              <a:rPr b="0"/>
              <a:t>very difficult to discern between 2 &amp; 3 star ratings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apers Rea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Papers Read</a:t>
            </a:r>
          </a:p>
        </p:txBody>
      </p:sp>
      <p:sp>
        <p:nvSpPr>
          <p:cNvPr id="204" name="Sentiment Analysis on Product Reviews Using Machine Learning Techniques; Rajkumar S. Jagdale, Vishal S. Shirsat and Sachin N. Deshmuk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on Product Reviews Using Machine Learning Techniques</a:t>
            </a:r>
            <a:r>
              <a:t>; Rajkumar S. Jagdale, Vishal S. Shirsat and Sachin N. Deshmuk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Yelp Dataset Challenge: Review Rating Prediction</a:t>
            </a:r>
            <a:r>
              <a:t>; Nabiha Asghar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Analysis: A Systematic Case Study with Yelp Scores</a:t>
            </a:r>
            <a:r>
              <a:t>; Wenping Wang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Ensemble Sentiment Analysis Using Bi-LSTM and CNN</a:t>
            </a:r>
            <a:r>
              <a:t>; Puneet Singh Lamba Et al.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of Restaurant Reviews using Combined CNN-LSTM</a:t>
            </a:r>
            <a:r>
              <a:t>; Naimul Hossain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of Yelp Reviews by Machine Learning</a:t>
            </a:r>
            <a:r>
              <a:t>; Hemalatha S, Ramathmika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on Food Review using Machine Learning Approach</a:t>
            </a:r>
            <a:r>
              <a:t>; Nourin Islam, Ms. Nasrin Akter, Abdus Sattar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using Machine Learning Techniques on Python</a:t>
            </a:r>
            <a:r>
              <a:t>; Ratheee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of Yelp‘s Ratings Based on Text Reviews;</a:t>
            </a:r>
            <a:r>
              <a:t> Xu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Predicting a Business’ Star in Yelp from Its Reviews’ Text Alone</a:t>
            </a:r>
            <a:r>
              <a:t>; Fan, Khademi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