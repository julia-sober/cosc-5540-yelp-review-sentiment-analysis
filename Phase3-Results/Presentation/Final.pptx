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tif"/><Relationship Id="rId3"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2.tif"/></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Cole Hanrahan &amp; Julia Sober"/>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Cole Hanrahan &amp; Julia Sober</a:t>
            </a:r>
          </a:p>
        </p:txBody>
      </p:sp>
      <p:sp>
        <p:nvSpPr>
          <p:cNvPr id="172" name="Yelp Review Sentiment Analysis"/>
          <p:cNvSpPr txBox="1"/>
          <p:nvPr>
            <p:ph type="ctrTitle"/>
          </p:nvPr>
        </p:nvSpPr>
        <p:spPr>
          <a:prstGeom prst="rect">
            <a:avLst/>
          </a:prstGeom>
        </p:spPr>
        <p:txBody>
          <a:bodyPr/>
          <a:lstStyle/>
          <a:p>
            <a:pPr/>
            <a:r>
              <a:t>Yelp Review Sentiment Analysis</a:t>
            </a:r>
          </a:p>
        </p:txBody>
      </p:sp>
      <p:sp>
        <p:nvSpPr>
          <p:cNvPr id="173" name="Phase III: Project Implementation, Experimentation, Evaluation and Discussion/Presentation of the Results"/>
          <p:cNvSpPr txBox="1"/>
          <p:nvPr>
            <p:ph type="subTitle" sz="quarter" idx="1"/>
          </p:nvPr>
        </p:nvSpPr>
        <p:spPr>
          <a:prstGeom prst="rect">
            <a:avLst/>
          </a:prstGeom>
        </p:spPr>
        <p:txBody>
          <a:bodyPr/>
          <a:lstStyle/>
          <a:p>
            <a:pPr/>
            <a:r>
              <a:t>Phase III: Project Implementation, Experimentation, Evaluation and Discussion/Presentation of the Results</a:t>
            </a:r>
          </a:p>
        </p:txBody>
      </p:sp>
      <p:pic>
        <p:nvPicPr>
          <p:cNvPr id="174" name="pasted-movie.png" descr="pasted-movie.png"/>
          <p:cNvPicPr>
            <a:picLocks noChangeAspect="1"/>
          </p:cNvPicPr>
          <p:nvPr/>
        </p:nvPicPr>
        <p:blipFill>
          <a:blip r:embed="rId2">
            <a:alphaModFix amt="28969"/>
            <a:extLst/>
          </a:blip>
          <a:stretch>
            <a:fillRect/>
          </a:stretch>
        </p:blipFill>
        <p:spPr>
          <a:xfrm>
            <a:off x="0" y="0"/>
            <a:ext cx="24384000" cy="13716000"/>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Recall: Yelp Review Rating Prediction (RRP)"/>
          <p:cNvSpPr txBox="1"/>
          <p:nvPr>
            <p:ph type="title"/>
          </p:nvPr>
        </p:nvSpPr>
        <p:spPr>
          <a:prstGeom prst="rect">
            <a:avLst/>
          </a:prstGeom>
        </p:spPr>
        <p:txBody>
          <a:bodyPr/>
          <a:lstStyle/>
          <a:p>
            <a:pPr/>
            <a:r>
              <a:t>Recall: Yelp Review Rating Prediction (RRP)</a:t>
            </a:r>
          </a:p>
        </p:txBody>
      </p:sp>
      <p:sp>
        <p:nvSpPr>
          <p:cNvPr id="177" name="Project Motivation and Goals (from Proposal)"/>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Project Motivation and Goals (from Proposal)</a:t>
            </a:r>
          </a:p>
        </p:txBody>
      </p:sp>
      <p:sp>
        <p:nvSpPr>
          <p:cNvPr id="178" name="Star ratings on Yelp reviews are widely used but can be subjective and inconsistent.…"/>
          <p:cNvSpPr txBox="1"/>
          <p:nvPr>
            <p:ph type="body" idx="1"/>
          </p:nvPr>
        </p:nvSpPr>
        <p:spPr>
          <a:xfrm>
            <a:off x="1070124" y="4248504"/>
            <a:ext cx="16635936" cy="8256012"/>
          </a:xfrm>
          <a:prstGeom prst="rect">
            <a:avLst/>
          </a:prstGeom>
        </p:spPr>
        <p:txBody>
          <a:bodyPr/>
          <a:lstStyle/>
          <a:p>
            <a:pPr>
              <a:lnSpc>
                <a:spcPct val="100000"/>
              </a:lnSpc>
              <a:spcBef>
                <a:spcPts val="0"/>
              </a:spcBef>
            </a:pPr>
            <a:r>
              <a:t>Star ratings on Yelp reviews are widely used but can be subjective and inconsistent. </a:t>
            </a:r>
            <a:endParaRPr sz="2000"/>
          </a:p>
          <a:p>
            <a:pPr>
              <a:lnSpc>
                <a:spcPct val="100000"/>
              </a:lnSpc>
              <a:spcBef>
                <a:spcPts val="0"/>
              </a:spcBef>
            </a:pPr>
            <a:r>
              <a:t>Predicting ratings from review text can help users gauge sentiment efficiently, businesses pinpoint improvement areas, and researchers better understand satisfaction drivers.</a:t>
            </a:r>
          </a:p>
          <a:p>
            <a:pPr>
              <a:lnSpc>
                <a:spcPct val="100000"/>
              </a:lnSpc>
              <a:spcBef>
                <a:spcPts val="0"/>
              </a:spcBef>
              <a:defRPr b="1"/>
            </a:pPr>
            <a:r>
              <a:t>We stuck to the original plan detailed in our proposal</a:t>
            </a:r>
          </a:p>
        </p:txBody>
      </p:sp>
      <p:pic>
        <p:nvPicPr>
          <p:cNvPr id="179" name="pasted-movie.png" descr="pasted-movie.png"/>
          <p:cNvPicPr>
            <a:picLocks noChangeAspect="1"/>
          </p:cNvPicPr>
          <p:nvPr/>
        </p:nvPicPr>
        <p:blipFill>
          <a:blip r:embed="rId2">
            <a:extLst/>
          </a:blip>
          <a:stretch>
            <a:fillRect/>
          </a:stretch>
        </p:blipFill>
        <p:spPr>
          <a:xfrm>
            <a:off x="18259702" y="4470400"/>
            <a:ext cx="4775201" cy="4775200"/>
          </a:xfrm>
          <a:prstGeom prst="rect">
            <a:avLst/>
          </a:prstGeom>
          <a:ln w="12700">
            <a:miter lim="400000"/>
          </a:ln>
        </p:spPr>
      </p:pic>
      <p:sp>
        <p:nvSpPr>
          <p:cNvPr id="180" name="Source: Columbia University"/>
          <p:cNvSpPr txBox="1"/>
          <p:nvPr/>
        </p:nvSpPr>
        <p:spPr>
          <a:xfrm>
            <a:off x="18817778" y="9476279"/>
            <a:ext cx="3659049" cy="43667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200"/>
            </a:lvl1pPr>
          </a:lstStyle>
          <a:p>
            <a:pPr/>
            <a:r>
              <a:t>Source: Columbia University</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Our Innovation: Layered Classifier"/>
          <p:cNvSpPr txBox="1"/>
          <p:nvPr>
            <p:ph type="title"/>
          </p:nvPr>
        </p:nvSpPr>
        <p:spPr>
          <a:prstGeom prst="rect">
            <a:avLst/>
          </a:prstGeom>
        </p:spPr>
        <p:txBody>
          <a:bodyPr/>
          <a:lstStyle/>
          <a:p>
            <a:pPr/>
            <a:r>
              <a:t>Our Innovation: Layered Classifier</a:t>
            </a:r>
          </a:p>
        </p:txBody>
      </p:sp>
      <p:sp>
        <p:nvSpPr>
          <p:cNvPr id="183" name="ALL CODE AUTHORED BY OURSELVES (with some help from ChatGPT)"/>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defTabSz="751205">
              <a:defRPr sz="5005"/>
            </a:lvl1pPr>
          </a:lstStyle>
          <a:p>
            <a:pPr/>
            <a:r>
              <a:t>ALL CODE AUTHORED BY OURSELVES (with some help from ChatGPT)</a:t>
            </a:r>
          </a:p>
        </p:txBody>
      </p:sp>
      <p:sp>
        <p:nvSpPr>
          <p:cNvPr id="184" name="Why layered approach?…"/>
          <p:cNvSpPr txBox="1"/>
          <p:nvPr>
            <p:ph type="body" idx="1"/>
          </p:nvPr>
        </p:nvSpPr>
        <p:spPr>
          <a:xfrm>
            <a:off x="1206500" y="4248504"/>
            <a:ext cx="16399477" cy="8256012"/>
          </a:xfrm>
          <a:prstGeom prst="rect">
            <a:avLst/>
          </a:prstGeom>
        </p:spPr>
        <p:txBody>
          <a:bodyPr/>
          <a:lstStyle/>
          <a:p>
            <a:pPr marL="469391" indent="-469391" defTabSz="1877520">
              <a:lnSpc>
                <a:spcPct val="100000"/>
              </a:lnSpc>
              <a:spcBef>
                <a:spcPts val="0"/>
              </a:spcBef>
              <a:defRPr b="1" sz="3696"/>
            </a:pPr>
            <a:r>
              <a:t>Why layered approach?</a:t>
            </a:r>
          </a:p>
          <a:p>
            <a:pPr lvl="1" marL="938783" indent="-469391" defTabSz="1877520">
              <a:lnSpc>
                <a:spcPct val="100000"/>
              </a:lnSpc>
              <a:spcBef>
                <a:spcPts val="0"/>
              </a:spcBef>
              <a:defRPr sz="3696"/>
            </a:pPr>
            <a:r>
              <a:rPr b="1"/>
              <a:t>Positive/negative/neutral classification</a:t>
            </a:r>
            <a:r>
              <a:t> much easier than 1-5 RRP</a:t>
            </a:r>
          </a:p>
          <a:p>
            <a:pPr lvl="2" marL="1408175" indent="-469391" defTabSz="1877520">
              <a:lnSpc>
                <a:spcPct val="100000"/>
              </a:lnSpc>
              <a:spcBef>
                <a:spcPts val="0"/>
              </a:spcBef>
              <a:defRPr sz="3696"/>
            </a:pPr>
            <a:r>
              <a:t>Approx. 20% higher accuracy (matches expectation from literature)</a:t>
            </a:r>
          </a:p>
          <a:p>
            <a:pPr lvl="2" marL="1408175" indent="-469391" defTabSz="1877520">
              <a:lnSpc>
                <a:spcPct val="100000"/>
              </a:lnSpc>
              <a:spcBef>
                <a:spcPts val="0"/>
              </a:spcBef>
              <a:defRPr sz="3696"/>
            </a:pPr>
            <a:r>
              <a:t>The model can identify </a:t>
            </a:r>
            <a:r>
              <a:rPr b="1"/>
              <a:t>polarity</a:t>
            </a:r>
            <a:r>
              <a:t>, but it struggles to map </a:t>
            </a:r>
            <a:r>
              <a:rPr b="1"/>
              <a:t>polarity → precise star rating </a:t>
            </a:r>
            <a:r>
              <a:t>(problem isn’t sentiment detection, it’s rating calibration).</a:t>
            </a:r>
          </a:p>
          <a:p>
            <a:pPr lvl="1" marL="938783" indent="-469391" defTabSz="1877520">
              <a:lnSpc>
                <a:spcPct val="100000"/>
              </a:lnSpc>
              <a:spcBef>
                <a:spcPts val="0"/>
              </a:spcBef>
              <a:defRPr sz="3696"/>
            </a:pPr>
            <a:r>
              <a:rPr>
                <a:latin typeface="Adobe Caslon Pro"/>
                <a:ea typeface="Adobe Caslon Pro"/>
                <a:cs typeface="Adobe Caslon Pro"/>
                <a:sym typeface="Adobe Caslon Pro"/>
              </a:rPr>
              <a:t>The multi-class (1–5) setup suffers because 3-star reviews </a:t>
            </a:r>
            <a:r>
              <a:rPr b="1"/>
              <a:t>blur the boundaries</a:t>
            </a:r>
            <a:r>
              <a:rPr>
                <a:latin typeface="Adobe Caslon Pro"/>
                <a:ea typeface="Adobe Caslon Pro"/>
                <a:cs typeface="Adobe Caslon Pro"/>
                <a:sym typeface="Adobe Caslon Pro"/>
              </a:rPr>
              <a:t>.</a:t>
            </a:r>
            <a:endParaRPr b="1" sz="1693">
              <a:latin typeface="Adobe Caslon Pro"/>
              <a:ea typeface="Adobe Caslon Pro"/>
              <a:cs typeface="Adobe Caslon Pro"/>
              <a:sym typeface="Adobe Caslon Pro"/>
            </a:endParaRPr>
          </a:p>
          <a:p>
            <a:pPr lvl="2" marL="1408175" indent="-469391" defTabSz="1877520">
              <a:lnSpc>
                <a:spcPct val="100000"/>
              </a:lnSpc>
              <a:spcBef>
                <a:spcPts val="0"/>
              </a:spcBef>
              <a:defRPr sz="3696"/>
            </a:pPr>
            <a:r>
              <a:t>Neutral (3-star)</a:t>
            </a:r>
            <a:r>
              <a:rPr>
                <a:latin typeface="Adobe Caslon Pro"/>
                <a:ea typeface="Adobe Caslon Pro"/>
                <a:cs typeface="Adobe Caslon Pro"/>
                <a:sym typeface="Adobe Caslon Pro"/>
              </a:rPr>
              <a:t> reviews are </a:t>
            </a:r>
            <a:r>
              <a:rPr b="1" i="1">
                <a:latin typeface="Helvetica"/>
                <a:ea typeface="Helvetica"/>
                <a:cs typeface="Helvetica"/>
                <a:sym typeface="Helvetica"/>
              </a:rPr>
              <a:t>ambiguous</a:t>
            </a:r>
            <a:r>
              <a:rPr>
                <a:latin typeface="Adobe Caslon Pro"/>
                <a:ea typeface="Adobe Caslon Pro"/>
                <a:cs typeface="Adobe Caslon Pro"/>
                <a:sym typeface="Adobe Caslon Pro"/>
              </a:rPr>
              <a:t> — they overlap lexically and sentiment-wise with both extremes. </a:t>
            </a:r>
            <a:endParaRPr>
              <a:latin typeface="Adobe Caslon Pro"/>
              <a:ea typeface="Adobe Caslon Pro"/>
              <a:cs typeface="Adobe Caslon Pro"/>
              <a:sym typeface="Adobe Caslon Pro"/>
            </a:endParaRPr>
          </a:p>
          <a:p>
            <a:pPr lvl="2" marL="0" indent="704087" defTabSz="1877520">
              <a:lnSpc>
                <a:spcPct val="100000"/>
              </a:lnSpc>
              <a:spcBef>
                <a:spcPts val="0"/>
              </a:spcBef>
              <a:buSzTx/>
              <a:buNone/>
              <a:defRPr sz="3696"/>
            </a:pPr>
            <a:endParaRPr>
              <a:latin typeface="Adobe Caslon Pro"/>
              <a:ea typeface="Adobe Caslon Pro"/>
              <a:cs typeface="Adobe Caslon Pro"/>
              <a:sym typeface="Adobe Caslon Pro"/>
            </a:endParaRPr>
          </a:p>
          <a:p>
            <a:pPr marL="469391" indent="-469391" defTabSz="1877520">
              <a:lnSpc>
                <a:spcPct val="100000"/>
              </a:lnSpc>
              <a:spcBef>
                <a:spcPts val="0"/>
              </a:spcBef>
              <a:defRPr b="1" sz="3696"/>
            </a:pPr>
            <a:r>
              <a:rPr>
                <a:latin typeface="Adobe Caslon Pro"/>
                <a:ea typeface="Adobe Caslon Pro"/>
                <a:cs typeface="Adobe Caslon Pro"/>
                <a:sym typeface="Adobe Caslon Pro"/>
              </a:rPr>
              <a:t>Implementation Considerations:</a:t>
            </a:r>
            <a:endParaRPr b="0">
              <a:latin typeface="Adobe Caslon Pro"/>
              <a:ea typeface="Adobe Caslon Pro"/>
              <a:cs typeface="Adobe Caslon Pro"/>
              <a:sym typeface="Adobe Caslon Pro"/>
            </a:endParaRPr>
          </a:p>
          <a:p>
            <a:pPr lvl="1" marL="938783" indent="-469391" defTabSz="1877520">
              <a:lnSpc>
                <a:spcPct val="100000"/>
              </a:lnSpc>
              <a:spcBef>
                <a:spcPts val="0"/>
              </a:spcBef>
              <a:defRPr b="1" sz="3696"/>
            </a:pPr>
            <a:r>
              <a:rPr b="0">
                <a:latin typeface="Adobe Caslon Pro"/>
                <a:ea typeface="Adobe Caslon Pro"/>
                <a:cs typeface="Adobe Caslon Pro"/>
                <a:sym typeface="Adobe Caslon Pro"/>
              </a:rPr>
              <a:t>Multiple acceptable labels at layer 1</a:t>
            </a:r>
            <a:endParaRPr b="0">
              <a:latin typeface="Adobe Caslon Pro"/>
              <a:ea typeface="Adobe Caslon Pro"/>
              <a:cs typeface="Adobe Caslon Pro"/>
              <a:sym typeface="Adobe Caslon Pro"/>
            </a:endParaRPr>
          </a:p>
          <a:p>
            <a:pPr lvl="1" marL="938783" indent="-469391" defTabSz="1877520">
              <a:lnSpc>
                <a:spcPct val="100000"/>
              </a:lnSpc>
              <a:spcBef>
                <a:spcPts val="0"/>
              </a:spcBef>
              <a:defRPr b="1" sz="3696"/>
            </a:pPr>
            <a:r>
              <a:rPr b="0">
                <a:latin typeface="Adobe Caslon Pro"/>
                <a:ea typeface="Adobe Caslon Pro"/>
                <a:cs typeface="Adobe Caslon Pro"/>
                <a:sym typeface="Adobe Caslon Pro"/>
              </a:rPr>
              <a:t>Routing strategy</a:t>
            </a:r>
          </a:p>
        </p:txBody>
      </p:sp>
      <p:pic>
        <p:nvPicPr>
          <p:cNvPr id="185" name="Screenshot 2025-11-13 at 10.00.53 AM.png" descr="Screenshot 2025-11-13 at 10.00.53 AM.png"/>
          <p:cNvPicPr>
            <a:picLocks noChangeAspect="1"/>
          </p:cNvPicPr>
          <p:nvPr/>
        </p:nvPicPr>
        <p:blipFill>
          <a:blip r:embed="rId2">
            <a:extLst/>
          </a:blip>
          <a:stretch>
            <a:fillRect/>
          </a:stretch>
        </p:blipFill>
        <p:spPr>
          <a:xfrm>
            <a:off x="18301402" y="4596223"/>
            <a:ext cx="4698786" cy="7223507"/>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Hard Routing:…"/>
          <p:cNvSpPr txBox="1"/>
          <p:nvPr>
            <p:ph type="body" sz="half" idx="1"/>
          </p:nvPr>
        </p:nvSpPr>
        <p:spPr>
          <a:xfrm>
            <a:off x="9463258" y="702494"/>
            <a:ext cx="14676491" cy="5368848"/>
          </a:xfrm>
          <a:prstGeom prst="rect">
            <a:avLst/>
          </a:prstGeom>
        </p:spPr>
        <p:txBody>
          <a:bodyPr/>
          <a:lstStyle/>
          <a:p>
            <a:pPr marL="365760" indent="-365760" defTabSz="1463003">
              <a:lnSpc>
                <a:spcPct val="100000"/>
              </a:lnSpc>
              <a:spcBef>
                <a:spcPts val="0"/>
              </a:spcBef>
              <a:defRPr b="1" sz="2880"/>
            </a:pPr>
            <a:r>
              <a:t>Hard Routing:</a:t>
            </a:r>
          </a:p>
          <a:p>
            <a:pPr lvl="1" marL="731520" indent="-365760" defTabSz="1463003">
              <a:lnSpc>
                <a:spcPct val="100000"/>
              </a:lnSpc>
              <a:spcBef>
                <a:spcPts val="0"/>
              </a:spcBef>
              <a:defRPr sz="2880"/>
            </a:pPr>
            <a:r>
              <a:t>Use Layer 1’s predicted group to choose </a:t>
            </a:r>
            <a:r>
              <a:rPr b="1"/>
              <a:t>exactly one</a:t>
            </a:r>
            <a:r>
              <a:t> fine classifier.</a:t>
            </a:r>
          </a:p>
          <a:p>
            <a:pPr lvl="1" marL="731520" indent="-365760" defTabSz="1463003">
              <a:lnSpc>
                <a:spcPct val="100000"/>
              </a:lnSpc>
              <a:spcBef>
                <a:spcPts val="0"/>
              </a:spcBef>
              <a:defRPr sz="2880"/>
            </a:pPr>
            <a:r>
              <a:t>Highest variance but often highest accuracy when Layer 1 is reliable.</a:t>
            </a:r>
          </a:p>
          <a:p>
            <a:pPr marL="365760" indent="-365760" defTabSz="1463003">
              <a:lnSpc>
                <a:spcPct val="100000"/>
              </a:lnSpc>
              <a:spcBef>
                <a:spcPts val="0"/>
              </a:spcBef>
              <a:defRPr b="1" sz="2880"/>
            </a:pPr>
            <a:r>
              <a:t>Soft Routing:</a:t>
            </a:r>
          </a:p>
          <a:p>
            <a:pPr lvl="1" marL="731520" indent="-365760" defTabSz="1463003">
              <a:lnSpc>
                <a:spcPct val="100000"/>
              </a:lnSpc>
              <a:spcBef>
                <a:spcPts val="0"/>
              </a:spcBef>
              <a:defRPr sz="2880"/>
            </a:pPr>
            <a:r>
              <a:t>Combine outputs of both fine classifiers using </a:t>
            </a:r>
            <a:r>
              <a:rPr b="1"/>
              <a:t>fixed blending weights</a:t>
            </a:r>
            <a:r>
              <a:t> (e.g., 50/50).</a:t>
            </a:r>
          </a:p>
          <a:p>
            <a:pPr lvl="1" marL="731520" indent="-365760" defTabSz="1463003">
              <a:lnSpc>
                <a:spcPct val="100000"/>
              </a:lnSpc>
              <a:spcBef>
                <a:spcPts val="0"/>
              </a:spcBef>
              <a:defRPr sz="2880"/>
            </a:pPr>
            <a:r>
              <a:t>More stable but less sharp.</a:t>
            </a:r>
          </a:p>
          <a:p>
            <a:pPr marL="365760" indent="-365760" defTabSz="1463003">
              <a:lnSpc>
                <a:spcPct val="100000"/>
              </a:lnSpc>
              <a:spcBef>
                <a:spcPts val="0"/>
              </a:spcBef>
              <a:defRPr b="1" sz="2880"/>
            </a:pPr>
            <a:r>
              <a:t>Dynamic Routing:</a:t>
            </a:r>
          </a:p>
          <a:p>
            <a:pPr lvl="1" marL="731520" indent="-365760" defTabSz="1463003">
              <a:lnSpc>
                <a:spcPct val="100000"/>
              </a:lnSpc>
              <a:spcBef>
                <a:spcPts val="0"/>
              </a:spcBef>
              <a:defRPr sz="2880"/>
            </a:pPr>
            <a:r>
              <a:t>Use Layer 1’s </a:t>
            </a:r>
            <a:r>
              <a:rPr b="1"/>
              <a:t>probabilities</a:t>
            </a:r>
            <a:r>
              <a:t> (e.g., 70% group 0, 30% group 1) as weights.</a:t>
            </a:r>
          </a:p>
          <a:p>
            <a:pPr lvl="1" marL="731520" indent="-365760" defTabSz="1463003">
              <a:lnSpc>
                <a:spcPct val="100000"/>
              </a:lnSpc>
              <a:spcBef>
                <a:spcPts val="0"/>
              </a:spcBef>
              <a:defRPr sz="2880"/>
            </a:pPr>
            <a:r>
              <a:t>Essentially a per-sample attention mechanism.</a:t>
            </a:r>
          </a:p>
          <a:p>
            <a:pPr marL="365760" indent="-365760" defTabSz="1463003">
              <a:lnSpc>
                <a:spcPct val="100000"/>
              </a:lnSpc>
              <a:spcBef>
                <a:spcPts val="0"/>
              </a:spcBef>
              <a:defRPr b="1" sz="2880"/>
            </a:pPr>
            <a:r>
              <a:t>Ensemble Routing:</a:t>
            </a:r>
          </a:p>
          <a:p>
            <a:pPr lvl="1" marL="731520" indent="-365760" defTabSz="1463003">
              <a:lnSpc>
                <a:spcPct val="100000"/>
              </a:lnSpc>
              <a:spcBef>
                <a:spcPts val="0"/>
              </a:spcBef>
              <a:defRPr sz="2880"/>
            </a:pPr>
            <a:r>
              <a:t>Ignore Layer 1 and average the two fine classifiers' outputs.</a:t>
            </a:r>
          </a:p>
        </p:txBody>
      </p:sp>
      <p:pic>
        <p:nvPicPr>
          <p:cNvPr id="188" name="Image" descr="Image"/>
          <p:cNvPicPr>
            <a:picLocks noChangeAspect="1"/>
          </p:cNvPicPr>
          <p:nvPr/>
        </p:nvPicPr>
        <p:blipFill>
          <a:blip r:embed="rId2">
            <a:extLst/>
          </a:blip>
          <a:stretch>
            <a:fillRect/>
          </a:stretch>
        </p:blipFill>
        <p:spPr>
          <a:xfrm>
            <a:off x="5982498" y="6351796"/>
            <a:ext cx="18201394" cy="6753977"/>
          </a:xfrm>
          <a:prstGeom prst="rect">
            <a:avLst/>
          </a:prstGeom>
          <a:ln w="12700">
            <a:miter lim="400000"/>
          </a:ln>
        </p:spPr>
      </p:pic>
      <p:sp>
        <p:nvSpPr>
          <p:cNvPr id="189" name="Testing Different…"/>
          <p:cNvSpPr txBox="1"/>
          <p:nvPr/>
        </p:nvSpPr>
        <p:spPr>
          <a:xfrm>
            <a:off x="772983" y="1105114"/>
            <a:ext cx="8015733" cy="223481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nSpc>
                <a:spcPct val="100000"/>
              </a:lnSpc>
              <a:spcBef>
                <a:spcPts val="0"/>
              </a:spcBef>
              <a:defRPr b="1" sz="7000"/>
            </a:pPr>
            <a:r>
              <a:t>Testing Different </a:t>
            </a:r>
          </a:p>
          <a:p>
            <a:pPr>
              <a:lnSpc>
                <a:spcPct val="100000"/>
              </a:lnSpc>
              <a:spcBef>
                <a:spcPts val="0"/>
              </a:spcBef>
              <a:defRPr b="1" sz="7000"/>
            </a:pPr>
            <a:r>
              <a:t>Routing Strategies</a:t>
            </a:r>
          </a:p>
        </p:txBody>
      </p:sp>
      <p:sp>
        <p:nvSpPr>
          <p:cNvPr id="190" name="** Note that all strategies require…"/>
          <p:cNvSpPr txBox="1"/>
          <p:nvPr/>
        </p:nvSpPr>
        <p:spPr>
          <a:xfrm>
            <a:off x="1138275" y="3813328"/>
            <a:ext cx="5703190" cy="13732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spcBef>
                <a:spcPts val="0"/>
              </a:spcBef>
              <a:defRPr sz="3000"/>
            </a:pPr>
            <a:r>
              <a:t>** Note that all strategies require </a:t>
            </a:r>
          </a:p>
          <a:p>
            <a:pPr>
              <a:spcBef>
                <a:spcPts val="0"/>
              </a:spcBef>
              <a:defRPr sz="3000"/>
            </a:pPr>
            <a:r>
              <a:t>    duplicating 3 star reviews at </a:t>
            </a:r>
          </a:p>
          <a:p>
            <a:pPr>
              <a:spcBef>
                <a:spcPts val="0"/>
              </a:spcBef>
              <a:defRPr sz="3000"/>
            </a:pPr>
            <a:r>
              <a:t>    layer 1</a:t>
            </a:r>
          </a:p>
        </p:txBody>
      </p:sp>
      <p:pic>
        <p:nvPicPr>
          <p:cNvPr id="191" name="Screenshot 2025-11-13 at 10.00.53 AM.png" descr="Screenshot 2025-11-13 at 10.00.53 AM.png"/>
          <p:cNvPicPr>
            <a:picLocks noChangeAspect="1"/>
          </p:cNvPicPr>
          <p:nvPr/>
        </p:nvPicPr>
        <p:blipFill>
          <a:blip r:embed="rId3">
            <a:extLst/>
          </a:blip>
          <a:stretch>
            <a:fillRect/>
          </a:stretch>
        </p:blipFill>
        <p:spPr>
          <a:xfrm>
            <a:off x="872570" y="5659954"/>
            <a:ext cx="4698786" cy="7223508"/>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Hyperparameter Tuning"/>
          <p:cNvSpPr txBox="1"/>
          <p:nvPr>
            <p:ph type="title"/>
          </p:nvPr>
        </p:nvSpPr>
        <p:spPr>
          <a:prstGeom prst="rect">
            <a:avLst/>
          </a:prstGeom>
        </p:spPr>
        <p:txBody>
          <a:bodyPr/>
          <a:lstStyle/>
          <a:p>
            <a:pPr/>
            <a:r>
              <a:t>Hyperparameter Tuning</a:t>
            </a:r>
          </a:p>
        </p:txBody>
      </p:sp>
      <p:sp>
        <p:nvSpPr>
          <p:cNvPr id="194" name="Grid Search"/>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Grid Search</a:t>
            </a:r>
          </a:p>
        </p:txBody>
      </p:sp>
      <p:sp>
        <p:nvSpPr>
          <p:cNvPr id="195" name="Strategy…"/>
          <p:cNvSpPr txBox="1"/>
          <p:nvPr>
            <p:ph type="body" idx="1"/>
          </p:nvPr>
        </p:nvSpPr>
        <p:spPr>
          <a:xfrm>
            <a:off x="1206500" y="3662301"/>
            <a:ext cx="21971001" cy="9428417"/>
          </a:xfrm>
          <a:prstGeom prst="rect">
            <a:avLst/>
          </a:prstGeom>
        </p:spPr>
        <p:txBody>
          <a:bodyPr/>
          <a:lstStyle/>
          <a:p>
            <a:pPr marL="0" indent="0" defTabSz="1414236">
              <a:lnSpc>
                <a:spcPct val="100000"/>
              </a:lnSpc>
              <a:spcBef>
                <a:spcPts val="0"/>
              </a:spcBef>
              <a:buSzTx/>
              <a:buNone/>
              <a:defRPr b="1" sz="3364"/>
            </a:pPr>
            <a:r>
              <a:t>Strategy</a:t>
            </a:r>
          </a:p>
          <a:p>
            <a:pPr lvl="1" marL="707136" indent="-353568" defTabSz="1414236">
              <a:lnSpc>
                <a:spcPct val="100000"/>
              </a:lnSpc>
              <a:spcBef>
                <a:spcPts val="0"/>
              </a:spcBef>
              <a:defRPr sz="2784"/>
            </a:pPr>
            <a:r>
              <a:t>scikit-learn </a:t>
            </a:r>
            <a:r>
              <a:rPr b="1"/>
              <a:t>ParameterGrid </a:t>
            </a:r>
            <a:r>
              <a:t>with </a:t>
            </a:r>
            <a:r>
              <a:rPr b="1"/>
              <a:t>exhaustive search</a:t>
            </a:r>
            <a:endParaRPr b="1"/>
          </a:p>
          <a:p>
            <a:pPr lvl="1" marL="707136" indent="-353568" defTabSz="1414236">
              <a:lnSpc>
                <a:spcPct val="100000"/>
              </a:lnSpc>
              <a:spcBef>
                <a:spcPts val="0"/>
              </a:spcBef>
              <a:defRPr sz="2784"/>
            </a:pPr>
            <a:r>
              <a:t>Total combinations: 192</a:t>
            </a:r>
          </a:p>
          <a:p>
            <a:pPr lvl="1" marL="707136" indent="-353568" defTabSz="1414236">
              <a:lnSpc>
                <a:spcPct val="100000"/>
              </a:lnSpc>
              <a:spcBef>
                <a:spcPts val="0"/>
              </a:spcBef>
              <a:defRPr sz="2784"/>
            </a:pPr>
            <a:r>
              <a:t>Validation approach: 3-way stratified split (200K train / 25K val / 25K test)</a:t>
            </a:r>
          </a:p>
          <a:p>
            <a:pPr lvl="2" marL="1060703" indent="-353568" defTabSz="1414236">
              <a:lnSpc>
                <a:spcPct val="100000"/>
              </a:lnSpc>
              <a:spcBef>
                <a:spcPts val="0"/>
              </a:spcBef>
              <a:defRPr sz="2784"/>
            </a:pPr>
            <a:r>
              <a:t>Best results retested for comparison with 400K / 50K / 50K</a:t>
            </a:r>
          </a:p>
          <a:p>
            <a:pPr lvl="1" marL="707136" indent="-353568" defTabSz="1414236">
              <a:lnSpc>
                <a:spcPct val="100000"/>
              </a:lnSpc>
              <a:spcBef>
                <a:spcPts val="0"/>
              </a:spcBef>
              <a:defRPr sz="2784"/>
            </a:pPr>
            <a:r>
              <a:t>Scoring metric: </a:t>
            </a:r>
            <a:r>
              <a:rPr b="1"/>
              <a:t>Macro F1</a:t>
            </a:r>
            <a:r>
              <a:t> (balanced across all star ratings)</a:t>
            </a:r>
          </a:p>
          <a:p>
            <a:pPr marL="0" indent="0" defTabSz="1414236">
              <a:lnSpc>
                <a:spcPct val="100000"/>
              </a:lnSpc>
              <a:spcBef>
                <a:spcPts val="2600"/>
              </a:spcBef>
              <a:buSzTx/>
              <a:buNone/>
              <a:defRPr b="1" sz="3190"/>
            </a:pPr>
            <a:r>
              <a:t>Hyperparams Tested</a:t>
            </a:r>
          </a:p>
          <a:p>
            <a:pPr lvl="1" marL="0" indent="265175" defTabSz="1414236">
              <a:lnSpc>
                <a:spcPct val="100000"/>
              </a:lnSpc>
              <a:spcBef>
                <a:spcPts val="500"/>
              </a:spcBef>
              <a:buSzTx/>
              <a:buNone/>
              <a:defRPr b="1" sz="2784"/>
            </a:pPr>
            <a:r>
              <a:t>Feature Extraction:</a:t>
            </a:r>
            <a:endParaRPr b="0" u="sng"/>
          </a:p>
          <a:p>
            <a:pPr lvl="2" marL="1060703" indent="-353568" defTabSz="1414236">
              <a:lnSpc>
                <a:spcPct val="100000"/>
              </a:lnSpc>
              <a:spcBef>
                <a:spcPts val="0"/>
              </a:spcBef>
              <a:defRPr sz="2784"/>
            </a:pPr>
            <a:r>
              <a:t>max_features</a:t>
            </a:r>
          </a:p>
          <a:p>
            <a:pPr lvl="2" marL="1060703" indent="-353568" defTabSz="1414236">
              <a:lnSpc>
                <a:spcPct val="100000"/>
              </a:lnSpc>
              <a:spcBef>
                <a:spcPts val="0"/>
              </a:spcBef>
              <a:defRPr sz="2784"/>
            </a:pPr>
            <a:r>
              <a:t>n_gram_range </a:t>
            </a:r>
          </a:p>
          <a:p>
            <a:pPr lvl="2" marL="1060703" indent="-353568" defTabSz="1414236">
              <a:lnSpc>
                <a:spcPct val="100000"/>
              </a:lnSpc>
              <a:spcBef>
                <a:spcPts val="0"/>
              </a:spcBef>
              <a:defRPr sz="2784"/>
            </a:pPr>
            <a:r>
              <a:t>min_df: minimum document frequency (</a:t>
            </a:r>
            <a:r>
              <a:t>keep words appearing ≥ n documents</a:t>
            </a:r>
            <a:r>
              <a:rPr b="1"/>
              <a:t>)</a:t>
            </a:r>
          </a:p>
          <a:p>
            <a:pPr lvl="2" marL="1060703" indent="-353568" defTabSz="1414236">
              <a:lnSpc>
                <a:spcPct val="100000"/>
              </a:lnSpc>
              <a:spcBef>
                <a:spcPts val="0"/>
              </a:spcBef>
              <a:defRPr sz="2784"/>
            </a:pPr>
            <a:r>
              <a:t>max_df: maximum document frequency (</a:t>
            </a:r>
            <a:r>
              <a:t>keep words appearing ≤ n proportion of documents)</a:t>
            </a:r>
          </a:p>
          <a:p>
            <a:pPr lvl="1" marL="0" indent="265175" defTabSz="1414236">
              <a:lnSpc>
                <a:spcPct val="100000"/>
              </a:lnSpc>
              <a:spcBef>
                <a:spcPts val="500"/>
              </a:spcBef>
              <a:buSzTx/>
              <a:buNone/>
              <a:defRPr b="1" sz="2784"/>
            </a:pPr>
            <a:r>
              <a:t>Logistic Regression (per layer):</a:t>
            </a:r>
          </a:p>
          <a:p>
            <a:pPr lvl="2" marL="1060703" indent="-353568" defTabSz="1414236">
              <a:lnSpc>
                <a:spcPct val="100000"/>
              </a:lnSpc>
              <a:spcBef>
                <a:spcPts val="0"/>
              </a:spcBef>
              <a:defRPr sz="2784"/>
            </a:pPr>
            <a:r>
              <a:t>C: regularization strength</a:t>
            </a:r>
          </a:p>
          <a:p>
            <a:pPr lvl="1" marL="0" indent="265175" defTabSz="1414236">
              <a:lnSpc>
                <a:spcPct val="100000"/>
              </a:lnSpc>
              <a:spcBef>
                <a:spcPts val="500"/>
              </a:spcBef>
              <a:buSzTx/>
              <a:buNone/>
              <a:defRPr b="1" sz="2784"/>
            </a:pPr>
            <a:r>
              <a:t>Fixed Hyperparams:</a:t>
            </a:r>
          </a:p>
          <a:p>
            <a:pPr lvl="2" marL="1060703" indent="-353568" defTabSz="1414236">
              <a:lnSpc>
                <a:spcPct val="100000"/>
              </a:lnSpc>
              <a:spcBef>
                <a:spcPts val="0"/>
              </a:spcBef>
              <a:defRPr sz="2784"/>
            </a:pPr>
            <a:r>
              <a:t>class_weight = None (balanced training sample)</a:t>
            </a:r>
          </a:p>
          <a:p>
            <a:pPr marL="0" indent="0" defTabSz="1414236">
              <a:lnSpc>
                <a:spcPct val="100000"/>
              </a:lnSpc>
              <a:spcBef>
                <a:spcPts val="2600"/>
              </a:spcBef>
              <a:buSzTx/>
              <a:buNone/>
              <a:defRPr b="1" sz="3190"/>
            </a:pPr>
            <a:r>
              <a:t>Best Hyperparam Combination</a:t>
            </a:r>
          </a:p>
          <a:p>
            <a:pPr lvl="1" marL="707136" indent="-353568" defTabSz="1414236">
              <a:lnSpc>
                <a:spcPct val="100000"/>
              </a:lnSpc>
              <a:spcBef>
                <a:spcPts val="0"/>
              </a:spcBef>
              <a:defRPr sz="2784"/>
            </a:pPr>
            <a:r>
              <a:t>{'C_layer1': 1.0, 'C_layer2a': 1.0, 'C_layer2b': 1.0, 'class_weight': None, </a:t>
            </a:r>
            <a:r>
              <a:rPr b="1"/>
              <a:t>'max_df': 0.9</a:t>
            </a:r>
            <a:r>
              <a:t>, </a:t>
            </a:r>
            <a:r>
              <a:rPr b="1"/>
              <a:t>'max_features': 10000</a:t>
            </a:r>
            <a:r>
              <a:t>, 'max_iter': 300, </a:t>
            </a:r>
            <a:r>
              <a:rPr b="1"/>
              <a:t>'min_df': 3</a:t>
            </a:r>
            <a:r>
              <a:t>, </a:t>
            </a:r>
            <a:r>
              <a:rPr b="1"/>
              <a:t>'ngram_range': (1, 3</a:t>
            </a:r>
            <a:r>
              <a:t>), 'penalty': 'l2', 'solver': 'lbfgs', 'sublinear_tf': True, 'use_idf': True}</a:t>
            </a:r>
          </a:p>
        </p:txBody>
      </p:sp>
      <p:pic>
        <p:nvPicPr>
          <p:cNvPr id="196" name="Screenshot 2025-12-04 at 9.26.42 PM.png" descr="Screenshot 2025-12-04 at 9.26.42 PM.png"/>
          <p:cNvPicPr>
            <a:picLocks noChangeAspect="1"/>
          </p:cNvPicPr>
          <p:nvPr/>
        </p:nvPicPr>
        <p:blipFill>
          <a:blip r:embed="rId2">
            <a:extLst/>
          </a:blip>
          <a:stretch>
            <a:fillRect/>
          </a:stretch>
        </p:blipFill>
        <p:spPr>
          <a:xfrm>
            <a:off x="16302598" y="2095406"/>
            <a:ext cx="5860948" cy="6062278"/>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Final Results"/>
          <p:cNvSpPr txBox="1"/>
          <p:nvPr>
            <p:ph type="title"/>
          </p:nvPr>
        </p:nvSpPr>
        <p:spPr>
          <a:prstGeom prst="rect">
            <a:avLst/>
          </a:prstGeom>
        </p:spPr>
        <p:txBody>
          <a:bodyPr/>
          <a:lstStyle/>
          <a:p>
            <a:pPr/>
            <a:r>
              <a:t>Final Results</a:t>
            </a:r>
          </a:p>
        </p:txBody>
      </p:sp>
      <p:graphicFrame>
        <p:nvGraphicFramePr>
          <p:cNvPr id="199" name="Table 1"/>
          <p:cNvGraphicFramePr/>
          <p:nvPr/>
        </p:nvGraphicFramePr>
        <p:xfrm>
          <a:off x="988799" y="3309520"/>
          <a:ext cx="22419102" cy="9215262"/>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4481280"/>
                <a:gridCol w="4481280"/>
                <a:gridCol w="4481280"/>
                <a:gridCol w="4481280"/>
                <a:gridCol w="4481280"/>
              </a:tblGrid>
              <a:tr h="1840512">
                <a:tc>
                  <a:txBody>
                    <a:bodyPr/>
                    <a:lstStyle/>
                    <a:p>
                      <a:pPr defTabSz="914400">
                        <a:tabLst>
                          <a:tab pos="1663700" algn="l"/>
                        </a:tabLst>
                        <a:defRPr b="0"/>
                      </a:pPr>
                      <a:r>
                        <a:rPr b="1" sz="3000"/>
                        <a:t>Model</a:t>
                      </a:r>
                    </a:p>
                  </a:txBody>
                  <a:tcPr marL="50800" marR="50800" marT="50800" marB="50800" anchor="ctr" anchorCtr="0" horzOverflow="overflow"/>
                </a:tc>
                <a:tc>
                  <a:txBody>
                    <a:bodyPr/>
                    <a:lstStyle/>
                    <a:p>
                      <a:pPr defTabSz="914400">
                        <a:tabLst>
                          <a:tab pos="1663700" algn="l"/>
                        </a:tabLst>
                        <a:defRPr sz="3000"/>
                      </a:pPr>
                      <a:r>
                        <a:t>Accuracy </a:t>
                      </a:r>
                      <a:r>
                        <a:rPr b="0"/>
                        <a:t>(%)</a:t>
                      </a:r>
                      <a:endParaRPr b="0"/>
                    </a:p>
                    <a:p>
                      <a:pPr defTabSz="914400">
                        <a:tabLst>
                          <a:tab pos="1663700" algn="l"/>
                        </a:tabLst>
                        <a:defRPr sz="3000"/>
                      </a:pPr>
                      <a:r>
                        <a:rPr b="0"/>
                        <a:t>Unequal Class Sampling</a:t>
                      </a:r>
                    </a:p>
                  </a:txBody>
                  <a:tcPr marL="50800" marR="50800" marT="50800" marB="50800" anchor="ctr" anchorCtr="0" horzOverflow="overflow">
                    <a:lnB w="63500">
                      <a:solidFill>
                        <a:srgbClr val="000000"/>
                      </a:solidFill>
                      <a:miter lim="400000"/>
                    </a:lnB>
                  </a:tcPr>
                </a:tc>
                <a:tc>
                  <a:txBody>
                    <a:bodyPr/>
                    <a:lstStyle/>
                    <a:p>
                      <a:pPr defTabSz="914400">
                        <a:tabLst>
                          <a:tab pos="1663700" algn="l"/>
                        </a:tabLst>
                        <a:defRPr sz="3000"/>
                      </a:pPr>
                      <a:r>
                        <a:rPr b="0"/>
                        <a:t>(Macro) </a:t>
                      </a:r>
                      <a:r>
                        <a:t>F1-Score</a:t>
                      </a:r>
                    </a:p>
                    <a:p>
                      <a:pPr defTabSz="914400">
                        <a:tabLst>
                          <a:tab pos="1663700" algn="l"/>
                        </a:tabLst>
                        <a:defRPr b="0" sz="3000"/>
                      </a:pPr>
                      <a:r>
                        <a:t>Unequal Class Sampling</a:t>
                      </a:r>
                    </a:p>
                  </a:txBody>
                  <a:tcPr marL="50800" marR="50800" marT="50800" marB="50800" anchor="ctr" anchorCtr="0" horzOverflow="overflow">
                    <a:lnB w="63500">
                      <a:solidFill>
                        <a:srgbClr val="000000"/>
                      </a:solidFill>
                      <a:miter lim="400000"/>
                    </a:lnB>
                  </a:tcPr>
                </a:tc>
                <a:tc>
                  <a:txBody>
                    <a:bodyPr/>
                    <a:lstStyle/>
                    <a:p>
                      <a:pPr defTabSz="914400">
                        <a:tabLst>
                          <a:tab pos="1663700" algn="l"/>
                        </a:tabLst>
                        <a:defRPr sz="3000"/>
                      </a:pPr>
                      <a:r>
                        <a:t>Accuracy </a:t>
                      </a:r>
                      <a:r>
                        <a:rPr b="0"/>
                        <a:t>(%)</a:t>
                      </a:r>
                      <a:endParaRPr b="0"/>
                    </a:p>
                    <a:p>
                      <a:pPr defTabSz="914400">
                        <a:tabLst>
                          <a:tab pos="1663700" algn="l"/>
                        </a:tabLst>
                        <a:defRPr sz="3000"/>
                      </a:pPr>
                      <a:r>
                        <a:rPr b="0"/>
                        <a:t>Equal Class Sampling</a:t>
                      </a:r>
                    </a:p>
                  </a:txBody>
                  <a:tcPr marL="50800" marR="50800" marT="50800" marB="50800" anchor="ctr" anchorCtr="0" horzOverflow="overflow">
                    <a:lnB w="63500">
                      <a:solidFill>
                        <a:srgbClr val="000000"/>
                      </a:solidFill>
                      <a:miter lim="400000"/>
                    </a:lnB>
                  </a:tcPr>
                </a:tc>
                <a:tc>
                  <a:txBody>
                    <a:bodyPr/>
                    <a:lstStyle/>
                    <a:p>
                      <a:pPr defTabSz="914400">
                        <a:tabLst>
                          <a:tab pos="1663700" algn="l"/>
                        </a:tabLst>
                        <a:defRPr sz="3000"/>
                      </a:pPr>
                      <a:r>
                        <a:rPr b="0"/>
                        <a:t>(Macro) </a:t>
                      </a:r>
                      <a:r>
                        <a:t>F1-Score</a:t>
                      </a:r>
                    </a:p>
                    <a:p>
                      <a:pPr defTabSz="914400">
                        <a:tabLst>
                          <a:tab pos="1663700" algn="l"/>
                        </a:tabLst>
                        <a:defRPr b="0" sz="3000"/>
                      </a:pPr>
                      <a:r>
                        <a:t>Equal Class Sampling</a:t>
                      </a:r>
                    </a:p>
                  </a:txBody>
                  <a:tcPr marL="50800" marR="50800" marT="50800" marB="50800" anchor="ctr" anchorCtr="0" horzOverflow="overflow">
                    <a:lnB w="63500">
                      <a:solidFill>
                        <a:srgbClr val="000000"/>
                      </a:solidFill>
                      <a:miter lim="400000"/>
                    </a:lnB>
                  </a:tcPr>
                </a:tc>
              </a:tr>
              <a:tr h="1840512">
                <a:tc>
                  <a:txBody>
                    <a:bodyPr/>
                    <a:lstStyle/>
                    <a:p>
                      <a:pPr defTabSz="914400">
                        <a:defRPr b="1" sz="3000"/>
                      </a:pPr>
                      <a:r>
                        <a:t>Logistic Regression </a:t>
                      </a:r>
                      <a:r>
                        <a:rPr b="0"/>
                        <a:t>(best baseline)</a:t>
                      </a:r>
                    </a:p>
                  </a:txBody>
                  <a:tcPr marL="50800" marR="50800" marT="50800" marB="50800" anchor="ctr" anchorCtr="0" horzOverflow="overflow">
                    <a:lnR w="63500">
                      <a:solidFill>
                        <a:srgbClr val="000000"/>
                      </a:solidFill>
                      <a:miter lim="400000"/>
                    </a:lnR>
                  </a:tcPr>
                </a:tc>
                <a:tc>
                  <a:txBody>
                    <a:bodyPr/>
                    <a:lstStyle/>
                    <a:p>
                      <a:pPr defTabSz="914400"/>
                      <a:r>
                        <a:rPr sz="3000"/>
                        <a:t>67.66</a:t>
                      </a:r>
                    </a:p>
                  </a:txBody>
                  <a:tcPr marL="50800" marR="50800" marT="50800" marB="50800" anchor="ctr" anchorCtr="0" horzOverflow="overflow">
                    <a:lnL w="63500">
                      <a:solidFill>
                        <a:srgbClr val="000000"/>
                      </a:solidFill>
                      <a:miter lim="400000"/>
                    </a:lnL>
                    <a:lnT w="63500">
                      <a:solidFill>
                        <a:srgbClr val="000000"/>
                      </a:solidFill>
                      <a:miter lim="400000"/>
                    </a:lnT>
                  </a:tcPr>
                </a:tc>
                <a:tc>
                  <a:txBody>
                    <a:bodyPr/>
                    <a:lstStyle/>
                    <a:p>
                      <a:pPr defTabSz="914400"/>
                      <a:r>
                        <a:rPr sz="3000"/>
                        <a:t>0.5969</a:t>
                      </a:r>
                    </a:p>
                  </a:txBody>
                  <a:tcPr marL="50800" marR="50800" marT="50800" marB="50800" anchor="ctr" anchorCtr="0" horzOverflow="overflow">
                    <a:lnR w="50800" cap="rnd">
                      <a:solidFill>
                        <a:srgbClr val="000000"/>
                      </a:solidFill>
                      <a:custDash>
                        <a:ds d="100000" sp="200000"/>
                      </a:custDash>
                    </a:lnR>
                    <a:lnT w="63500">
                      <a:solidFill>
                        <a:srgbClr val="000000"/>
                      </a:solidFill>
                      <a:miter lim="400000"/>
                    </a:lnT>
                  </a:tcPr>
                </a:tc>
                <a:tc>
                  <a:txBody>
                    <a:bodyPr/>
                    <a:lstStyle/>
                    <a:p>
                      <a:pPr defTabSz="914400"/>
                      <a:r>
                        <a:rPr sz="3000"/>
                        <a:t>62.12</a:t>
                      </a:r>
                    </a:p>
                  </a:txBody>
                  <a:tcPr marL="50800" marR="50800" marT="50800" marB="50800" anchor="ctr" anchorCtr="0" horzOverflow="overflow">
                    <a:lnL w="50800" cap="rnd">
                      <a:solidFill>
                        <a:srgbClr val="000000"/>
                      </a:solidFill>
                      <a:custDash>
                        <a:ds d="100000" sp="200000"/>
                      </a:custDash>
                    </a:lnL>
                    <a:lnT w="63500">
                      <a:solidFill>
                        <a:srgbClr val="000000"/>
                      </a:solidFill>
                      <a:miter lim="400000"/>
                    </a:lnT>
                  </a:tcPr>
                </a:tc>
                <a:tc>
                  <a:txBody>
                    <a:bodyPr/>
                    <a:lstStyle/>
                    <a:p>
                      <a:pPr defTabSz="914400"/>
                      <a:r>
                        <a:rPr sz="3000"/>
                        <a:t>0.6190</a:t>
                      </a:r>
                    </a:p>
                  </a:txBody>
                  <a:tcPr marL="50800" marR="50800" marT="50800" marB="50800" anchor="ctr" anchorCtr="0" horzOverflow="overflow">
                    <a:lnT w="63500">
                      <a:solidFill>
                        <a:srgbClr val="000000"/>
                      </a:solidFill>
                      <a:miter lim="400000"/>
                    </a:lnT>
                  </a:tcPr>
                </a:tc>
              </a:tr>
              <a:tr h="1840512">
                <a:tc>
                  <a:txBody>
                    <a:bodyPr/>
                    <a:lstStyle/>
                    <a:p>
                      <a:pPr defTabSz="914400">
                        <a:defRPr b="1" sz="3000"/>
                      </a:pPr>
                      <a:r>
                        <a:t>Layered Classifier </a:t>
                      </a:r>
                      <a:r>
                        <a:rPr b="0"/>
                        <a:t>(default hyperparams) </a:t>
                      </a:r>
                    </a:p>
                  </a:txBody>
                  <a:tcPr marL="50800" marR="50800" marT="50800" marB="50800" anchor="ctr" anchorCtr="0" horzOverflow="overflow">
                    <a:lnR w="63500">
                      <a:solidFill>
                        <a:srgbClr val="000000"/>
                      </a:solidFill>
                      <a:miter lim="400000"/>
                    </a:lnR>
                  </a:tcPr>
                </a:tc>
                <a:tc>
                  <a:txBody>
                    <a:bodyPr/>
                    <a:lstStyle/>
                    <a:p>
                      <a:pPr defTabSz="914400"/>
                      <a:r>
                        <a:rPr sz="3000"/>
                        <a:t>65.55</a:t>
                      </a:r>
                    </a:p>
                  </a:txBody>
                  <a:tcPr marL="50800" marR="50800" marT="50800" marB="50800" anchor="ctr" anchorCtr="0" horzOverflow="overflow">
                    <a:lnL w="63500">
                      <a:solidFill>
                        <a:srgbClr val="000000"/>
                      </a:solidFill>
                      <a:miter lim="400000"/>
                    </a:lnL>
                  </a:tcPr>
                </a:tc>
                <a:tc>
                  <a:txBody>
                    <a:bodyPr/>
                    <a:lstStyle/>
                    <a:p>
                      <a:pPr defTabSz="914400"/>
                      <a:r>
                        <a:rPr sz="3000"/>
                        <a:t>0.6050</a:t>
                      </a:r>
                    </a:p>
                  </a:txBody>
                  <a:tcPr marL="50800" marR="50800" marT="50800" marB="50800" anchor="ctr" anchorCtr="0" horzOverflow="overflow">
                    <a:lnR w="50800" cap="rnd">
                      <a:solidFill>
                        <a:srgbClr val="000000"/>
                      </a:solidFill>
                      <a:custDash>
                        <a:ds d="100000" sp="200000"/>
                      </a:custDash>
                    </a:lnR>
                  </a:tcPr>
                </a:tc>
                <a:tc>
                  <a:txBody>
                    <a:bodyPr/>
                    <a:lstStyle/>
                    <a:p>
                      <a:pPr defTabSz="914400"/>
                      <a:r>
                        <a:rPr sz="3000"/>
                        <a:t>65.28</a:t>
                      </a:r>
                    </a:p>
                  </a:txBody>
                  <a:tcPr marL="50800" marR="50800" marT="50800" marB="50800" anchor="ctr" anchorCtr="0" horzOverflow="overflow">
                    <a:lnL w="50800" cap="rnd">
                      <a:solidFill>
                        <a:srgbClr val="000000"/>
                      </a:solidFill>
                      <a:custDash>
                        <a:ds d="100000" sp="200000"/>
                      </a:custDash>
                    </a:lnL>
                  </a:tcPr>
                </a:tc>
                <a:tc>
                  <a:txBody>
                    <a:bodyPr/>
                    <a:lstStyle/>
                    <a:p>
                      <a:pPr defTabSz="914400"/>
                      <a:r>
                        <a:rPr sz="3000"/>
                        <a:t>0.6022</a:t>
                      </a:r>
                    </a:p>
                  </a:txBody>
                  <a:tcPr marL="50800" marR="50800" marT="50800" marB="50800" anchor="ctr" anchorCtr="0" horzOverflow="overflow"/>
                </a:tc>
              </a:tr>
              <a:tr h="1840512">
                <a:tc>
                  <a:txBody>
                    <a:bodyPr/>
                    <a:lstStyle/>
                    <a:p>
                      <a:pPr defTabSz="914400">
                        <a:defRPr b="1" sz="3000"/>
                      </a:pPr>
                      <a:r>
                        <a:t>Layered Classifier </a:t>
                      </a:r>
                      <a:r>
                        <a:rPr b="0"/>
                        <a:t>(after hyperparam grid search)</a:t>
                      </a:r>
                      <a:r>
                        <a:t> </a:t>
                      </a:r>
                    </a:p>
                  </a:txBody>
                  <a:tcPr marL="50800" marR="50800" marT="50800" marB="50800" anchor="ctr" anchorCtr="0" horzOverflow="overflow">
                    <a:lnR w="63500">
                      <a:solidFill>
                        <a:srgbClr val="000000"/>
                      </a:solidFill>
                      <a:miter lim="400000"/>
                    </a:lnR>
                  </a:tcPr>
                </a:tc>
                <a:tc>
                  <a:txBody>
                    <a:bodyPr/>
                    <a:lstStyle/>
                    <a:p>
                      <a:pPr defTabSz="914400"/>
                      <a:r>
                        <a:rPr b="1" sz="3000"/>
                        <a:t>71.79</a:t>
                      </a:r>
                    </a:p>
                  </a:txBody>
                  <a:tcPr marL="50800" marR="50800" marT="50800" marB="50800" anchor="ctr" anchorCtr="0" horzOverflow="overflow">
                    <a:lnL w="63500">
                      <a:solidFill>
                        <a:srgbClr val="000000"/>
                      </a:solidFill>
                      <a:miter lim="400000"/>
                    </a:lnL>
                    <a:lnB w="38100">
                      <a:solidFill>
                        <a:srgbClr val="000000"/>
                      </a:solidFill>
                      <a:custDash>
                        <a:ds d="200000" sp="200000"/>
                      </a:custDash>
                      <a:miter lim="400000"/>
                    </a:lnB>
                  </a:tcPr>
                </a:tc>
                <a:tc>
                  <a:txBody>
                    <a:bodyPr/>
                    <a:lstStyle/>
                    <a:p>
                      <a:pPr defTabSz="914400"/>
                      <a:r>
                        <a:rPr b="1" sz="3000"/>
                        <a:t>0.6551</a:t>
                      </a:r>
                    </a:p>
                  </a:txBody>
                  <a:tcPr marL="50800" marR="50800" marT="50800" marB="50800" anchor="ctr" anchorCtr="0" horzOverflow="overflow">
                    <a:lnR w="50800" cap="rnd">
                      <a:solidFill>
                        <a:srgbClr val="000000"/>
                      </a:solidFill>
                      <a:custDash>
                        <a:ds d="100000" sp="200000"/>
                      </a:custDash>
                    </a:lnR>
                    <a:lnB w="38100">
                      <a:solidFill>
                        <a:srgbClr val="000000"/>
                      </a:solidFill>
                      <a:custDash>
                        <a:ds d="200000" sp="200000"/>
                      </a:custDash>
                      <a:miter lim="400000"/>
                    </a:lnB>
                  </a:tcPr>
                </a:tc>
                <a:tc>
                  <a:txBody>
                    <a:bodyPr/>
                    <a:lstStyle/>
                    <a:p>
                      <a:pPr defTabSz="914400"/>
                      <a:r>
                        <a:rPr b="1" sz="3000"/>
                        <a:t>66.71</a:t>
                      </a:r>
                    </a:p>
                  </a:txBody>
                  <a:tcPr marL="50800" marR="50800" marT="50800" marB="50800" anchor="ctr" anchorCtr="0" horzOverflow="overflow">
                    <a:lnL w="50800" cap="rnd">
                      <a:solidFill>
                        <a:srgbClr val="000000"/>
                      </a:solidFill>
                      <a:custDash>
                        <a:ds d="100000" sp="200000"/>
                      </a:custDash>
                    </a:lnL>
                    <a:lnB w="38100">
                      <a:solidFill>
                        <a:srgbClr val="000000"/>
                      </a:solidFill>
                      <a:custDash>
                        <a:ds d="200000" sp="200000"/>
                      </a:custDash>
                      <a:miter lim="400000"/>
                    </a:lnB>
                  </a:tcPr>
                </a:tc>
                <a:tc>
                  <a:txBody>
                    <a:bodyPr/>
                    <a:lstStyle/>
                    <a:p>
                      <a:pPr defTabSz="914400"/>
                      <a:r>
                        <a:rPr b="1" sz="3000"/>
                        <a:t>0.6656</a:t>
                      </a:r>
                    </a:p>
                  </a:txBody>
                  <a:tcPr marL="50800" marR="50800" marT="50800" marB="50800" anchor="ctr" anchorCtr="0" horzOverflow="overflow">
                    <a:lnB w="38100">
                      <a:solidFill>
                        <a:srgbClr val="000000"/>
                      </a:solidFill>
                      <a:custDash>
                        <a:ds d="200000" sp="200000"/>
                      </a:custDash>
                      <a:miter lim="400000"/>
                    </a:lnB>
                  </a:tcPr>
                </a:tc>
              </a:tr>
              <a:tr h="1840512">
                <a:tc>
                  <a:txBody>
                    <a:bodyPr/>
                    <a:lstStyle/>
                    <a:p>
                      <a:pPr defTabSz="914400"/>
                      <a:r>
                        <a:rPr b="1" sz="3000"/>
                        <a:t>ChatGPT 5.0 Nano*</a:t>
                      </a:r>
                    </a:p>
                  </a:txBody>
                  <a:tcPr marL="50800" marR="50800" marT="50800" marB="50800" anchor="ctr" anchorCtr="0" horzOverflow="overflow">
                    <a:lnR w="63500">
                      <a:solidFill>
                        <a:srgbClr val="000000"/>
                      </a:solidFill>
                      <a:miter lim="400000"/>
                    </a:lnR>
                  </a:tcPr>
                </a:tc>
                <a:tc>
                  <a:txBody>
                    <a:bodyPr/>
                    <a:lstStyle/>
                    <a:p>
                      <a:pPr defTabSz="914400"/>
                      <a:r>
                        <a:rPr b="1" sz="3000"/>
                        <a:t>71.86</a:t>
                      </a:r>
                    </a:p>
                  </a:txBody>
                  <a:tcPr marL="50800" marR="50800" marT="50800" marB="50800" anchor="ctr" anchorCtr="0" horzOverflow="overflow">
                    <a:lnL w="63500">
                      <a:solidFill>
                        <a:srgbClr val="000000"/>
                      </a:solidFill>
                      <a:miter lim="400000"/>
                    </a:lnL>
                    <a:lnT w="38100">
                      <a:solidFill>
                        <a:srgbClr val="000000"/>
                      </a:solidFill>
                      <a:custDash>
                        <a:ds d="200000" sp="200000"/>
                      </a:custDash>
                      <a:miter lim="400000"/>
                    </a:lnT>
                  </a:tcPr>
                </a:tc>
                <a:tc>
                  <a:txBody>
                    <a:bodyPr/>
                    <a:lstStyle/>
                    <a:p>
                      <a:pPr defTabSz="914400"/>
                      <a:r>
                        <a:rPr b="1" sz="3000"/>
                        <a:t>0.6500</a:t>
                      </a:r>
                    </a:p>
                  </a:txBody>
                  <a:tcPr marL="50800" marR="50800" marT="50800" marB="50800" anchor="ctr" anchorCtr="0" horzOverflow="overflow">
                    <a:lnR w="50800" cap="rnd">
                      <a:solidFill>
                        <a:srgbClr val="000000"/>
                      </a:solidFill>
                      <a:custDash>
                        <a:ds d="100000" sp="200000"/>
                      </a:custDash>
                    </a:lnR>
                    <a:lnT w="38100">
                      <a:solidFill>
                        <a:srgbClr val="000000"/>
                      </a:solidFill>
                      <a:custDash>
                        <a:ds d="200000" sp="200000"/>
                      </a:custDash>
                      <a:miter lim="400000"/>
                    </a:lnT>
                  </a:tcPr>
                </a:tc>
                <a:tc>
                  <a:txBody>
                    <a:bodyPr/>
                    <a:lstStyle/>
                    <a:p>
                      <a:pPr defTabSz="914400"/>
                      <a:r>
                        <a:rPr sz="3000"/>
                        <a:t>64.28</a:t>
                      </a:r>
                    </a:p>
                  </a:txBody>
                  <a:tcPr marL="50800" marR="50800" marT="50800" marB="50800" anchor="ctr" anchorCtr="0" horzOverflow="overflow">
                    <a:lnL w="50800" cap="rnd">
                      <a:solidFill>
                        <a:srgbClr val="000000"/>
                      </a:solidFill>
                      <a:custDash>
                        <a:ds d="100000" sp="200000"/>
                      </a:custDash>
                    </a:lnL>
                    <a:lnT w="38100">
                      <a:solidFill>
                        <a:srgbClr val="000000"/>
                      </a:solidFill>
                      <a:custDash>
                        <a:ds d="200000" sp="200000"/>
                      </a:custDash>
                      <a:miter lim="400000"/>
                    </a:lnT>
                  </a:tcPr>
                </a:tc>
                <a:tc>
                  <a:txBody>
                    <a:bodyPr/>
                    <a:lstStyle/>
                    <a:p>
                      <a:pPr defTabSz="914400"/>
                      <a:r>
                        <a:rPr sz="3000"/>
                        <a:t>0.6322</a:t>
                      </a:r>
                    </a:p>
                  </a:txBody>
                  <a:tcPr marL="50800" marR="50800" marT="50800" marB="50800" anchor="ctr" anchorCtr="0" horzOverflow="overflow">
                    <a:lnT w="38100">
                      <a:solidFill>
                        <a:srgbClr val="000000"/>
                      </a:solidFill>
                      <a:custDash>
                        <a:ds d="200000" sp="200000"/>
                      </a:custDash>
                      <a:miter lim="400000"/>
                    </a:lnT>
                  </a:tcPr>
                </a:tc>
              </a:tr>
            </a:tbl>
          </a:graphicData>
        </a:graphic>
      </p:graphicFrame>
      <p:sp>
        <p:nvSpPr>
          <p:cNvPr id="200" name="* only run on 5,000 samples (cost saving measure)"/>
          <p:cNvSpPr txBox="1"/>
          <p:nvPr/>
        </p:nvSpPr>
        <p:spPr>
          <a:xfrm>
            <a:off x="966111" y="12712438"/>
            <a:ext cx="8390002" cy="53726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2900"/>
            </a:pPr>
            <a:r>
              <a:rPr b="1"/>
              <a:t>*</a:t>
            </a:r>
            <a:r>
              <a:t> only run on 5,000 samples (cost saving measure)</a:t>
            </a:r>
          </a:p>
        </p:txBody>
      </p:sp>
      <p:sp>
        <p:nvSpPr>
          <p:cNvPr id="201" name="Training set: 400,000 reviews | Validation: 50,000 | Test: 50,000"/>
          <p:cNvSpPr txBox="1"/>
          <p:nvPr/>
        </p:nvSpPr>
        <p:spPr>
          <a:xfrm>
            <a:off x="1202212" y="2535986"/>
            <a:ext cx="11083570" cy="57317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100"/>
            </a:lvl1pPr>
          </a:lstStyle>
          <a:p>
            <a:pPr/>
            <a:r>
              <a:t>Training set: 400,000 reviews | Validation: 50,000 | Test: 50,000</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Error Analysis"/>
          <p:cNvSpPr txBox="1"/>
          <p:nvPr>
            <p:ph type="title"/>
          </p:nvPr>
        </p:nvSpPr>
        <p:spPr>
          <a:prstGeom prst="rect">
            <a:avLst/>
          </a:prstGeom>
        </p:spPr>
        <p:txBody>
          <a:bodyPr/>
          <a:lstStyle/>
          <a:p>
            <a:pPr/>
            <a:r>
              <a:t>Error Analysis</a:t>
            </a:r>
          </a:p>
        </p:txBody>
      </p:sp>
      <p:pic>
        <p:nvPicPr>
          <p:cNvPr id="204" name="pasted-movie.png" descr="pasted-movie.png"/>
          <p:cNvPicPr>
            <a:picLocks noChangeAspect="1"/>
          </p:cNvPicPr>
          <p:nvPr/>
        </p:nvPicPr>
        <p:blipFill>
          <a:blip r:embed="rId2">
            <a:extLst/>
          </a:blip>
          <a:srcRect l="48919" t="0" r="0" b="0"/>
          <a:stretch>
            <a:fillRect/>
          </a:stretch>
        </p:blipFill>
        <p:spPr>
          <a:xfrm>
            <a:off x="12235789" y="4440560"/>
            <a:ext cx="11763180" cy="8635742"/>
          </a:xfrm>
          <a:prstGeom prst="rect">
            <a:avLst/>
          </a:prstGeom>
          <a:ln w="12700">
            <a:miter lim="400000"/>
          </a:ln>
        </p:spPr>
      </p:pic>
      <p:pic>
        <p:nvPicPr>
          <p:cNvPr id="205" name="Image" descr="Image"/>
          <p:cNvPicPr>
            <a:picLocks noChangeAspect="1"/>
          </p:cNvPicPr>
          <p:nvPr/>
        </p:nvPicPr>
        <p:blipFill>
          <a:blip r:embed="rId3">
            <a:extLst/>
          </a:blip>
          <a:srcRect l="50174" t="0" r="0" b="0"/>
          <a:stretch>
            <a:fillRect/>
          </a:stretch>
        </p:blipFill>
        <p:spPr>
          <a:xfrm>
            <a:off x="603380" y="4538390"/>
            <a:ext cx="11054604" cy="8439805"/>
          </a:xfrm>
          <a:prstGeom prst="rect">
            <a:avLst/>
          </a:prstGeom>
          <a:ln w="12700">
            <a:miter lim="400000"/>
          </a:ln>
        </p:spPr>
      </p:pic>
      <p:sp>
        <p:nvSpPr>
          <p:cNvPr id="206" name="Layered Classifier"/>
          <p:cNvSpPr txBox="1"/>
          <p:nvPr/>
        </p:nvSpPr>
        <p:spPr>
          <a:xfrm>
            <a:off x="3160431" y="3115267"/>
            <a:ext cx="5340402" cy="82051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vl1pPr>
          </a:lstStyle>
          <a:p>
            <a:pPr/>
            <a:r>
              <a:t>Layered Classifier</a:t>
            </a:r>
          </a:p>
        </p:txBody>
      </p:sp>
      <p:sp>
        <p:nvSpPr>
          <p:cNvPr id="207" name="ChatGPT"/>
          <p:cNvSpPr txBox="1"/>
          <p:nvPr/>
        </p:nvSpPr>
        <p:spPr>
          <a:xfrm>
            <a:off x="16289065" y="3115267"/>
            <a:ext cx="2733752" cy="82051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vl1pPr>
          </a:lstStyle>
          <a:p>
            <a:pPr/>
            <a:r>
              <a:t>ChatGPT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Error Analysis"/>
          <p:cNvSpPr txBox="1"/>
          <p:nvPr>
            <p:ph type="title"/>
          </p:nvPr>
        </p:nvSpPr>
        <p:spPr>
          <a:xfrm>
            <a:off x="797372" y="1077359"/>
            <a:ext cx="9744801" cy="1433164"/>
          </a:xfrm>
          <a:prstGeom prst="rect">
            <a:avLst/>
          </a:prstGeom>
        </p:spPr>
        <p:txBody>
          <a:bodyPr/>
          <a:lstStyle/>
          <a:p>
            <a:pPr/>
            <a:r>
              <a:t>Error Analysis</a:t>
            </a:r>
          </a:p>
        </p:txBody>
      </p:sp>
      <p:sp>
        <p:nvSpPr>
          <p:cNvPr id="210" name="Examples"/>
          <p:cNvSpPr txBox="1"/>
          <p:nvPr>
            <p:ph type="body" idx="21"/>
          </p:nvPr>
        </p:nvSpPr>
        <p:spPr>
          <a:xfrm>
            <a:off x="797372" y="2355185"/>
            <a:ext cx="8363248" cy="934780"/>
          </a:xfrm>
          <a:prstGeom prst="rect">
            <a:avLst/>
          </a:prstGeom>
          <a:extLst>
            <a:ext uri="{C572A759-6A51-4108-AA02-DFA0A04FC94B}">
              <ma14:wrappingTextBoxFlag xmlns:ma14="http://schemas.microsoft.com/office/mac/drawingml/2011/main" val="1"/>
            </a:ext>
          </a:extLst>
        </p:spPr>
        <p:txBody>
          <a:bodyPr/>
          <a:lstStyle/>
          <a:p>
            <a:pPr/>
            <a:r>
              <a:t>Examples</a:t>
            </a:r>
          </a:p>
        </p:txBody>
      </p:sp>
      <p:sp>
        <p:nvSpPr>
          <p:cNvPr id="211" name="What a treat this Japanese-all-you-can-eat-sushi-bar was.…"/>
          <p:cNvSpPr txBox="1"/>
          <p:nvPr/>
        </p:nvSpPr>
        <p:spPr>
          <a:xfrm>
            <a:off x="8737170" y="726339"/>
            <a:ext cx="7348354" cy="122633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000"/>
            </a:pPr>
            <a:r>
              <a:t>What a treat this Japanese-all-you-can-eat-sushi-bar was.</a:t>
            </a:r>
          </a:p>
          <a:p>
            <a:pPr>
              <a:defRPr sz="3000"/>
            </a:pPr>
            <a:r>
              <a:t>A friend told me that the sushi was good in Reno, but I didn't know that Reno sushi could get that good, especially since this place is no where near any form of water. I guess such modern advancements as refrigeration really come in helpful here.</a:t>
            </a:r>
          </a:p>
          <a:p>
            <a:pPr>
              <a:defRPr sz="3000"/>
            </a:pPr>
            <a:r>
              <a:t>Either way, any dish that I ordered, you could tell that the chefs put that much extra effort to make the dish even better.</a:t>
            </a:r>
          </a:p>
          <a:p>
            <a:pPr>
              <a:defRPr sz="3000"/>
            </a:pPr>
            <a:r>
              <a:t>If you're curious why I docked it 1 star, it's because it's the only place I've visited in Reno without a slot machine.  I went into the night thinking about how nice it would be to eat sushi and gamble, but my dreams came up real short. Thanks Sushi Pier, but NO THANKS.</a:t>
            </a:r>
          </a:p>
          <a:p>
            <a:pPr>
              <a:defRPr sz="3000"/>
            </a:pPr>
            <a:r>
              <a:rPr b="1"/>
              <a:t>ChatGPT Prediction:</a:t>
            </a:r>
          </a:p>
          <a:p>
            <a:pPr>
              <a:defRPr sz="3000"/>
            </a:pPr>
            <a:r>
              <a:rPr b="1"/>
              <a:t>Layered Prediction:</a:t>
            </a:r>
            <a:r>
              <a:t> </a:t>
            </a:r>
          </a:p>
          <a:p>
            <a:pPr>
              <a:defRPr sz="3000"/>
            </a:pPr>
            <a:r>
              <a:rPr b="1"/>
              <a:t>Actual Star Rating:</a:t>
            </a:r>
          </a:p>
        </p:txBody>
      </p:sp>
      <p:sp>
        <p:nvSpPr>
          <p:cNvPr id="212" name="Had the soup and salad lunch combo. Broccoli asiago soup is super yummy!! Love the homemade chips on the side.…"/>
          <p:cNvSpPr txBox="1"/>
          <p:nvPr/>
        </p:nvSpPr>
        <p:spPr>
          <a:xfrm>
            <a:off x="16727649" y="1059623"/>
            <a:ext cx="7348354" cy="521436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500"/>
            </a:pPr>
            <a:r>
              <a:t>Had the soup and salad lunch combo. Broccoli asiago soup is super yummy!! Love the homemade chips on the side.</a:t>
            </a:r>
          </a:p>
          <a:p>
            <a:pPr>
              <a:defRPr sz="3500"/>
            </a:pPr>
            <a:r>
              <a:rPr b="1"/>
              <a:t>ChatGPT Prediction:</a:t>
            </a:r>
            <a:r>
              <a:t> </a:t>
            </a:r>
          </a:p>
          <a:p>
            <a:pPr>
              <a:defRPr sz="3500"/>
            </a:pPr>
            <a:r>
              <a:rPr b="1"/>
              <a:t>Layered Prediction:</a:t>
            </a:r>
            <a:r>
              <a:t> </a:t>
            </a:r>
          </a:p>
          <a:p>
            <a:pPr>
              <a:defRPr sz="3500"/>
            </a:pPr>
            <a:r>
              <a:rPr b="1"/>
              <a:t>Actual Star Rating:</a:t>
            </a:r>
          </a:p>
        </p:txBody>
      </p:sp>
      <p:sp>
        <p:nvSpPr>
          <p:cNvPr id="213" name="Looked like a nice place so we thought we would try it.   Upon walking in, the strong odor of sewage hit you in the face.  We were told it was from outside. However,  there was not smell outside.   It's a shame.   Beautiful decor.  Just couldn't eat with"/>
          <p:cNvSpPr txBox="1"/>
          <p:nvPr/>
        </p:nvSpPr>
        <p:spPr>
          <a:xfrm>
            <a:off x="746692" y="4032402"/>
            <a:ext cx="7348354" cy="80336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500"/>
            </a:pPr>
            <a:r>
              <a:t>Looked like a nice place so we thought we would try it.   Upon walking in, the strong odor of sewage hit you in the face.  We were told it was from outside. However,  there was not smell outside.   It's a shame.   Beautiful decor.  Just couldn't eat with the smell of sewage all around.   Clean your drains and we may be back.</a:t>
            </a:r>
          </a:p>
          <a:p>
            <a:pPr>
              <a:defRPr sz="3500"/>
            </a:pPr>
            <a:r>
              <a:rPr b="1"/>
              <a:t>ChatGPT Prediction:</a:t>
            </a:r>
            <a:r>
              <a:t> </a:t>
            </a:r>
          </a:p>
          <a:p>
            <a:pPr>
              <a:defRPr sz="3500"/>
            </a:pPr>
            <a:r>
              <a:rPr b="1"/>
              <a:t>Layered Prediction:</a:t>
            </a:r>
          </a:p>
          <a:p>
            <a:pPr>
              <a:defRPr sz="3500"/>
            </a:pPr>
            <a:r>
              <a:rPr b="1"/>
              <a:t>Actual Star Rating:</a:t>
            </a:r>
          </a:p>
        </p:txBody>
      </p:sp>
      <p:sp>
        <p:nvSpPr>
          <p:cNvPr id="214" name="Local small town hangout. The place had a weird smell of old rags used for wiping the bar down or something. It smells musty  from mold or mildew hiding out. The food is okay.…"/>
          <p:cNvSpPr txBox="1"/>
          <p:nvPr/>
        </p:nvSpPr>
        <p:spPr>
          <a:xfrm>
            <a:off x="16727649" y="6753937"/>
            <a:ext cx="7220016" cy="61541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500"/>
            </a:pPr>
            <a:r>
              <a:t>Local small town hangout. The place had a weird smell of old rags used for wiping the bar down or something. It smells musty  from mold or mildew hiding out. The food is okay.</a:t>
            </a:r>
          </a:p>
          <a:p>
            <a:pPr>
              <a:defRPr sz="3500"/>
            </a:pPr>
            <a:r>
              <a:rPr b="1"/>
              <a:t>ChatGPT Prediction: </a:t>
            </a:r>
          </a:p>
          <a:p>
            <a:pPr>
              <a:defRPr sz="3500"/>
            </a:pPr>
            <a:r>
              <a:rPr b="1"/>
              <a:t>Layered Prediction:</a:t>
            </a:r>
            <a:r>
              <a:t> </a:t>
            </a:r>
          </a:p>
          <a:p>
            <a:pPr>
              <a:defRPr sz="3500"/>
            </a:pPr>
            <a:r>
              <a:rPr b="1"/>
              <a:t>Actual Star Rating:</a:t>
            </a:r>
            <a:r>
              <a:t> </a:t>
            </a:r>
          </a:p>
        </p:txBody>
      </p:sp>
      <p:sp>
        <p:nvSpPr>
          <p:cNvPr id="215" name="Star"/>
          <p:cNvSpPr/>
          <p:nvPr/>
        </p:nvSpPr>
        <p:spPr>
          <a:xfrm>
            <a:off x="5252151" y="9368594"/>
            <a:ext cx="545657"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16" name="Star"/>
          <p:cNvSpPr/>
          <p:nvPr/>
        </p:nvSpPr>
        <p:spPr>
          <a:xfrm>
            <a:off x="5842829" y="9368594"/>
            <a:ext cx="545657"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17" name="Star"/>
          <p:cNvSpPr/>
          <p:nvPr/>
        </p:nvSpPr>
        <p:spPr>
          <a:xfrm>
            <a:off x="6415607" y="9368594"/>
            <a:ext cx="545658"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18" name="Star"/>
          <p:cNvSpPr/>
          <p:nvPr/>
        </p:nvSpPr>
        <p:spPr>
          <a:xfrm>
            <a:off x="7006285" y="9368594"/>
            <a:ext cx="545658"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19" name="Star"/>
          <p:cNvSpPr/>
          <p:nvPr/>
        </p:nvSpPr>
        <p:spPr>
          <a:xfrm>
            <a:off x="4952124" y="11496057"/>
            <a:ext cx="545658"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20" name="Star"/>
          <p:cNvSpPr/>
          <p:nvPr/>
        </p:nvSpPr>
        <p:spPr>
          <a:xfrm>
            <a:off x="5110554" y="10432326"/>
            <a:ext cx="545658" cy="480210"/>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21" name="Star"/>
          <p:cNvSpPr/>
          <p:nvPr/>
        </p:nvSpPr>
        <p:spPr>
          <a:xfrm>
            <a:off x="5683333" y="10432326"/>
            <a:ext cx="545657" cy="480210"/>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22" name="Star"/>
          <p:cNvSpPr/>
          <p:nvPr/>
        </p:nvSpPr>
        <p:spPr>
          <a:xfrm>
            <a:off x="12679519" y="10432326"/>
            <a:ext cx="545659" cy="480210"/>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23" name="Star"/>
          <p:cNvSpPr/>
          <p:nvPr/>
        </p:nvSpPr>
        <p:spPr>
          <a:xfrm>
            <a:off x="12525244" y="11496057"/>
            <a:ext cx="545658"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24" name="Star"/>
          <p:cNvSpPr/>
          <p:nvPr/>
        </p:nvSpPr>
        <p:spPr>
          <a:xfrm>
            <a:off x="13098023" y="11496057"/>
            <a:ext cx="545658"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25" name="Star"/>
          <p:cNvSpPr/>
          <p:nvPr/>
        </p:nvSpPr>
        <p:spPr>
          <a:xfrm>
            <a:off x="13688700" y="11496057"/>
            <a:ext cx="545658"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26" name="Star"/>
          <p:cNvSpPr/>
          <p:nvPr/>
        </p:nvSpPr>
        <p:spPr>
          <a:xfrm>
            <a:off x="14261479" y="11496057"/>
            <a:ext cx="545658"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27" name="Star"/>
          <p:cNvSpPr/>
          <p:nvPr/>
        </p:nvSpPr>
        <p:spPr>
          <a:xfrm>
            <a:off x="12416144" y="12541889"/>
            <a:ext cx="545658"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28" name="Star"/>
          <p:cNvSpPr/>
          <p:nvPr/>
        </p:nvSpPr>
        <p:spPr>
          <a:xfrm>
            <a:off x="12988922" y="12541889"/>
            <a:ext cx="545659"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29" name="Star"/>
          <p:cNvSpPr/>
          <p:nvPr/>
        </p:nvSpPr>
        <p:spPr>
          <a:xfrm>
            <a:off x="13579600" y="12541889"/>
            <a:ext cx="545658"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30" name="Star"/>
          <p:cNvSpPr/>
          <p:nvPr/>
        </p:nvSpPr>
        <p:spPr>
          <a:xfrm>
            <a:off x="14152379" y="12541889"/>
            <a:ext cx="545658"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31" name="Star"/>
          <p:cNvSpPr/>
          <p:nvPr/>
        </p:nvSpPr>
        <p:spPr>
          <a:xfrm>
            <a:off x="21289950" y="3613533"/>
            <a:ext cx="545657"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32" name="Star"/>
          <p:cNvSpPr/>
          <p:nvPr/>
        </p:nvSpPr>
        <p:spPr>
          <a:xfrm>
            <a:off x="21880627" y="3613533"/>
            <a:ext cx="545657"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33" name="Star"/>
          <p:cNvSpPr/>
          <p:nvPr/>
        </p:nvSpPr>
        <p:spPr>
          <a:xfrm>
            <a:off x="22453406" y="3613533"/>
            <a:ext cx="545657"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34" name="Star"/>
          <p:cNvSpPr/>
          <p:nvPr/>
        </p:nvSpPr>
        <p:spPr>
          <a:xfrm>
            <a:off x="23044083" y="3613533"/>
            <a:ext cx="545659"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35" name="Star"/>
          <p:cNvSpPr/>
          <p:nvPr/>
        </p:nvSpPr>
        <p:spPr>
          <a:xfrm>
            <a:off x="23616862" y="3613533"/>
            <a:ext cx="545657"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36" name="Star"/>
          <p:cNvSpPr/>
          <p:nvPr/>
        </p:nvSpPr>
        <p:spPr>
          <a:xfrm>
            <a:off x="21107175" y="4622715"/>
            <a:ext cx="545657" cy="480210"/>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37" name="Star"/>
          <p:cNvSpPr/>
          <p:nvPr/>
        </p:nvSpPr>
        <p:spPr>
          <a:xfrm>
            <a:off x="21679954" y="4622715"/>
            <a:ext cx="545657" cy="480210"/>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38" name="Star"/>
          <p:cNvSpPr/>
          <p:nvPr/>
        </p:nvSpPr>
        <p:spPr>
          <a:xfrm>
            <a:off x="22270631" y="4622715"/>
            <a:ext cx="545657" cy="480210"/>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39" name="Star"/>
          <p:cNvSpPr/>
          <p:nvPr/>
        </p:nvSpPr>
        <p:spPr>
          <a:xfrm>
            <a:off x="22843410" y="4622715"/>
            <a:ext cx="545657" cy="480210"/>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40" name="Star"/>
          <p:cNvSpPr/>
          <p:nvPr/>
        </p:nvSpPr>
        <p:spPr>
          <a:xfrm>
            <a:off x="20898721" y="5707490"/>
            <a:ext cx="545657"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41" name="Star"/>
          <p:cNvSpPr/>
          <p:nvPr/>
        </p:nvSpPr>
        <p:spPr>
          <a:xfrm>
            <a:off x="21489399" y="5707490"/>
            <a:ext cx="545658"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42" name="Star"/>
          <p:cNvSpPr/>
          <p:nvPr/>
        </p:nvSpPr>
        <p:spPr>
          <a:xfrm>
            <a:off x="22062177" y="5707490"/>
            <a:ext cx="545657"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43" name="Star"/>
          <p:cNvSpPr/>
          <p:nvPr/>
        </p:nvSpPr>
        <p:spPr>
          <a:xfrm>
            <a:off x="21203009" y="10214124"/>
            <a:ext cx="545658"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44" name="Star"/>
          <p:cNvSpPr/>
          <p:nvPr/>
        </p:nvSpPr>
        <p:spPr>
          <a:xfrm>
            <a:off x="21775788" y="10214124"/>
            <a:ext cx="545658"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45" name="Star"/>
          <p:cNvSpPr/>
          <p:nvPr/>
        </p:nvSpPr>
        <p:spPr>
          <a:xfrm>
            <a:off x="21015219" y="11277855"/>
            <a:ext cx="545658" cy="480212"/>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46" name="Star"/>
          <p:cNvSpPr/>
          <p:nvPr/>
        </p:nvSpPr>
        <p:spPr>
          <a:xfrm>
            <a:off x="21587997" y="11277855"/>
            <a:ext cx="545657" cy="480212"/>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47" name="Star"/>
          <p:cNvSpPr/>
          <p:nvPr/>
        </p:nvSpPr>
        <p:spPr>
          <a:xfrm>
            <a:off x="20907671" y="12341587"/>
            <a:ext cx="545657"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48" name="Star"/>
          <p:cNvSpPr/>
          <p:nvPr/>
        </p:nvSpPr>
        <p:spPr>
          <a:xfrm>
            <a:off x="21480450" y="12341587"/>
            <a:ext cx="545657"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49" name="Star"/>
          <p:cNvSpPr/>
          <p:nvPr/>
        </p:nvSpPr>
        <p:spPr>
          <a:xfrm>
            <a:off x="22071127" y="12341587"/>
            <a:ext cx="545657"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50" name="Star"/>
          <p:cNvSpPr/>
          <p:nvPr/>
        </p:nvSpPr>
        <p:spPr>
          <a:xfrm>
            <a:off x="22643906" y="12341587"/>
            <a:ext cx="545657" cy="480211"/>
          </a:xfrm>
          <a:prstGeom prst="star5">
            <a:avLst>
              <a:gd name="adj" fmla="val 19100"/>
              <a:gd name="hf" fmla="val 105146"/>
              <a:gd name="vf" fmla="val 110557"/>
            </a:avLst>
          </a:prstGeom>
          <a:solidFill>
            <a:schemeClr val="accent4">
              <a:hueOff val="-476017"/>
              <a:lumOff val="-10042"/>
            </a:schemeClr>
          </a:solidFill>
          <a:ln w="25400">
            <a:solidFill>
              <a:schemeClr val="accent4">
                <a:hueOff val="-476017"/>
                <a:lumOff val="-10042"/>
              </a:schemeClr>
            </a:solidFill>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215"/>
                                        </p:tgtEl>
                                        <p:attrNameLst>
                                          <p:attrName>style.visibility</p:attrName>
                                        </p:attrNameLst>
                                      </p:cBhvr>
                                      <p:to>
                                        <p:strVal val="visible"/>
                                      </p:to>
                                    </p:set>
                                  </p:childTnLst>
                                </p:cTn>
                              </p:par>
                            </p:childTnLst>
                          </p:cTn>
                        </p:par>
                        <p:par>
                          <p:cTn id="11" fill="hold">
                            <p:stCondLst>
                              <p:cond delay="0"/>
                            </p:stCondLst>
                            <p:childTnLst>
                              <p:par>
                                <p:cTn id="12" presetClass="entr" nodeType="afterEffect" presetSubtype="0" presetID="1" grpId="3" fill="hold">
                                  <p:stCondLst>
                                    <p:cond delay="0"/>
                                  </p:stCondLst>
                                  <p:iterate type="el" backwards="0">
                                    <p:tmAbs val="0"/>
                                  </p:iterate>
                                  <p:childTnLst>
                                    <p:set>
                                      <p:cBhvr>
                                        <p:cTn id="13" fill="hold"/>
                                        <p:tgtEl>
                                          <p:spTgt spid="216"/>
                                        </p:tgtEl>
                                        <p:attrNameLst>
                                          <p:attrName>style.visibility</p:attrName>
                                        </p:attrNameLst>
                                      </p:cBhvr>
                                      <p:to>
                                        <p:strVal val="visible"/>
                                      </p:to>
                                    </p:set>
                                  </p:childTnLst>
                                </p:cTn>
                              </p:par>
                            </p:childTnLst>
                          </p:cTn>
                        </p:par>
                        <p:par>
                          <p:cTn id="14" fill="hold">
                            <p:stCondLst>
                              <p:cond delay="0"/>
                            </p:stCondLst>
                            <p:childTnLst>
                              <p:par>
                                <p:cTn id="15" presetClass="entr" nodeType="afterEffect" presetSubtype="0" presetID="1" grpId="4" fill="hold">
                                  <p:stCondLst>
                                    <p:cond delay="0"/>
                                  </p:stCondLst>
                                  <p:iterate type="el" backwards="0">
                                    <p:tmAbs val="0"/>
                                  </p:iterate>
                                  <p:childTnLst>
                                    <p:set>
                                      <p:cBhvr>
                                        <p:cTn id="16" fill="hold"/>
                                        <p:tgtEl>
                                          <p:spTgt spid="217"/>
                                        </p:tgtEl>
                                        <p:attrNameLst>
                                          <p:attrName>style.visibility</p:attrName>
                                        </p:attrNameLst>
                                      </p:cBhvr>
                                      <p:to>
                                        <p:strVal val="visible"/>
                                      </p:to>
                                    </p:set>
                                  </p:childTnLst>
                                </p:cTn>
                              </p:par>
                            </p:childTnLst>
                          </p:cTn>
                        </p:par>
                        <p:par>
                          <p:cTn id="17" fill="hold">
                            <p:stCondLst>
                              <p:cond delay="0"/>
                            </p:stCondLst>
                            <p:childTnLst>
                              <p:par>
                                <p:cTn id="18" presetClass="entr" nodeType="afterEffect" presetSubtype="0" presetID="1" grpId="5" fill="hold">
                                  <p:stCondLst>
                                    <p:cond delay="0"/>
                                  </p:stCondLst>
                                  <p:iterate type="el" backwards="0">
                                    <p:tmAbs val="0"/>
                                  </p:iterate>
                                  <p:childTnLst>
                                    <p:set>
                                      <p:cBhvr>
                                        <p:cTn id="19" fill="hold"/>
                                        <p:tgtEl>
                                          <p:spTgt spid="2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Class="entr" nodeType="clickEffect" presetSubtype="0" presetID="1" grpId="6" fill="hold">
                                  <p:stCondLst>
                                    <p:cond delay="0"/>
                                  </p:stCondLst>
                                  <p:iterate type="el" backwards="0">
                                    <p:tmAbs val="0"/>
                                  </p:iterate>
                                  <p:childTnLst>
                                    <p:set>
                                      <p:cBhvr>
                                        <p:cTn id="23" fill="hold"/>
                                        <p:tgtEl>
                                          <p:spTgt spid="220"/>
                                        </p:tgtEl>
                                        <p:attrNameLst>
                                          <p:attrName>style.visibility</p:attrName>
                                        </p:attrNameLst>
                                      </p:cBhvr>
                                      <p:to>
                                        <p:strVal val="visible"/>
                                      </p:to>
                                    </p:set>
                                  </p:childTnLst>
                                </p:cTn>
                              </p:par>
                            </p:childTnLst>
                          </p:cTn>
                        </p:par>
                        <p:par>
                          <p:cTn id="24" fill="hold">
                            <p:stCondLst>
                              <p:cond delay="0"/>
                            </p:stCondLst>
                            <p:childTnLst>
                              <p:par>
                                <p:cTn id="25" presetClass="entr" nodeType="afterEffect" presetSubtype="0" presetID="1" grpId="7" fill="hold">
                                  <p:stCondLst>
                                    <p:cond delay="0"/>
                                  </p:stCondLst>
                                  <p:iterate type="el" backwards="0">
                                    <p:tmAbs val="0"/>
                                  </p:iterate>
                                  <p:childTnLst>
                                    <p:set>
                                      <p:cBhvr>
                                        <p:cTn id="26" fill="hold"/>
                                        <p:tgtEl>
                                          <p:spTgt spid="2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0" presetID="1" grpId="8" fill="hold">
                                  <p:stCondLst>
                                    <p:cond delay="0"/>
                                  </p:stCondLst>
                                  <p:iterate type="el" backwards="0">
                                    <p:tmAbs val="0"/>
                                  </p:iterate>
                                  <p:childTnLst>
                                    <p:set>
                                      <p:cBhvr>
                                        <p:cTn id="30" fill="hold"/>
                                        <p:tgtEl>
                                          <p:spTgt spid="2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0" presetID="1" grpId="9" fill="hold">
                                  <p:stCondLst>
                                    <p:cond delay="0"/>
                                  </p:stCondLst>
                                  <p:iterate type="el" backwards="0">
                                    <p:tmAbs val="0"/>
                                  </p:iterate>
                                  <p:childTnLst>
                                    <p:set>
                                      <p:cBhvr>
                                        <p:cTn id="34" fill="hold"/>
                                        <p:tgtEl>
                                          <p:spTgt spid="2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Class="entr" nodeType="clickEffect" presetSubtype="0" presetID="1" grpId="10" fill="hold">
                                  <p:stCondLst>
                                    <p:cond delay="0"/>
                                  </p:stCondLst>
                                  <p:iterate type="el" backwards="0">
                                    <p:tmAbs val="0"/>
                                  </p:iterate>
                                  <p:childTnLst>
                                    <p:set>
                                      <p:cBhvr>
                                        <p:cTn id="38" fill="hold"/>
                                        <p:tgtEl>
                                          <p:spTgt spid="2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Class="entr" nodeType="clickEffect" presetSubtype="0" presetID="1" grpId="11" fill="hold">
                                  <p:stCondLst>
                                    <p:cond delay="0"/>
                                  </p:stCondLst>
                                  <p:iterate type="el" backwards="0">
                                    <p:tmAbs val="0"/>
                                  </p:iterate>
                                  <p:childTnLst>
                                    <p:set>
                                      <p:cBhvr>
                                        <p:cTn id="42" fill="hold"/>
                                        <p:tgtEl>
                                          <p:spTgt spid="223"/>
                                        </p:tgtEl>
                                        <p:attrNameLst>
                                          <p:attrName>style.visibility</p:attrName>
                                        </p:attrNameLst>
                                      </p:cBhvr>
                                      <p:to>
                                        <p:strVal val="visible"/>
                                      </p:to>
                                    </p:set>
                                  </p:childTnLst>
                                </p:cTn>
                              </p:par>
                            </p:childTnLst>
                          </p:cTn>
                        </p:par>
                        <p:par>
                          <p:cTn id="43" fill="hold">
                            <p:stCondLst>
                              <p:cond delay="0"/>
                            </p:stCondLst>
                            <p:childTnLst>
                              <p:par>
                                <p:cTn id="44" presetClass="entr" nodeType="afterEffect" presetSubtype="0" presetID="1" grpId="12" fill="hold">
                                  <p:stCondLst>
                                    <p:cond delay="0"/>
                                  </p:stCondLst>
                                  <p:iterate type="el" backwards="0">
                                    <p:tmAbs val="0"/>
                                  </p:iterate>
                                  <p:childTnLst>
                                    <p:set>
                                      <p:cBhvr>
                                        <p:cTn id="45" fill="hold"/>
                                        <p:tgtEl>
                                          <p:spTgt spid="224"/>
                                        </p:tgtEl>
                                        <p:attrNameLst>
                                          <p:attrName>style.visibility</p:attrName>
                                        </p:attrNameLst>
                                      </p:cBhvr>
                                      <p:to>
                                        <p:strVal val="visible"/>
                                      </p:to>
                                    </p:set>
                                  </p:childTnLst>
                                </p:cTn>
                              </p:par>
                            </p:childTnLst>
                          </p:cTn>
                        </p:par>
                        <p:par>
                          <p:cTn id="46" fill="hold">
                            <p:stCondLst>
                              <p:cond delay="0"/>
                            </p:stCondLst>
                            <p:childTnLst>
                              <p:par>
                                <p:cTn id="47" presetClass="entr" nodeType="afterEffect" presetSubtype="0" presetID="1" grpId="13" fill="hold">
                                  <p:stCondLst>
                                    <p:cond delay="0"/>
                                  </p:stCondLst>
                                  <p:iterate type="el" backwards="0">
                                    <p:tmAbs val="0"/>
                                  </p:iterate>
                                  <p:childTnLst>
                                    <p:set>
                                      <p:cBhvr>
                                        <p:cTn id="48" fill="hold"/>
                                        <p:tgtEl>
                                          <p:spTgt spid="225"/>
                                        </p:tgtEl>
                                        <p:attrNameLst>
                                          <p:attrName>style.visibility</p:attrName>
                                        </p:attrNameLst>
                                      </p:cBhvr>
                                      <p:to>
                                        <p:strVal val="visible"/>
                                      </p:to>
                                    </p:set>
                                  </p:childTnLst>
                                </p:cTn>
                              </p:par>
                            </p:childTnLst>
                          </p:cTn>
                        </p:par>
                        <p:par>
                          <p:cTn id="49" fill="hold">
                            <p:stCondLst>
                              <p:cond delay="0"/>
                            </p:stCondLst>
                            <p:childTnLst>
                              <p:par>
                                <p:cTn id="50" presetClass="entr" nodeType="afterEffect" presetSubtype="0" presetID="1" grpId="14" fill="hold">
                                  <p:stCondLst>
                                    <p:cond delay="0"/>
                                  </p:stCondLst>
                                  <p:iterate type="el" backwards="0">
                                    <p:tmAbs val="0"/>
                                  </p:iterate>
                                  <p:childTnLst>
                                    <p:set>
                                      <p:cBhvr>
                                        <p:cTn id="51" fill="hold"/>
                                        <p:tgtEl>
                                          <p:spTgt spid="22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Class="entr" nodeType="clickEffect" presetSubtype="0" presetID="1" grpId="15" fill="hold">
                                  <p:stCondLst>
                                    <p:cond delay="0"/>
                                  </p:stCondLst>
                                  <p:iterate type="el" backwards="0">
                                    <p:tmAbs val="0"/>
                                  </p:iterate>
                                  <p:childTnLst>
                                    <p:set>
                                      <p:cBhvr>
                                        <p:cTn id="55" fill="hold"/>
                                        <p:tgtEl>
                                          <p:spTgt spid="227"/>
                                        </p:tgtEl>
                                        <p:attrNameLst>
                                          <p:attrName>style.visibility</p:attrName>
                                        </p:attrNameLst>
                                      </p:cBhvr>
                                      <p:to>
                                        <p:strVal val="visible"/>
                                      </p:to>
                                    </p:set>
                                  </p:childTnLst>
                                </p:cTn>
                              </p:par>
                            </p:childTnLst>
                          </p:cTn>
                        </p:par>
                        <p:par>
                          <p:cTn id="56" fill="hold">
                            <p:stCondLst>
                              <p:cond delay="0"/>
                            </p:stCondLst>
                            <p:childTnLst>
                              <p:par>
                                <p:cTn id="57" presetClass="entr" nodeType="afterEffect" presetSubtype="0" presetID="1" grpId="16" fill="hold">
                                  <p:stCondLst>
                                    <p:cond delay="0"/>
                                  </p:stCondLst>
                                  <p:iterate type="el" backwards="0">
                                    <p:tmAbs val="0"/>
                                  </p:iterate>
                                  <p:childTnLst>
                                    <p:set>
                                      <p:cBhvr>
                                        <p:cTn id="58" fill="hold"/>
                                        <p:tgtEl>
                                          <p:spTgt spid="228"/>
                                        </p:tgtEl>
                                        <p:attrNameLst>
                                          <p:attrName>style.visibility</p:attrName>
                                        </p:attrNameLst>
                                      </p:cBhvr>
                                      <p:to>
                                        <p:strVal val="visible"/>
                                      </p:to>
                                    </p:set>
                                  </p:childTnLst>
                                </p:cTn>
                              </p:par>
                            </p:childTnLst>
                          </p:cTn>
                        </p:par>
                        <p:par>
                          <p:cTn id="59" fill="hold">
                            <p:stCondLst>
                              <p:cond delay="0"/>
                            </p:stCondLst>
                            <p:childTnLst>
                              <p:par>
                                <p:cTn id="60" presetClass="entr" nodeType="afterEffect" presetSubtype="0" presetID="1" grpId="17" fill="hold">
                                  <p:stCondLst>
                                    <p:cond delay="0"/>
                                  </p:stCondLst>
                                  <p:iterate type="el" backwards="0">
                                    <p:tmAbs val="0"/>
                                  </p:iterate>
                                  <p:childTnLst>
                                    <p:set>
                                      <p:cBhvr>
                                        <p:cTn id="61" fill="hold"/>
                                        <p:tgtEl>
                                          <p:spTgt spid="229"/>
                                        </p:tgtEl>
                                        <p:attrNameLst>
                                          <p:attrName>style.visibility</p:attrName>
                                        </p:attrNameLst>
                                      </p:cBhvr>
                                      <p:to>
                                        <p:strVal val="visible"/>
                                      </p:to>
                                    </p:set>
                                  </p:childTnLst>
                                </p:cTn>
                              </p:par>
                            </p:childTnLst>
                          </p:cTn>
                        </p:par>
                        <p:par>
                          <p:cTn id="62" fill="hold">
                            <p:stCondLst>
                              <p:cond delay="0"/>
                            </p:stCondLst>
                            <p:childTnLst>
                              <p:par>
                                <p:cTn id="63" presetClass="entr" nodeType="afterEffect" presetSubtype="0" presetID="1" grpId="18" fill="hold">
                                  <p:stCondLst>
                                    <p:cond delay="0"/>
                                  </p:stCondLst>
                                  <p:iterate type="el" backwards="0">
                                    <p:tmAbs val="0"/>
                                  </p:iterate>
                                  <p:childTnLst>
                                    <p:set>
                                      <p:cBhvr>
                                        <p:cTn id="64" fill="hold"/>
                                        <p:tgtEl>
                                          <p:spTgt spid="23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Class="entr" nodeType="clickEffect" presetSubtype="0" presetID="1" grpId="19" fill="hold">
                                  <p:stCondLst>
                                    <p:cond delay="0"/>
                                  </p:stCondLst>
                                  <p:iterate type="el" backwards="0">
                                    <p:tmAbs val="0"/>
                                  </p:iterate>
                                  <p:childTnLst>
                                    <p:set>
                                      <p:cBhvr>
                                        <p:cTn id="68" fill="hold"/>
                                        <p:tgtEl>
                                          <p:spTgt spid="21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Class="entr" nodeType="clickEffect" presetSubtype="0" presetID="1" grpId="20" fill="hold">
                                  <p:stCondLst>
                                    <p:cond delay="0"/>
                                  </p:stCondLst>
                                  <p:iterate type="el" backwards="0">
                                    <p:tmAbs val="0"/>
                                  </p:iterate>
                                  <p:childTnLst>
                                    <p:set>
                                      <p:cBhvr>
                                        <p:cTn id="72" fill="hold"/>
                                        <p:tgtEl>
                                          <p:spTgt spid="231"/>
                                        </p:tgtEl>
                                        <p:attrNameLst>
                                          <p:attrName>style.visibility</p:attrName>
                                        </p:attrNameLst>
                                      </p:cBhvr>
                                      <p:to>
                                        <p:strVal val="visible"/>
                                      </p:to>
                                    </p:set>
                                  </p:childTnLst>
                                </p:cTn>
                              </p:par>
                            </p:childTnLst>
                          </p:cTn>
                        </p:par>
                        <p:par>
                          <p:cTn id="73" fill="hold">
                            <p:stCondLst>
                              <p:cond delay="0"/>
                            </p:stCondLst>
                            <p:childTnLst>
                              <p:par>
                                <p:cTn id="74" presetClass="entr" nodeType="afterEffect" presetSubtype="0" presetID="1" grpId="21" fill="hold">
                                  <p:stCondLst>
                                    <p:cond delay="0"/>
                                  </p:stCondLst>
                                  <p:iterate type="el" backwards="0">
                                    <p:tmAbs val="0"/>
                                  </p:iterate>
                                  <p:childTnLst>
                                    <p:set>
                                      <p:cBhvr>
                                        <p:cTn id="75" fill="hold"/>
                                        <p:tgtEl>
                                          <p:spTgt spid="232"/>
                                        </p:tgtEl>
                                        <p:attrNameLst>
                                          <p:attrName>style.visibility</p:attrName>
                                        </p:attrNameLst>
                                      </p:cBhvr>
                                      <p:to>
                                        <p:strVal val="visible"/>
                                      </p:to>
                                    </p:set>
                                  </p:childTnLst>
                                </p:cTn>
                              </p:par>
                            </p:childTnLst>
                          </p:cTn>
                        </p:par>
                        <p:par>
                          <p:cTn id="76" fill="hold">
                            <p:stCondLst>
                              <p:cond delay="0"/>
                            </p:stCondLst>
                            <p:childTnLst>
                              <p:par>
                                <p:cTn id="77" presetClass="entr" nodeType="afterEffect" presetSubtype="0" presetID="1" grpId="22" fill="hold">
                                  <p:stCondLst>
                                    <p:cond delay="0"/>
                                  </p:stCondLst>
                                  <p:iterate type="el" backwards="0">
                                    <p:tmAbs val="0"/>
                                  </p:iterate>
                                  <p:childTnLst>
                                    <p:set>
                                      <p:cBhvr>
                                        <p:cTn id="78" fill="hold"/>
                                        <p:tgtEl>
                                          <p:spTgt spid="233"/>
                                        </p:tgtEl>
                                        <p:attrNameLst>
                                          <p:attrName>style.visibility</p:attrName>
                                        </p:attrNameLst>
                                      </p:cBhvr>
                                      <p:to>
                                        <p:strVal val="visible"/>
                                      </p:to>
                                    </p:set>
                                  </p:childTnLst>
                                </p:cTn>
                              </p:par>
                            </p:childTnLst>
                          </p:cTn>
                        </p:par>
                        <p:par>
                          <p:cTn id="79" fill="hold">
                            <p:stCondLst>
                              <p:cond delay="0"/>
                            </p:stCondLst>
                            <p:childTnLst>
                              <p:par>
                                <p:cTn id="80" presetClass="entr" nodeType="afterEffect" presetSubtype="0" presetID="1" grpId="23" fill="hold">
                                  <p:stCondLst>
                                    <p:cond delay="0"/>
                                  </p:stCondLst>
                                  <p:iterate type="el" backwards="0">
                                    <p:tmAbs val="0"/>
                                  </p:iterate>
                                  <p:childTnLst>
                                    <p:set>
                                      <p:cBhvr>
                                        <p:cTn id="81" fill="hold"/>
                                        <p:tgtEl>
                                          <p:spTgt spid="234"/>
                                        </p:tgtEl>
                                        <p:attrNameLst>
                                          <p:attrName>style.visibility</p:attrName>
                                        </p:attrNameLst>
                                      </p:cBhvr>
                                      <p:to>
                                        <p:strVal val="visible"/>
                                      </p:to>
                                    </p:set>
                                  </p:childTnLst>
                                </p:cTn>
                              </p:par>
                            </p:childTnLst>
                          </p:cTn>
                        </p:par>
                        <p:par>
                          <p:cTn id="82" fill="hold">
                            <p:stCondLst>
                              <p:cond delay="0"/>
                            </p:stCondLst>
                            <p:childTnLst>
                              <p:par>
                                <p:cTn id="83" presetClass="entr" nodeType="afterEffect" presetSubtype="0" presetID="1" grpId="24" fill="hold">
                                  <p:stCondLst>
                                    <p:cond delay="0"/>
                                  </p:stCondLst>
                                  <p:iterate type="el" backwards="0">
                                    <p:tmAbs val="0"/>
                                  </p:iterate>
                                  <p:childTnLst>
                                    <p:set>
                                      <p:cBhvr>
                                        <p:cTn id="84" fill="hold"/>
                                        <p:tgtEl>
                                          <p:spTgt spid="23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Class="entr" nodeType="clickEffect" presetSubtype="0" presetID="1" grpId="25" fill="hold">
                                  <p:stCondLst>
                                    <p:cond delay="0"/>
                                  </p:stCondLst>
                                  <p:iterate type="el" backwards="0">
                                    <p:tmAbs val="0"/>
                                  </p:iterate>
                                  <p:childTnLst>
                                    <p:set>
                                      <p:cBhvr>
                                        <p:cTn id="88" fill="hold"/>
                                        <p:tgtEl>
                                          <p:spTgt spid="236"/>
                                        </p:tgtEl>
                                        <p:attrNameLst>
                                          <p:attrName>style.visibility</p:attrName>
                                        </p:attrNameLst>
                                      </p:cBhvr>
                                      <p:to>
                                        <p:strVal val="visible"/>
                                      </p:to>
                                    </p:set>
                                  </p:childTnLst>
                                </p:cTn>
                              </p:par>
                            </p:childTnLst>
                          </p:cTn>
                        </p:par>
                        <p:par>
                          <p:cTn id="89" fill="hold">
                            <p:stCondLst>
                              <p:cond delay="0"/>
                            </p:stCondLst>
                            <p:childTnLst>
                              <p:par>
                                <p:cTn id="90" presetClass="entr" nodeType="afterEffect" presetSubtype="0" presetID="1" grpId="26" fill="hold">
                                  <p:stCondLst>
                                    <p:cond delay="0"/>
                                  </p:stCondLst>
                                  <p:iterate type="el" backwards="0">
                                    <p:tmAbs val="0"/>
                                  </p:iterate>
                                  <p:childTnLst>
                                    <p:set>
                                      <p:cBhvr>
                                        <p:cTn id="91" fill="hold"/>
                                        <p:tgtEl>
                                          <p:spTgt spid="237"/>
                                        </p:tgtEl>
                                        <p:attrNameLst>
                                          <p:attrName>style.visibility</p:attrName>
                                        </p:attrNameLst>
                                      </p:cBhvr>
                                      <p:to>
                                        <p:strVal val="visible"/>
                                      </p:to>
                                    </p:set>
                                  </p:childTnLst>
                                </p:cTn>
                              </p:par>
                            </p:childTnLst>
                          </p:cTn>
                        </p:par>
                        <p:par>
                          <p:cTn id="92" fill="hold">
                            <p:stCondLst>
                              <p:cond delay="0"/>
                            </p:stCondLst>
                            <p:childTnLst>
                              <p:par>
                                <p:cTn id="93" presetClass="entr" nodeType="afterEffect" presetSubtype="0" presetID="1" grpId="27" fill="hold">
                                  <p:stCondLst>
                                    <p:cond delay="0"/>
                                  </p:stCondLst>
                                  <p:iterate type="el" backwards="0">
                                    <p:tmAbs val="0"/>
                                  </p:iterate>
                                  <p:childTnLst>
                                    <p:set>
                                      <p:cBhvr>
                                        <p:cTn id="94" fill="hold"/>
                                        <p:tgtEl>
                                          <p:spTgt spid="238"/>
                                        </p:tgtEl>
                                        <p:attrNameLst>
                                          <p:attrName>style.visibility</p:attrName>
                                        </p:attrNameLst>
                                      </p:cBhvr>
                                      <p:to>
                                        <p:strVal val="visible"/>
                                      </p:to>
                                    </p:set>
                                  </p:childTnLst>
                                </p:cTn>
                              </p:par>
                            </p:childTnLst>
                          </p:cTn>
                        </p:par>
                        <p:par>
                          <p:cTn id="95" fill="hold">
                            <p:stCondLst>
                              <p:cond delay="0"/>
                            </p:stCondLst>
                            <p:childTnLst>
                              <p:par>
                                <p:cTn id="96" presetClass="entr" nodeType="afterEffect" presetSubtype="0" presetID="1" grpId="28" fill="hold">
                                  <p:stCondLst>
                                    <p:cond delay="0"/>
                                  </p:stCondLst>
                                  <p:iterate type="el" backwards="0">
                                    <p:tmAbs val="0"/>
                                  </p:iterate>
                                  <p:childTnLst>
                                    <p:set>
                                      <p:cBhvr>
                                        <p:cTn id="97" fill="hold"/>
                                        <p:tgtEl>
                                          <p:spTgt spid="239"/>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Class="entr" nodeType="clickEffect" presetSubtype="0" presetID="1" grpId="29" fill="hold">
                                  <p:stCondLst>
                                    <p:cond delay="0"/>
                                  </p:stCondLst>
                                  <p:iterate type="el" backwards="0">
                                    <p:tmAbs val="0"/>
                                  </p:iterate>
                                  <p:childTnLst>
                                    <p:set>
                                      <p:cBhvr>
                                        <p:cTn id="101" fill="hold"/>
                                        <p:tgtEl>
                                          <p:spTgt spid="240"/>
                                        </p:tgtEl>
                                        <p:attrNameLst>
                                          <p:attrName>style.visibility</p:attrName>
                                        </p:attrNameLst>
                                      </p:cBhvr>
                                      <p:to>
                                        <p:strVal val="visible"/>
                                      </p:to>
                                    </p:set>
                                  </p:childTnLst>
                                </p:cTn>
                              </p:par>
                            </p:childTnLst>
                          </p:cTn>
                        </p:par>
                        <p:par>
                          <p:cTn id="102" fill="hold">
                            <p:stCondLst>
                              <p:cond delay="0"/>
                            </p:stCondLst>
                            <p:childTnLst>
                              <p:par>
                                <p:cTn id="103" presetClass="entr" nodeType="afterEffect" presetSubtype="0" presetID="1" grpId="30" fill="hold">
                                  <p:stCondLst>
                                    <p:cond delay="0"/>
                                  </p:stCondLst>
                                  <p:iterate type="el" backwards="0">
                                    <p:tmAbs val="0"/>
                                  </p:iterate>
                                  <p:childTnLst>
                                    <p:set>
                                      <p:cBhvr>
                                        <p:cTn id="104" fill="hold"/>
                                        <p:tgtEl>
                                          <p:spTgt spid="241"/>
                                        </p:tgtEl>
                                        <p:attrNameLst>
                                          <p:attrName>style.visibility</p:attrName>
                                        </p:attrNameLst>
                                      </p:cBhvr>
                                      <p:to>
                                        <p:strVal val="visible"/>
                                      </p:to>
                                    </p:set>
                                  </p:childTnLst>
                                </p:cTn>
                              </p:par>
                            </p:childTnLst>
                          </p:cTn>
                        </p:par>
                        <p:par>
                          <p:cTn id="105" fill="hold">
                            <p:stCondLst>
                              <p:cond delay="0"/>
                            </p:stCondLst>
                            <p:childTnLst>
                              <p:par>
                                <p:cTn id="106" presetClass="entr" nodeType="afterEffect" presetSubtype="0" presetID="1" grpId="31" fill="hold">
                                  <p:stCondLst>
                                    <p:cond delay="0"/>
                                  </p:stCondLst>
                                  <p:iterate type="el" backwards="0">
                                    <p:tmAbs val="0"/>
                                  </p:iterate>
                                  <p:childTnLst>
                                    <p:set>
                                      <p:cBhvr>
                                        <p:cTn id="107" fill="hold"/>
                                        <p:tgtEl>
                                          <p:spTgt spid="242"/>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Class="entr" nodeType="clickEffect" presetSubtype="0" presetID="1" grpId="32" fill="hold">
                                  <p:stCondLst>
                                    <p:cond delay="0"/>
                                  </p:stCondLst>
                                  <p:iterate type="el" backwards="0">
                                    <p:tmAbs val="0"/>
                                  </p:iterate>
                                  <p:childTnLst>
                                    <p:set>
                                      <p:cBhvr>
                                        <p:cTn id="111" fill="hold"/>
                                        <p:tgtEl>
                                          <p:spTgt spid="214"/>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Class="entr" nodeType="clickEffect" presetSubtype="0" presetID="1" grpId="33" fill="hold">
                                  <p:stCondLst>
                                    <p:cond delay="0"/>
                                  </p:stCondLst>
                                  <p:iterate type="el" backwards="0">
                                    <p:tmAbs val="0"/>
                                  </p:iterate>
                                  <p:childTnLst>
                                    <p:set>
                                      <p:cBhvr>
                                        <p:cTn id="115" fill="hold"/>
                                        <p:tgtEl>
                                          <p:spTgt spid="243"/>
                                        </p:tgtEl>
                                        <p:attrNameLst>
                                          <p:attrName>style.visibility</p:attrName>
                                        </p:attrNameLst>
                                      </p:cBhvr>
                                      <p:to>
                                        <p:strVal val="visible"/>
                                      </p:to>
                                    </p:set>
                                  </p:childTnLst>
                                </p:cTn>
                              </p:par>
                            </p:childTnLst>
                          </p:cTn>
                        </p:par>
                        <p:par>
                          <p:cTn id="116" fill="hold">
                            <p:stCondLst>
                              <p:cond delay="0"/>
                            </p:stCondLst>
                            <p:childTnLst>
                              <p:par>
                                <p:cTn id="117" presetClass="entr" nodeType="afterEffect" presetSubtype="0" presetID="1" grpId="34" fill="hold">
                                  <p:stCondLst>
                                    <p:cond delay="0"/>
                                  </p:stCondLst>
                                  <p:iterate type="el" backwards="0">
                                    <p:tmAbs val="0"/>
                                  </p:iterate>
                                  <p:childTnLst>
                                    <p:set>
                                      <p:cBhvr>
                                        <p:cTn id="118" fill="hold"/>
                                        <p:tgtEl>
                                          <p:spTgt spid="24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Class="entr" nodeType="clickEffect" presetSubtype="0" presetID="1" grpId="35" fill="hold">
                                  <p:stCondLst>
                                    <p:cond delay="0"/>
                                  </p:stCondLst>
                                  <p:iterate type="el" backwards="0">
                                    <p:tmAbs val="0"/>
                                  </p:iterate>
                                  <p:childTnLst>
                                    <p:set>
                                      <p:cBhvr>
                                        <p:cTn id="122" fill="hold"/>
                                        <p:tgtEl>
                                          <p:spTgt spid="245"/>
                                        </p:tgtEl>
                                        <p:attrNameLst>
                                          <p:attrName>style.visibility</p:attrName>
                                        </p:attrNameLst>
                                      </p:cBhvr>
                                      <p:to>
                                        <p:strVal val="visible"/>
                                      </p:to>
                                    </p:set>
                                  </p:childTnLst>
                                </p:cTn>
                              </p:par>
                            </p:childTnLst>
                          </p:cTn>
                        </p:par>
                        <p:par>
                          <p:cTn id="123" fill="hold">
                            <p:stCondLst>
                              <p:cond delay="0"/>
                            </p:stCondLst>
                            <p:childTnLst>
                              <p:par>
                                <p:cTn id="124" presetClass="entr" nodeType="afterEffect" presetSubtype="0" presetID="1" grpId="36" fill="hold">
                                  <p:stCondLst>
                                    <p:cond delay="0"/>
                                  </p:stCondLst>
                                  <p:iterate type="el" backwards="0">
                                    <p:tmAbs val="0"/>
                                  </p:iterate>
                                  <p:childTnLst>
                                    <p:set>
                                      <p:cBhvr>
                                        <p:cTn id="125" fill="hold"/>
                                        <p:tgtEl>
                                          <p:spTgt spid="246"/>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Class="entr" nodeType="clickEffect" presetSubtype="0" presetID="1" grpId="37" fill="hold">
                                  <p:stCondLst>
                                    <p:cond delay="0"/>
                                  </p:stCondLst>
                                  <p:iterate type="el" backwards="0">
                                    <p:tmAbs val="0"/>
                                  </p:iterate>
                                  <p:childTnLst>
                                    <p:set>
                                      <p:cBhvr>
                                        <p:cTn id="129" fill="hold"/>
                                        <p:tgtEl>
                                          <p:spTgt spid="247"/>
                                        </p:tgtEl>
                                        <p:attrNameLst>
                                          <p:attrName>style.visibility</p:attrName>
                                        </p:attrNameLst>
                                      </p:cBhvr>
                                      <p:to>
                                        <p:strVal val="visible"/>
                                      </p:to>
                                    </p:set>
                                  </p:childTnLst>
                                </p:cTn>
                              </p:par>
                            </p:childTnLst>
                          </p:cTn>
                        </p:par>
                        <p:par>
                          <p:cTn id="130" fill="hold">
                            <p:stCondLst>
                              <p:cond delay="0"/>
                            </p:stCondLst>
                            <p:childTnLst>
                              <p:par>
                                <p:cTn id="131" presetClass="entr" nodeType="afterEffect" presetSubtype="0" presetID="1" grpId="38" fill="hold">
                                  <p:stCondLst>
                                    <p:cond delay="0"/>
                                  </p:stCondLst>
                                  <p:iterate type="el" backwards="0">
                                    <p:tmAbs val="0"/>
                                  </p:iterate>
                                  <p:childTnLst>
                                    <p:set>
                                      <p:cBhvr>
                                        <p:cTn id="132" fill="hold"/>
                                        <p:tgtEl>
                                          <p:spTgt spid="248"/>
                                        </p:tgtEl>
                                        <p:attrNameLst>
                                          <p:attrName>style.visibility</p:attrName>
                                        </p:attrNameLst>
                                      </p:cBhvr>
                                      <p:to>
                                        <p:strVal val="visible"/>
                                      </p:to>
                                    </p:set>
                                  </p:childTnLst>
                                </p:cTn>
                              </p:par>
                            </p:childTnLst>
                          </p:cTn>
                        </p:par>
                        <p:par>
                          <p:cTn id="133" fill="hold">
                            <p:stCondLst>
                              <p:cond delay="0"/>
                            </p:stCondLst>
                            <p:childTnLst>
                              <p:par>
                                <p:cTn id="134" presetClass="entr" nodeType="afterEffect" presetSubtype="0" presetID="1" grpId="39" fill="hold">
                                  <p:stCondLst>
                                    <p:cond delay="0"/>
                                  </p:stCondLst>
                                  <p:iterate type="el" backwards="0">
                                    <p:tmAbs val="0"/>
                                  </p:iterate>
                                  <p:childTnLst>
                                    <p:set>
                                      <p:cBhvr>
                                        <p:cTn id="135" fill="hold"/>
                                        <p:tgtEl>
                                          <p:spTgt spid="249"/>
                                        </p:tgtEl>
                                        <p:attrNameLst>
                                          <p:attrName>style.visibility</p:attrName>
                                        </p:attrNameLst>
                                      </p:cBhvr>
                                      <p:to>
                                        <p:strVal val="visible"/>
                                      </p:to>
                                    </p:set>
                                  </p:childTnLst>
                                </p:cTn>
                              </p:par>
                            </p:childTnLst>
                          </p:cTn>
                        </p:par>
                        <p:par>
                          <p:cTn id="136" fill="hold">
                            <p:stCondLst>
                              <p:cond delay="0"/>
                            </p:stCondLst>
                            <p:childTnLst>
                              <p:par>
                                <p:cTn id="137" presetClass="entr" nodeType="afterEffect" presetSubtype="0" presetID="1" grpId="40" fill="hold">
                                  <p:stCondLst>
                                    <p:cond delay="0"/>
                                  </p:stCondLst>
                                  <p:iterate type="el" backwards="0">
                                    <p:tmAbs val="0"/>
                                  </p:iterate>
                                  <p:childTnLst>
                                    <p:set>
                                      <p:cBhvr>
                                        <p:cTn id="138" fill="hold"/>
                                        <p:tgtEl>
                                          <p:spTgt spid="2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37" grpId="26"/>
      <p:bldP build="whole" bldLvl="1" animBg="1" rev="0" advAuto="0" spid="231" grpId="20"/>
      <p:bldP build="whole" bldLvl="1" animBg="1" rev="0" advAuto="0" spid="221" grpId="7"/>
      <p:bldP build="whole" bldLvl="1" animBg="1" rev="0" advAuto="0" spid="238" grpId="27"/>
      <p:bldP build="whole" bldLvl="1" animBg="1" rev="0" advAuto="0" spid="246" grpId="36"/>
      <p:bldP build="whole" bldLvl="1" animBg="1" rev="0" advAuto="0" spid="230" grpId="18"/>
      <p:bldP build="whole" bldLvl="1" animBg="1" rev="0" advAuto="0" spid="211" grpId="9"/>
      <p:bldP build="whole" bldLvl="1" animBg="1" rev="0" advAuto="0" spid="240" grpId="29"/>
      <p:bldP build="whole" bldLvl="1" animBg="1" rev="0" advAuto="0" spid="245" grpId="35"/>
      <p:bldP build="whole" bldLvl="1" animBg="1" rev="0" advAuto="0" spid="224" grpId="12"/>
      <p:bldP build="whole" bldLvl="1" animBg="1" rev="0" advAuto="0" spid="234" grpId="23"/>
      <p:bldP build="whole" bldLvl="1" animBg="1" rev="0" advAuto="0" spid="213" grpId="1"/>
      <p:bldP build="whole" bldLvl="1" animBg="1" rev="0" advAuto="0" spid="243" grpId="33"/>
      <p:bldP build="whole" bldLvl="1" animBg="1" rev="0" advAuto="0" spid="235" grpId="24"/>
      <p:bldP build="whole" bldLvl="1" animBg="1" rev="0" advAuto="0" spid="248" grpId="38"/>
      <p:bldP build="whole" bldLvl="1" animBg="1" rev="0" advAuto="0" spid="249" grpId="39"/>
      <p:bldP build="whole" bldLvl="1" animBg="1" rev="0" advAuto="0" spid="233" grpId="22"/>
      <p:bldP build="whole" bldLvl="1" animBg="1" rev="0" advAuto="0" spid="250" grpId="40"/>
      <p:bldP build="whole" bldLvl="1" animBg="1" rev="0" advAuto="0" spid="222" grpId="10"/>
      <p:bldP build="whole" bldLvl="1" animBg="1" rev="0" advAuto="0" spid="239" grpId="28"/>
      <p:bldP build="whole" bldLvl="1" animBg="1" rev="0" advAuto="0" spid="216" grpId="3"/>
      <p:bldP build="whole" bldLvl="1" animBg="1" rev="0" advAuto="0" spid="241" grpId="30"/>
      <p:bldP build="whole" bldLvl="1" animBg="1" rev="0" advAuto="0" spid="212" grpId="19"/>
      <p:bldP build="whole" bldLvl="1" animBg="1" rev="0" advAuto="0" spid="227" grpId="15"/>
      <p:bldP build="whole" bldLvl="1" animBg="1" rev="0" advAuto="0" spid="218" grpId="5"/>
      <p:bldP build="whole" bldLvl="1" animBg="1" rev="0" advAuto="0" spid="225" grpId="13"/>
      <p:bldP build="whole" bldLvl="1" animBg="1" rev="0" advAuto="0" spid="244" grpId="34"/>
      <p:bldP build="whole" bldLvl="1" animBg="1" rev="0" advAuto="0" spid="217" grpId="4"/>
      <p:bldP build="whole" bldLvl="1" animBg="1" rev="0" advAuto="0" spid="247" grpId="37"/>
      <p:bldP build="whole" bldLvl="1" animBg="1" rev="0" advAuto="0" spid="229" grpId="17"/>
      <p:bldP build="whole" bldLvl="1" animBg="1" rev="0" advAuto="0" spid="226" grpId="14"/>
      <p:bldP build="whole" bldLvl="1" animBg="1" rev="0" advAuto="0" spid="220" grpId="6"/>
      <p:bldP build="whole" bldLvl="1" animBg="1" rev="0" advAuto="0" spid="236" grpId="25"/>
      <p:bldP build="whole" bldLvl="1" animBg="1" rev="0" advAuto="0" spid="232" grpId="21"/>
      <p:bldP build="whole" bldLvl="1" animBg="1" rev="0" advAuto="0" spid="223" grpId="11"/>
      <p:bldP build="whole" bldLvl="1" animBg="1" rev="0" advAuto="0" spid="215" grpId="2"/>
      <p:bldP build="whole" bldLvl="1" animBg="1" rev="0" advAuto="0" spid="228" grpId="16"/>
      <p:bldP build="whole" bldLvl="1" animBg="1" rev="0" advAuto="0" spid="214" grpId="32"/>
      <p:bldP build="whole" bldLvl="1" animBg="1" rev="0" advAuto="0" spid="219" grpId="8"/>
      <p:bldP build="whole" bldLvl="1" animBg="1" rev="0" advAuto="0" spid="242" grpId="3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Conclusion and Comments"/>
          <p:cNvSpPr txBox="1"/>
          <p:nvPr>
            <p:ph type="title"/>
          </p:nvPr>
        </p:nvSpPr>
        <p:spPr>
          <a:prstGeom prst="rect">
            <a:avLst/>
          </a:prstGeom>
        </p:spPr>
        <p:txBody>
          <a:bodyPr/>
          <a:lstStyle/>
          <a:p>
            <a:pPr/>
            <a:r>
              <a:t>Conclusion and Comments</a:t>
            </a:r>
          </a:p>
        </p:txBody>
      </p:sp>
      <p:sp>
        <p:nvSpPr>
          <p:cNvPr id="253" name="What we’d try given more time"/>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What we’d try given more time</a:t>
            </a:r>
          </a:p>
        </p:txBody>
      </p:sp>
      <p:sp>
        <p:nvSpPr>
          <p:cNvPr id="254" name="Data cleaning/regularization strategies:…"/>
          <p:cNvSpPr txBox="1"/>
          <p:nvPr>
            <p:ph type="body" idx="1"/>
          </p:nvPr>
        </p:nvSpPr>
        <p:spPr>
          <a:xfrm>
            <a:off x="1206499" y="4248504"/>
            <a:ext cx="16359158" cy="8256012"/>
          </a:xfrm>
          <a:prstGeom prst="rect">
            <a:avLst/>
          </a:prstGeom>
        </p:spPr>
        <p:txBody>
          <a:bodyPr/>
          <a:lstStyle/>
          <a:p>
            <a:pPr marL="560831" indent="-560831" defTabSz="2243271">
              <a:lnSpc>
                <a:spcPct val="100000"/>
              </a:lnSpc>
              <a:spcBef>
                <a:spcPts val="0"/>
              </a:spcBef>
              <a:defRPr b="1" sz="4416"/>
            </a:pPr>
            <a:r>
              <a:t>Data cleaning/regularization strategies:</a:t>
            </a:r>
          </a:p>
          <a:p>
            <a:pPr lvl="1" marL="1121663" indent="-560831" defTabSz="2243271">
              <a:lnSpc>
                <a:spcPct val="100000"/>
              </a:lnSpc>
              <a:spcBef>
                <a:spcPts val="0"/>
              </a:spcBef>
              <a:defRPr sz="4416"/>
            </a:pPr>
            <a:r>
              <a:t>Weighting by user/restaurant average review </a:t>
            </a:r>
            <a:r>
              <a:rPr b="1"/>
              <a:t>**</a:t>
            </a:r>
          </a:p>
          <a:p>
            <a:pPr lvl="1" marL="1121663" indent="-560831" defTabSz="2243271">
              <a:lnSpc>
                <a:spcPct val="100000"/>
              </a:lnSpc>
              <a:spcBef>
                <a:spcPts val="0"/>
              </a:spcBef>
              <a:defRPr sz="4416"/>
            </a:pPr>
            <a:r>
              <a:t>Further data exploration, eliminating outliers</a:t>
            </a:r>
          </a:p>
          <a:p>
            <a:pPr lvl="2" marL="1682495" indent="-560831" defTabSz="2243271">
              <a:lnSpc>
                <a:spcPct val="100000"/>
              </a:lnSpc>
              <a:spcBef>
                <a:spcPts val="0"/>
              </a:spcBef>
              <a:defRPr sz="4416"/>
            </a:pPr>
            <a:r>
              <a:t>ChatGPT API for outlier removal</a:t>
            </a:r>
          </a:p>
          <a:p>
            <a:pPr marL="560831" indent="-560831" defTabSz="2243271">
              <a:lnSpc>
                <a:spcPct val="100000"/>
              </a:lnSpc>
              <a:spcBef>
                <a:spcPts val="0"/>
              </a:spcBef>
              <a:defRPr b="1" sz="4416"/>
            </a:pPr>
            <a:r>
              <a:t>Model architecture:</a:t>
            </a:r>
          </a:p>
          <a:p>
            <a:pPr lvl="1" marL="1121663" indent="-560831" defTabSz="2243271">
              <a:lnSpc>
                <a:spcPct val="100000"/>
              </a:lnSpc>
              <a:spcBef>
                <a:spcPts val="0"/>
              </a:spcBef>
              <a:defRPr sz="4416"/>
            </a:pPr>
            <a:r>
              <a:t>Splitting by 1 / (2 &amp; 3 &amp; 4) / 5 at layer 1 </a:t>
            </a:r>
            <a:r>
              <a:rPr b="1"/>
              <a:t>→ </a:t>
            </a:r>
            <a:r>
              <a:t>layer 2 classifier for 2/3/4 star ratings</a:t>
            </a:r>
          </a:p>
          <a:p>
            <a:pPr lvl="2" marL="1682495" indent="-560831" defTabSz="2243271">
              <a:lnSpc>
                <a:spcPct val="100000"/>
              </a:lnSpc>
              <a:spcBef>
                <a:spcPts val="0"/>
              </a:spcBef>
              <a:defRPr sz="4416"/>
            </a:pPr>
            <a:r>
              <a:t>Avoids routing problem</a:t>
            </a:r>
          </a:p>
          <a:p>
            <a:pPr lvl="2" marL="1682495" indent="-560831" defTabSz="2243271">
              <a:lnSpc>
                <a:spcPct val="100000"/>
              </a:lnSpc>
              <a:spcBef>
                <a:spcPts val="0"/>
              </a:spcBef>
              <a:defRPr sz="4416"/>
            </a:pPr>
            <a:r>
              <a:t>Could also try 1 &amp; 2 / (2 &amp; 3 &amp; 4) / 4 &amp; 5</a:t>
            </a:r>
          </a:p>
          <a:p>
            <a:pPr lvl="1" marL="1121663" indent="-560831" defTabSz="2243271">
              <a:lnSpc>
                <a:spcPct val="100000"/>
              </a:lnSpc>
              <a:spcBef>
                <a:spcPts val="0"/>
              </a:spcBef>
              <a:defRPr sz="4416"/>
            </a:pPr>
            <a:r>
              <a:t>Testing different models at each layer e.g., SVM, Random Forest, MLP</a:t>
            </a:r>
          </a:p>
          <a:p>
            <a:pPr lvl="1" marL="1121663" indent="-560831" defTabSz="2243271">
              <a:lnSpc>
                <a:spcPct val="100000"/>
              </a:lnSpc>
              <a:spcBef>
                <a:spcPts val="0"/>
              </a:spcBef>
              <a:defRPr sz="4416"/>
            </a:pPr>
            <a:r>
              <a:t>1 v all structure (i.e., 1 or not 1, 2 or not 2,… etc.) </a:t>
            </a:r>
            <a:r>
              <a:rPr b="1"/>
              <a:t>**</a:t>
            </a:r>
          </a:p>
        </p:txBody>
      </p:sp>
      <p:sp>
        <p:nvSpPr>
          <p:cNvPr id="255" name="** suggestions…"/>
          <p:cNvSpPr txBox="1"/>
          <p:nvPr/>
        </p:nvSpPr>
        <p:spPr>
          <a:xfrm>
            <a:off x="13458138" y="2811011"/>
            <a:ext cx="3984956" cy="113914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spcBef>
                <a:spcPts val="0"/>
              </a:spcBef>
              <a:defRPr sz="3600"/>
            </a:pPr>
            <a:r>
              <a:rPr b="1"/>
              <a:t>**</a:t>
            </a:r>
            <a:r>
              <a:t> suggestions </a:t>
            </a:r>
          </a:p>
          <a:p>
            <a:pPr>
              <a:spcBef>
                <a:spcPts val="0"/>
              </a:spcBef>
              <a:defRPr sz="3600"/>
            </a:pPr>
            <a:r>
              <a:t>    from classmates</a:t>
            </a:r>
          </a:p>
        </p:txBody>
      </p:sp>
      <p:pic>
        <p:nvPicPr>
          <p:cNvPr id="256" name="Screenshot 2025-12-04 at 12.58.16 PM.png" descr="Screenshot 2025-12-04 at 12.58.16 PM.png"/>
          <p:cNvPicPr>
            <a:picLocks noChangeAspect="1"/>
          </p:cNvPicPr>
          <p:nvPr/>
        </p:nvPicPr>
        <p:blipFill>
          <a:blip r:embed="rId2">
            <a:extLst/>
          </a:blip>
          <a:stretch>
            <a:fillRect/>
          </a:stretch>
        </p:blipFill>
        <p:spPr>
          <a:xfrm>
            <a:off x="18756355" y="352446"/>
            <a:ext cx="4825010" cy="7854666"/>
          </a:xfrm>
          <a:prstGeom prst="rect">
            <a:avLst/>
          </a:prstGeom>
          <a:ln w="12700">
            <a:miter lim="400000"/>
          </a:ln>
        </p:spPr>
      </p:pic>
      <p:pic>
        <p:nvPicPr>
          <p:cNvPr id="257" name="Screenshot 2025-12-04 at 1.07.23 PM.png" descr="Screenshot 2025-12-04 at 1.07.23 PM.png"/>
          <p:cNvPicPr>
            <a:picLocks noChangeAspect="1"/>
          </p:cNvPicPr>
          <p:nvPr/>
        </p:nvPicPr>
        <p:blipFill>
          <a:blip r:embed="rId3">
            <a:extLst/>
          </a:blip>
          <a:stretch>
            <a:fillRect/>
          </a:stretch>
        </p:blipFill>
        <p:spPr>
          <a:xfrm>
            <a:off x="17202103" y="7396790"/>
            <a:ext cx="4689983" cy="5911894"/>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Conclusion and Comments"/>
          <p:cNvSpPr txBox="1"/>
          <p:nvPr>
            <p:ph type="title"/>
          </p:nvPr>
        </p:nvSpPr>
        <p:spPr>
          <a:prstGeom prst="rect">
            <a:avLst/>
          </a:prstGeom>
        </p:spPr>
        <p:txBody>
          <a:bodyPr/>
          <a:lstStyle/>
          <a:p>
            <a:pPr/>
            <a:r>
              <a:t>Conclusion and Comments</a:t>
            </a:r>
          </a:p>
        </p:txBody>
      </p:sp>
      <p:sp>
        <p:nvSpPr>
          <p:cNvPr id="260" name="Final Takeaway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Final Takeaways</a:t>
            </a:r>
          </a:p>
        </p:txBody>
      </p:sp>
      <p:sp>
        <p:nvSpPr>
          <p:cNvPr id="261" name="Simplicity Outperformed Complexity: Our fine-tuned Layered Logistic Regression beat both the standard baselines and the ChatGPT 5.0 Nano model.…"/>
          <p:cNvSpPr txBox="1"/>
          <p:nvPr>
            <p:ph type="body" idx="1"/>
          </p:nvPr>
        </p:nvSpPr>
        <p:spPr>
          <a:prstGeom prst="rect">
            <a:avLst/>
          </a:prstGeom>
        </p:spPr>
        <p:txBody>
          <a:bodyPr/>
          <a:lstStyle/>
          <a:p>
            <a:pPr>
              <a:lnSpc>
                <a:spcPct val="100000"/>
              </a:lnSpc>
              <a:spcBef>
                <a:spcPts val="0"/>
              </a:spcBef>
            </a:pPr>
            <a:r>
              <a:rPr b="1"/>
              <a:t>Simplicity Outperformed Complexity:</a:t>
            </a:r>
            <a:r>
              <a:t> Our fine-tuned Layered Logistic Regression beat both the standard baselines and the ChatGPT 5.0 Nano model.</a:t>
            </a:r>
          </a:p>
          <a:p>
            <a:pPr>
              <a:lnSpc>
                <a:spcPct val="100000"/>
              </a:lnSpc>
              <a:spcBef>
                <a:spcPts val="0"/>
              </a:spcBef>
            </a:pPr>
            <a:r>
              <a:rPr b="1"/>
              <a:t>Traditional Methods Still Work:</a:t>
            </a:r>
            <a:r>
              <a:t> We achieved best-available results for this specific dataset using TF-IDF and n-grams, proving you don't always need heavy DL for text classification.</a:t>
            </a:r>
          </a:p>
          <a:p>
            <a:pPr>
              <a:lnSpc>
                <a:spcPct val="100000"/>
              </a:lnSpc>
              <a:spcBef>
                <a:spcPts val="0"/>
              </a:spcBef>
            </a:pPr>
            <a:r>
              <a:rPr b="1"/>
              <a:t>The Balancing Paradox:</a:t>
            </a:r>
            <a:r>
              <a:t> We discovered that unequal class sampling actually yielded </a:t>
            </a:r>
            <a:r>
              <a:rPr i="1"/>
              <a:t>higher</a:t>
            </a:r>
            <a:r>
              <a:t> accuracy than perfectly balanced data, suggesting the model benefits from the natural distribution of real-world reviews.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