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0" r:id="rId4"/>
    <p:sldId id="258" r:id="rId5"/>
    <p:sldId id="271" r:id="rId6"/>
    <p:sldId id="272" r:id="rId7"/>
    <p:sldId id="273" r:id="rId8"/>
    <p:sldId id="274" r:id="rId9"/>
    <p:sldId id="275" r:id="rId10"/>
    <p:sldId id="285" r:id="rId11"/>
    <p:sldId id="259" r:id="rId1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/>
      <a:tcStyle>
        <a:tcBdr/>
        <a:fill>
          <a:solidFill>
            <a:srgbClr val="E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/>
      <a:tcStyle>
        <a:tcBdr/>
        <a:fill>
          <a:solidFill>
            <a:srgbClr val="E6F0F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/>
      <a:tcStyle>
        <a:tcBdr/>
        <a:fill>
          <a:solidFill>
            <a:srgbClr val="E9E6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/>
    <p:restoredTop sz="94651"/>
  </p:normalViewPr>
  <p:slideViewPr>
    <p:cSldViewPr snapToGrid="0">
      <p:cViewPr varScale="1">
        <p:scale>
          <a:sx n="99" d="100"/>
          <a:sy n="99" d="100"/>
        </p:scale>
        <p:origin x="192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9852F-C953-3445-B10C-3B6B94EB42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2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771B-951C-0F7D-6621-A563CB3F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2FCEA-CB6C-11C0-2428-564DAAF16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F8016-B173-0F7D-F221-9114BC00F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4C62E-2273-6435-DE72-E0654DE01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9852F-C953-3445-B10C-3B6B94EB42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4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427893" y="530103"/>
            <a:ext cx="5267657" cy="17319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27896" y="2479367"/>
            <a:ext cx="5267655" cy="97860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342991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685982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028974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371965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21069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722312" y="4406905"/>
            <a:ext cx="7772401" cy="1362076"/>
          </a:xfrm>
          <a:prstGeom prst="rect">
            <a:avLst/>
          </a:prstGeom>
        </p:spPr>
        <p:txBody>
          <a:bodyPr/>
          <a:lstStyle>
            <a:lvl1pPr>
              <a:defRPr sz="3000" cap="all"/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91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982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974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965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457203" y="273050"/>
            <a:ext cx="3008314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202" y="1435103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  <a:endParaRPr/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r>
              <a:t>Title Text</a:t>
            </a:r>
          </a:p>
        </p:txBody>
      </p:sp>
      <p:sp>
        <p:nvSpPr>
          <p:cNvPr id="12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91">
              <a:spcBef>
                <a:spcPts val="200"/>
              </a:spcBef>
              <a:buSzTx/>
              <a:buFontTx/>
              <a:buNone/>
              <a:defRPr sz="1000"/>
            </a:lvl2pPr>
            <a:lvl3pPr marL="0" indent="685982">
              <a:spcBef>
                <a:spcPts val="200"/>
              </a:spcBef>
              <a:buSzTx/>
              <a:buFontTx/>
              <a:buNone/>
              <a:defRPr sz="1000"/>
            </a:lvl3pPr>
            <a:lvl4pPr marL="0" indent="1028974">
              <a:spcBef>
                <a:spcPts val="200"/>
              </a:spcBef>
              <a:buSzTx/>
              <a:buFontTx/>
              <a:buNone/>
              <a:defRPr sz="1000"/>
            </a:lvl4pPr>
            <a:lvl5pPr marL="0" indent="1371965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/>
          <a:lstStyle/>
          <a:p>
            <a:fld id="{B86A9B72-EFE5-0C44-9856-127B83BB47D0}" type="datetimeFigureOut">
              <a:rPr lang="en-US" smtClean="0"/>
              <a:pPr/>
              <a:t>10/24/25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1ED6-03CA-FF41-BAAB-392506A14B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2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213474" y="341768"/>
            <a:ext cx="8686427" cy="878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213474" y="1338867"/>
            <a:ext cx="8686427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3" marR="0" indent="-25724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5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4" marR="0" indent="-22866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7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1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4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457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914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1371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18288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22860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2743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3200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3657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Title 5"/>
          <p:cNvSpPr txBox="1">
            <a:spLocks noGrp="1"/>
          </p:cNvSpPr>
          <p:nvPr>
            <p:ph type="ctrTitle"/>
          </p:nvPr>
        </p:nvSpPr>
        <p:spPr>
          <a:xfrm>
            <a:off x="626684" y="1502819"/>
            <a:ext cx="8184807" cy="97869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r>
              <a:rPr dirty="0"/>
              <a:t>Yelp Dataset Sentiment Analysis</a:t>
            </a:r>
          </a:p>
        </p:txBody>
      </p:sp>
      <p:sp>
        <p:nvSpPr>
          <p:cNvPr id="139" name="Subtitle 6"/>
          <p:cNvSpPr txBox="1">
            <a:spLocks noGrp="1"/>
          </p:cNvSpPr>
          <p:nvPr>
            <p:ph type="subTitle" sz="quarter" idx="1"/>
          </p:nvPr>
        </p:nvSpPr>
        <p:spPr>
          <a:xfrm>
            <a:off x="626685" y="2397727"/>
            <a:ext cx="3558230" cy="547974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1800"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Phase 2: Project Plan</a:t>
            </a:r>
            <a:endParaRPr dirty="0"/>
          </a:p>
        </p:txBody>
      </p:sp>
      <p:pic>
        <p:nvPicPr>
          <p:cNvPr id="14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898" y="4690386"/>
            <a:ext cx="2016789" cy="1422957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ubtitle 6"/>
          <p:cNvSpPr txBox="1"/>
          <p:nvPr/>
        </p:nvSpPr>
        <p:spPr>
          <a:xfrm>
            <a:off x="672404" y="4372202"/>
            <a:ext cx="4131249" cy="1422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Overview and Goals</a:t>
            </a:r>
            <a:endParaRPr dirty="0"/>
          </a:p>
        </p:txBody>
      </p:sp>
      <p:sp>
        <p:nvSpPr>
          <p:cNvPr id="14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213473" y="1338867"/>
            <a:ext cx="8686428" cy="2301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223802" indent="-223802" defTabSz="298402">
              <a:defRPr sz="1914"/>
            </a:pPr>
            <a:r>
              <a:rPr lang="en-US" dirty="0"/>
              <a:t>This project aims to predict restaurant review star ratings (1–5) from Yelp review text using text mining and machine learning.</a:t>
            </a:r>
          </a:p>
          <a:p>
            <a:pPr marL="223802" indent="-223802" defTabSz="298402">
              <a:defRPr sz="1914"/>
            </a:pPr>
            <a:r>
              <a:rPr lang="en-US" b="1" dirty="0"/>
              <a:t>Primary goal: </a:t>
            </a:r>
            <a:r>
              <a:rPr lang="en-US" dirty="0"/>
              <a:t>Build a model that predicts star ratings from review text.</a:t>
            </a:r>
          </a:p>
          <a:p>
            <a:pPr marL="223802" indent="-223802" defTabSz="298402">
              <a:defRPr sz="1914"/>
            </a:pPr>
            <a:r>
              <a:rPr lang="en-US" b="1" dirty="0"/>
              <a:t>Secondary goals:</a:t>
            </a:r>
          </a:p>
          <a:p>
            <a:pPr marL="554544" lvl="1" indent="-223802" defTabSz="298402">
              <a:defRPr sz="1914"/>
            </a:pPr>
            <a:r>
              <a:rPr lang="en-US" dirty="0"/>
              <a:t>Compare feature extraction methods (n-grams, TF-IDF, embeddings).</a:t>
            </a:r>
          </a:p>
          <a:p>
            <a:pPr marL="554544" lvl="1" indent="-223802" defTabSz="298402">
              <a:defRPr sz="1914"/>
            </a:pPr>
            <a:r>
              <a:rPr lang="en-US" dirty="0"/>
              <a:t>Evaluate different model types (linear, tree-based, neural).</a:t>
            </a:r>
          </a:p>
          <a:p>
            <a:pPr marL="554544" lvl="1" indent="-223802" defTabSz="298402">
              <a:defRPr sz="1914"/>
            </a:pPr>
            <a:r>
              <a:rPr lang="en-US" dirty="0"/>
              <a:t>Address class imbalance and assess per-class performance.</a:t>
            </a:r>
          </a:p>
        </p:txBody>
      </p:sp>
      <p:pic>
        <p:nvPicPr>
          <p:cNvPr id="145" name="Screenshot 2025-10-13 at 7.39.23 PM.png" descr="Screenshot 2025-10-13 at 7.39.2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361" y="3588206"/>
            <a:ext cx="5266652" cy="2046526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ource: Yelp Dataset Challenge: Review Rating Prediction, Nabiha Asghar"/>
          <p:cNvSpPr txBox="1"/>
          <p:nvPr/>
        </p:nvSpPr>
        <p:spPr>
          <a:xfrm>
            <a:off x="1782613" y="5531750"/>
            <a:ext cx="559258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latin typeface="Adobe Caslon Pro"/>
                <a:ea typeface="Adobe Caslon Pro"/>
                <a:cs typeface="Adobe Caslon Pro"/>
                <a:sym typeface="Adobe Caslon Pro"/>
              </a:defRPr>
            </a:lvl1pPr>
          </a:lstStyle>
          <a:p>
            <a:r>
              <a:t>Source: Yelp Dataset Challenge: Review Rating Prediction, Nabiha Asghar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1" y="1330504"/>
            <a:ext cx="9144001" cy="5527496"/>
          </a:xfrm>
          <a:prstGeom prst="rect">
            <a:avLst/>
          </a:prstGeom>
          <a:solidFill>
            <a:srgbClr val="041E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/>
          <p:cNvSpPr/>
          <p:nvPr/>
        </p:nvSpPr>
        <p:spPr>
          <a:xfrm>
            <a:off x="-1" y="1266094"/>
            <a:ext cx="9144001" cy="64410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873074" y="3257342"/>
            <a:ext cx="4714518" cy="81589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200" b="0" i="1" kern="1200">
                <a:solidFill>
                  <a:srgbClr val="002D50"/>
                </a:solidFill>
                <a:latin typeface="Adobe Caslon Pro"/>
                <a:ea typeface="+mj-ea"/>
                <a:cs typeface="Adobe Caslon Pro"/>
              </a:defRPr>
            </a:lvl1pPr>
          </a:lstStyle>
          <a:p>
            <a:pPr algn="l"/>
            <a:r>
              <a:rPr lang="en-US" sz="4051" b="1" i="0" dirty="0">
                <a:solidFill>
                  <a:srgbClr val="BBBCBC"/>
                </a:solidFill>
                <a:latin typeface="Helvetica Neue"/>
                <a:cs typeface="Helvetica Neue"/>
              </a:rPr>
              <a:t>Project Phases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57" y="632673"/>
            <a:ext cx="3408883" cy="24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215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Phase 1: Data Preparation</a:t>
            </a:r>
            <a:endParaRPr dirty="0"/>
          </a:p>
        </p:txBody>
      </p:sp>
      <p:sp>
        <p:nvSpPr>
          <p:cNvPr id="1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20158" indent="-342900">
              <a:defRPr b="1"/>
            </a:pPr>
            <a:r>
              <a:rPr lang="en-US" b="1" dirty="0"/>
              <a:t>Dataset: </a:t>
            </a:r>
            <a:r>
              <a:rPr lang="en-US" b="0" dirty="0"/>
              <a:t>Yelp Open Dataset (subset: specific state restaurant reviews).</a:t>
            </a:r>
          </a:p>
          <a:p>
            <a:pPr marL="520158" indent="-342900">
              <a:defRPr b="1"/>
            </a:pPr>
            <a:r>
              <a:rPr lang="en-US" b="1" dirty="0"/>
              <a:t>Tasks:</a:t>
            </a:r>
          </a:p>
          <a:p>
            <a:pPr marL="850900" lvl="1" indent="-342900">
              <a:defRPr b="1"/>
            </a:pPr>
            <a:r>
              <a:rPr lang="en-US" b="0" dirty="0"/>
              <a:t>Filter restaurant reviews.</a:t>
            </a:r>
          </a:p>
          <a:p>
            <a:pPr marL="850900" lvl="1" indent="-342900">
              <a:defRPr b="1"/>
            </a:pPr>
            <a:r>
              <a:rPr lang="en-US" b="0" dirty="0"/>
              <a:t>Clean and normalize text (lowercasing, punctuation removal, stopword removal).</a:t>
            </a:r>
          </a:p>
          <a:p>
            <a:pPr marL="850900" lvl="1" indent="-342900">
              <a:defRPr b="1"/>
            </a:pPr>
            <a:r>
              <a:rPr lang="en-US" b="0" dirty="0"/>
              <a:t>Derive auxiliary features (e.g., review length, punctuation counts).</a:t>
            </a:r>
          </a:p>
          <a:p>
            <a:pPr marL="850900" lvl="1" indent="-342900">
              <a:defRPr b="1"/>
            </a:pPr>
            <a:r>
              <a:rPr lang="en-US" b="0" dirty="0"/>
              <a:t>Split data into training, validation, and test sets. (90% training, 10% test)</a:t>
            </a:r>
          </a:p>
          <a:p>
            <a:pPr marL="520158" indent="-342900">
              <a:defRPr b="1"/>
            </a:pPr>
            <a:r>
              <a:rPr lang="en-US" b="1" dirty="0"/>
              <a:t>Output: </a:t>
            </a:r>
            <a:r>
              <a:rPr lang="en-US" b="0" dirty="0"/>
              <a:t>Cleaned, balanced dataset ready for modeling.</a:t>
            </a:r>
            <a:endParaRPr b="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CDD4A-0F74-D3E4-9818-0B48C784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>
            <a:extLst>
              <a:ext uri="{FF2B5EF4-FFF2-40B4-BE49-F238E27FC236}">
                <a16:creationId xmlns:a16="http://schemas.microsoft.com/office/drawing/2014/main" id="{8D91CD25-82AB-F2AC-4870-EE875F02E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Phase 2: Feature Engineering</a:t>
            </a:r>
            <a:endParaRPr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8846BE61-0131-62AC-2296-F41C9267A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20158" indent="-342900">
              <a:defRPr b="1"/>
            </a:pPr>
            <a:r>
              <a:rPr lang="en-US" b="1" dirty="0"/>
              <a:t>Approaches:</a:t>
            </a:r>
          </a:p>
          <a:p>
            <a:pPr marL="850900" lvl="1" indent="-342900">
              <a:defRPr b="1"/>
            </a:pPr>
            <a:r>
              <a:rPr lang="en-US" b="0" dirty="0"/>
              <a:t>Bag-of-Words with TF-IDF (unigrams, bigrams, trigrams).</a:t>
            </a:r>
          </a:p>
          <a:p>
            <a:pPr marL="850900" lvl="1" indent="-342900">
              <a:defRPr b="1"/>
            </a:pPr>
            <a:r>
              <a:rPr lang="en-US" b="0" dirty="0"/>
              <a:t>Hashing Vectorizer for scalability.</a:t>
            </a:r>
          </a:p>
          <a:p>
            <a:pPr marL="850900" lvl="1" indent="-342900">
              <a:defRPr b="1"/>
            </a:pPr>
            <a:r>
              <a:rPr lang="en-US" b="0" dirty="0"/>
              <a:t>Dimensionality reduction (SVD/LSI).</a:t>
            </a:r>
          </a:p>
          <a:p>
            <a:pPr marL="850900" lvl="1" indent="-342900">
              <a:defRPr b="1"/>
            </a:pPr>
            <a:r>
              <a:rPr lang="en-US" b="0" dirty="0"/>
              <a:t>Contextual embeddings (BERT or similar).</a:t>
            </a:r>
          </a:p>
          <a:p>
            <a:pPr marL="520158" indent="-342900">
              <a:defRPr b="1"/>
            </a:pPr>
            <a:r>
              <a:rPr lang="en-US" b="1" dirty="0"/>
              <a:t>Optional features: </a:t>
            </a:r>
            <a:r>
              <a:rPr lang="en-US" b="0" dirty="0"/>
              <a:t>Sentiment scores, review metadata (“useful,” “cool” votes).</a:t>
            </a:r>
          </a:p>
          <a:p>
            <a:pPr marL="520158" indent="-342900">
              <a:defRPr b="1"/>
            </a:pPr>
            <a:r>
              <a:rPr lang="en-US" b="1" dirty="0"/>
              <a:t>Goal: </a:t>
            </a:r>
            <a:r>
              <a:rPr lang="en-US" b="0" dirty="0"/>
              <a:t>Identify which text representation captures rating-related patterns best.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5393385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D118-CF9E-47D3-AE30-AD11017F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>
            <a:extLst>
              <a:ext uri="{FF2B5EF4-FFF2-40B4-BE49-F238E27FC236}">
                <a16:creationId xmlns:a16="http://schemas.microsoft.com/office/drawing/2014/main" id="{51C8C4C2-2571-9311-A24A-50C7EFC2E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Phase 3: Modeling</a:t>
            </a:r>
            <a:endParaRPr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03EF0E8B-1582-8CD4-034B-1D16FC1AA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20158" indent="-342900">
              <a:defRPr b="1"/>
            </a:pPr>
            <a:r>
              <a:rPr lang="en-US" b="1" dirty="0"/>
              <a:t>Baseline models: </a:t>
            </a:r>
            <a:r>
              <a:rPr lang="en-US" b="0" dirty="0"/>
              <a:t>Logistic Regression, Naive Bayes, SVM.</a:t>
            </a:r>
          </a:p>
          <a:p>
            <a:pPr marL="520158" indent="-342900">
              <a:defRPr b="1"/>
            </a:pPr>
            <a:r>
              <a:rPr lang="en-US" b="1" dirty="0"/>
              <a:t>Advanced models: </a:t>
            </a:r>
            <a:r>
              <a:rPr lang="en-US" b="0" dirty="0"/>
              <a:t>Random Forest, Gradient Boosting, Neural Networks.</a:t>
            </a:r>
          </a:p>
          <a:p>
            <a:pPr marL="520158" indent="-342900">
              <a:defRPr b="1"/>
            </a:pPr>
            <a:r>
              <a:rPr lang="en-US" b="1" dirty="0"/>
              <a:t>Special approaches:</a:t>
            </a:r>
          </a:p>
          <a:p>
            <a:pPr marL="850900" lvl="1" indent="-342900">
              <a:defRPr b="1"/>
            </a:pPr>
            <a:r>
              <a:rPr lang="en-US" b="0" dirty="0"/>
              <a:t>Ordinal or regression-based models for ordered star ratings.</a:t>
            </a:r>
          </a:p>
          <a:p>
            <a:pPr marL="850900" lvl="1" indent="-342900">
              <a:defRPr b="1"/>
            </a:pPr>
            <a:r>
              <a:rPr lang="en-US" b="0" dirty="0"/>
              <a:t>Ensemble or stacked models to combine strengths.</a:t>
            </a:r>
          </a:p>
          <a:p>
            <a:pPr marL="520158" indent="-342900">
              <a:defRPr b="1"/>
            </a:pPr>
            <a:r>
              <a:rPr lang="en-US" b="1" dirty="0"/>
              <a:t>Goal:</a:t>
            </a:r>
            <a:r>
              <a:rPr lang="en-US" b="0" dirty="0"/>
              <a:t> Compare model families and select top performers.</a:t>
            </a: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14528741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64EB-F8BB-80D4-C789-1E91A9FA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>
            <a:extLst>
              <a:ext uri="{FF2B5EF4-FFF2-40B4-BE49-F238E27FC236}">
                <a16:creationId xmlns:a16="http://schemas.microsoft.com/office/drawing/2014/main" id="{306B92EF-1744-32D2-540C-78B60B9FA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Phase 4: Evaluation</a:t>
            </a:r>
            <a:endParaRPr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FC072D21-034A-0CA0-2E7C-7953E068F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20158" indent="-342900">
              <a:defRPr b="1"/>
            </a:pPr>
            <a:r>
              <a:rPr lang="en-US" b="1" dirty="0"/>
              <a:t>Validation:</a:t>
            </a:r>
            <a:r>
              <a:rPr lang="en-US" b="0" dirty="0"/>
              <a:t> k-fold cross-validation on training data.</a:t>
            </a:r>
          </a:p>
          <a:p>
            <a:pPr marL="520158" indent="-342900">
              <a:defRPr b="1"/>
            </a:pPr>
            <a:r>
              <a:rPr lang="en-US" b="1" dirty="0"/>
              <a:t>Metrics:</a:t>
            </a:r>
            <a:r>
              <a:rPr lang="en-US" b="0" dirty="0"/>
              <a:t> Accuracy, RMSE, and macro-F1; per-class recall for minority ratings.</a:t>
            </a:r>
          </a:p>
          <a:p>
            <a:pPr marL="520158" indent="-342900">
              <a:defRPr b="1"/>
            </a:pPr>
            <a:r>
              <a:rPr lang="en-US" b="1" dirty="0"/>
              <a:t>Analysis:</a:t>
            </a:r>
          </a:p>
          <a:p>
            <a:pPr marL="850900" lvl="1" indent="-342900">
              <a:defRPr b="1"/>
            </a:pPr>
            <a:r>
              <a:rPr lang="en-US" b="0" dirty="0"/>
              <a:t>Confusion matrix to diagnose class confusion.</a:t>
            </a:r>
          </a:p>
          <a:p>
            <a:pPr marL="850900" lvl="1" indent="-342900">
              <a:defRPr b="1"/>
            </a:pPr>
            <a:r>
              <a:rPr lang="en-US" b="0" dirty="0"/>
              <a:t>Feature importance or interpretability (keywords, SHAP values).</a:t>
            </a:r>
          </a:p>
          <a:p>
            <a:pPr marL="520158" indent="-342900">
              <a:defRPr b="1"/>
            </a:pPr>
            <a:r>
              <a:rPr lang="en-US" b="0" dirty="0"/>
              <a:t>Test performance on held-out data.</a:t>
            </a:r>
          </a:p>
        </p:txBody>
      </p:sp>
    </p:spTree>
    <p:extLst>
      <p:ext uri="{BB962C8B-B14F-4D97-AF65-F5344CB8AC3E}">
        <p14:creationId xmlns:p14="http://schemas.microsoft.com/office/powerpoint/2010/main" val="22811879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3293-7768-BAEA-3CC3-69B64CBB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>
            <a:extLst>
              <a:ext uri="{FF2B5EF4-FFF2-40B4-BE49-F238E27FC236}">
                <a16:creationId xmlns:a16="http://schemas.microsoft.com/office/drawing/2014/main" id="{3DB01079-9A1D-A2A9-1F4A-3C23D48B4F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Phase 5: Insights and Reporting</a:t>
            </a:r>
            <a:endParaRPr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B89F0ADB-F2D8-8742-7E74-564C0DF66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20158" indent="-342900">
              <a:defRPr b="1"/>
            </a:pPr>
            <a:r>
              <a:rPr lang="en-US" b="1" dirty="0"/>
              <a:t>Deliverables:</a:t>
            </a:r>
          </a:p>
          <a:p>
            <a:pPr marL="850900" lvl="1" indent="-342900">
              <a:defRPr b="1"/>
            </a:pPr>
            <a:r>
              <a:rPr lang="en-US" b="0" dirty="0"/>
              <a:t>Summary of best-performing model(s).</a:t>
            </a:r>
          </a:p>
          <a:p>
            <a:pPr marL="850900" lvl="1" indent="-342900">
              <a:defRPr b="1"/>
            </a:pPr>
            <a:r>
              <a:rPr lang="en-US" b="0" dirty="0"/>
              <a:t>Key drivers of star ratings (important words, features).</a:t>
            </a:r>
          </a:p>
          <a:p>
            <a:pPr marL="850900" lvl="1" indent="-342900">
              <a:defRPr b="1"/>
            </a:pPr>
            <a:r>
              <a:rPr lang="en-US" b="0" dirty="0"/>
              <a:t>Error analysis—where and why predictions fail.</a:t>
            </a:r>
          </a:p>
          <a:p>
            <a:pPr marL="520158" indent="-342900">
              <a:defRPr b="1"/>
            </a:pPr>
            <a:r>
              <a:rPr lang="en-US" b="1" dirty="0"/>
              <a:t>Expected findings:</a:t>
            </a:r>
          </a:p>
          <a:p>
            <a:pPr marL="850900" lvl="1" indent="-342900">
              <a:defRPr b="1"/>
            </a:pPr>
            <a:r>
              <a:rPr lang="en-US" b="0" dirty="0"/>
              <a:t>Contextual embeddings and ensembles outperform simple TF-IDF models.</a:t>
            </a:r>
          </a:p>
          <a:p>
            <a:pPr marL="850900" lvl="1" indent="-342900">
              <a:defRPr b="1"/>
            </a:pPr>
            <a:r>
              <a:rPr lang="en-US" b="0" dirty="0"/>
              <a:t>2- and 3-star reviews remain hardest to classify due to overlapping language.</a:t>
            </a:r>
          </a:p>
          <a:p>
            <a:pPr marL="520158" indent="-342900">
              <a:defRPr b="1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00359289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F37C-5DEF-D38B-73A7-90D26F03A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818B98-4D09-FC7E-5C33-36CC785A5312}"/>
              </a:ext>
            </a:extLst>
          </p:cNvPr>
          <p:cNvSpPr/>
          <p:nvPr/>
        </p:nvSpPr>
        <p:spPr>
          <a:xfrm>
            <a:off x="-1" y="1330504"/>
            <a:ext cx="9144001" cy="5527496"/>
          </a:xfrm>
          <a:prstGeom prst="rect">
            <a:avLst/>
          </a:prstGeom>
          <a:solidFill>
            <a:srgbClr val="041E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9B7ED-B119-4005-6FE8-39CD4C980B83}"/>
              </a:ext>
            </a:extLst>
          </p:cNvPr>
          <p:cNvSpPr/>
          <p:nvPr/>
        </p:nvSpPr>
        <p:spPr>
          <a:xfrm>
            <a:off x="-1" y="1266094"/>
            <a:ext cx="9144001" cy="64410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1E340458-F7F4-D853-BE4E-05E98B2989BD}"/>
              </a:ext>
            </a:extLst>
          </p:cNvPr>
          <p:cNvSpPr txBox="1">
            <a:spLocks/>
          </p:cNvSpPr>
          <p:nvPr/>
        </p:nvSpPr>
        <p:spPr>
          <a:xfrm>
            <a:off x="873074" y="3257342"/>
            <a:ext cx="5179996" cy="81589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200" b="0" i="1" kern="1200">
                <a:solidFill>
                  <a:srgbClr val="002D50"/>
                </a:solidFill>
                <a:latin typeface="Adobe Caslon Pro"/>
                <a:ea typeface="+mj-ea"/>
                <a:cs typeface="Adobe Caslon Pro"/>
              </a:defRPr>
            </a:lvl1pPr>
          </a:lstStyle>
          <a:p>
            <a:pPr algn="l"/>
            <a:r>
              <a:rPr lang="en-US" sz="4051" b="1" i="0" dirty="0">
                <a:solidFill>
                  <a:srgbClr val="BBBCBC"/>
                </a:solidFill>
                <a:latin typeface="Helvetica Neue"/>
                <a:cs typeface="Helvetica Neue"/>
              </a:rPr>
              <a:t>Expected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B0261C-4D84-128F-D147-4DD061EDA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757" y="632673"/>
            <a:ext cx="3408883" cy="24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120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2E2A-0607-4734-112C-E3C3ADFD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Mitigations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542F6-8108-EEA3-19F8-BD8CCC6D8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161B9-20B8-7C7F-22CE-ADCCFB7D9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14800" cy="39512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Class imbalance (4-5 stars dominate)</a:t>
            </a:r>
          </a:p>
          <a:p>
            <a:pPr>
              <a:lnSpc>
                <a:spcPct val="200000"/>
              </a:lnSpc>
            </a:pPr>
            <a:r>
              <a:rPr lang="en-US" dirty="0"/>
              <a:t>Overfitting on noisy text</a:t>
            </a:r>
          </a:p>
          <a:p>
            <a:pPr>
              <a:lnSpc>
                <a:spcPct val="200000"/>
              </a:lnSpc>
            </a:pPr>
            <a:r>
              <a:rPr lang="en-US" dirty="0"/>
              <a:t>Ambiguity in mid range ratings</a:t>
            </a:r>
          </a:p>
          <a:p>
            <a:pPr>
              <a:lnSpc>
                <a:spcPct val="200000"/>
              </a:lnSpc>
            </a:pPr>
            <a:r>
              <a:rPr lang="en-US" dirty="0"/>
              <a:t>Computational Limits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20C91-8599-3C72-E9D6-8E38E9B8D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Mitigations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01D81-4285-350B-A2E9-39710101975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Use class weighting or resampling</a:t>
            </a:r>
          </a:p>
          <a:p>
            <a:pPr>
              <a:lnSpc>
                <a:spcPct val="200000"/>
              </a:lnSpc>
            </a:pPr>
            <a:r>
              <a:rPr lang="en-US" dirty="0"/>
              <a:t>Cross-validation, regularization</a:t>
            </a:r>
          </a:p>
          <a:p>
            <a:pPr>
              <a:lnSpc>
                <a:spcPct val="200000"/>
              </a:lnSpc>
            </a:pPr>
            <a:r>
              <a:rPr lang="en-US" dirty="0"/>
              <a:t>Ambiguity in mid range ratings</a:t>
            </a:r>
          </a:p>
          <a:p>
            <a:pPr>
              <a:lnSpc>
                <a:spcPct val="200000"/>
              </a:lnSpc>
            </a:pPr>
            <a:r>
              <a:rPr lang="en-US" dirty="0"/>
              <a:t>Use sampling or efficient vectorizers</a:t>
            </a:r>
          </a:p>
        </p:txBody>
      </p:sp>
    </p:spTree>
    <p:extLst>
      <p:ext uri="{BB962C8B-B14F-4D97-AF65-F5344CB8AC3E}">
        <p14:creationId xmlns:p14="http://schemas.microsoft.com/office/powerpoint/2010/main" val="235241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iv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Expected Outcomes</a:t>
            </a:r>
            <a:endParaRPr dirty="0"/>
          </a:p>
        </p:txBody>
      </p:sp>
      <p:sp>
        <p:nvSpPr>
          <p:cNvPr id="152" name="Accurately predict a restaurant’s star rating (1–5) from review text alon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Working text-to-rating prediction model achieving ~60–70% accuracy.</a:t>
            </a:r>
          </a:p>
          <a:p>
            <a:pPr>
              <a:lnSpc>
                <a:spcPct val="200000"/>
              </a:lnSpc>
            </a:pPr>
            <a:r>
              <a:rPr lang="en-US" dirty="0"/>
              <a:t>Comparative evaluation of feature and model choices.</a:t>
            </a:r>
          </a:p>
          <a:p>
            <a:pPr>
              <a:lnSpc>
                <a:spcPct val="200000"/>
              </a:lnSpc>
            </a:pPr>
            <a:r>
              <a:rPr lang="en-US" dirty="0"/>
              <a:t>Actionable insights into textual patterns behind customer satisfaction.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497</Words>
  <Application>Microsoft Macintosh PowerPoint</Application>
  <PresentationFormat>On-screen Show (4:3)</PresentationFormat>
  <Paragraphs>70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55 Helvetica Roman</vt:lpstr>
      <vt:lpstr>Adobe Caslon Pro</vt:lpstr>
      <vt:lpstr>Arial</vt:lpstr>
      <vt:lpstr>Calibri</vt:lpstr>
      <vt:lpstr>Helvetica Neue</vt:lpstr>
      <vt:lpstr>Office Theme</vt:lpstr>
      <vt:lpstr>Yelp Dataset Sentiment Analysis</vt:lpstr>
      <vt:lpstr>Overview and Goals</vt:lpstr>
      <vt:lpstr>PowerPoint Presentation</vt:lpstr>
      <vt:lpstr>Phase 1: Data Preparation</vt:lpstr>
      <vt:lpstr>Phase 2: Feature Engineering</vt:lpstr>
      <vt:lpstr>Phase 3: Modeling</vt:lpstr>
      <vt:lpstr>Phase 4: Evaluation</vt:lpstr>
      <vt:lpstr>Phase 5: Insights and Reporting</vt:lpstr>
      <vt:lpstr>PowerPoint Presentation</vt:lpstr>
      <vt:lpstr>Risks and Mitigations</vt:lpstr>
      <vt:lpstr>Expected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Cole Hanrahan</cp:lastModifiedBy>
  <cp:revision>2</cp:revision>
  <dcterms:modified xsi:type="dcterms:W3CDTF">2025-10-24T15:15:29Z</dcterms:modified>
</cp:coreProperties>
</file>