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DD6"/>
          </a:solidFill>
        </a:fill>
      </a:tcStyle>
    </a:wholeTbl>
    <a:band2H>
      <a:tcTxStyle b="def" i="def"/>
      <a:tcStyle>
        <a:tcBdr/>
        <a:fill>
          <a:solidFill>
            <a:srgbClr val="E6E7EC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E0EC"/>
          </a:solidFill>
        </a:fill>
      </a:tcStyle>
    </a:wholeTbl>
    <a:band2H>
      <a:tcTxStyle b="def" i="def"/>
      <a:tcStyle>
        <a:tcBdr/>
        <a:fill>
          <a:solidFill>
            <a:srgbClr val="E6F0F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0CACB"/>
          </a:solidFill>
        </a:fill>
      </a:tcStyle>
    </a:wholeTbl>
    <a:band2H>
      <a:tcTxStyle b="def" i="def"/>
      <a:tcStyle>
        <a:tcBdr/>
        <a:fill>
          <a:solidFill>
            <a:srgbClr val="E9E6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8F44A2F1-9E1F-4B54-A3A2-5F16C0AD49E2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DD6"/>
          </a:solidFill>
        </a:fill>
      </a:tcStyle>
    </a:wholeTbl>
    <a:band2H>
      <a:tcTxStyle b="def" i="def"/>
      <a:tcStyle>
        <a:tcBdr/>
        <a:fill>
          <a:solidFill>
            <a:srgbClr val="E6E7EC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122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3" name="Shape 123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Text"/>
          <p:cNvSpPr txBox="1"/>
          <p:nvPr>
            <p:ph type="title"/>
          </p:nvPr>
        </p:nvSpPr>
        <p:spPr>
          <a:xfrm>
            <a:off x="427893" y="530103"/>
            <a:ext cx="5267658" cy="173195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5" name="Body Level One…"/>
          <p:cNvSpPr txBox="1"/>
          <p:nvPr>
            <p:ph type="body" sz="quarter" idx="1"/>
          </p:nvPr>
        </p:nvSpPr>
        <p:spPr>
          <a:xfrm>
            <a:off x="427896" y="2479367"/>
            <a:ext cx="5267655" cy="978610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b="1" sz="2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indent="0">
              <a:buSzTx/>
              <a:buFontTx/>
              <a:buNone/>
              <a:defRPr b="1" sz="2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indent="0">
              <a:buSzTx/>
              <a:buFontTx/>
              <a:buNone/>
              <a:defRPr b="1" sz="2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indent="0">
              <a:buSzTx/>
              <a:buFontTx/>
              <a:buNone/>
              <a:defRPr b="1" sz="2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indent="0">
              <a:buSzTx/>
              <a:buFontTx/>
              <a:buNone/>
              <a:defRPr b="1" sz="2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6" name="Slide Number"/>
          <p:cNvSpPr txBox="1"/>
          <p:nvPr>
            <p:ph type="sldNum" sz="quarter" idx="2"/>
          </p:nvPr>
        </p:nvSpPr>
        <p:spPr>
          <a:xfrm>
            <a:off x="427896" y="6210695"/>
            <a:ext cx="203020" cy="193037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4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Text"/>
          <p:cNvSpPr txBox="1"/>
          <p:nvPr>
            <p:ph type="title"/>
          </p:nvPr>
        </p:nvSpPr>
        <p:spPr>
          <a:xfrm>
            <a:off x="722312" y="4406905"/>
            <a:ext cx="7772401" cy="1362078"/>
          </a:xfrm>
          <a:prstGeom prst="rect">
            <a:avLst/>
          </a:prstGeom>
        </p:spPr>
        <p:txBody>
          <a:bodyPr/>
          <a:lstStyle>
            <a:lvl1pPr>
              <a:defRPr cap="all" sz="3000"/>
            </a:lvl1pPr>
          </a:lstStyle>
          <a:p>
            <a:pPr/>
            <a:r>
              <a:t>Title Text</a:t>
            </a:r>
          </a:p>
        </p:txBody>
      </p:sp>
      <p:sp>
        <p:nvSpPr>
          <p:cNvPr id="33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90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300"/>
              </a:spcBef>
              <a:buSzTx/>
              <a:buFontTx/>
              <a:buNone/>
              <a:defRPr sz="1500">
                <a:solidFill>
                  <a:srgbClr val="888888"/>
                </a:solidFill>
              </a:defRPr>
            </a:lvl1pPr>
            <a:lvl2pPr marL="0" indent="0">
              <a:spcBef>
                <a:spcPts val="300"/>
              </a:spcBef>
              <a:buSzTx/>
              <a:buFontTx/>
              <a:buNone/>
              <a:defRPr sz="1500">
                <a:solidFill>
                  <a:srgbClr val="888888"/>
                </a:solidFill>
              </a:defRPr>
            </a:lvl2pPr>
            <a:lvl3pPr marL="0" indent="0">
              <a:spcBef>
                <a:spcPts val="300"/>
              </a:spcBef>
              <a:buSzTx/>
              <a:buFontTx/>
              <a:buNone/>
              <a:defRPr sz="1500">
                <a:solidFill>
                  <a:srgbClr val="888888"/>
                </a:solidFill>
              </a:defRPr>
            </a:lvl3pPr>
            <a:lvl4pPr marL="0" indent="0">
              <a:spcBef>
                <a:spcPts val="300"/>
              </a:spcBef>
              <a:buSzTx/>
              <a:buFontTx/>
              <a:buNone/>
              <a:defRPr sz="1500">
                <a:solidFill>
                  <a:srgbClr val="888888"/>
                </a:solidFill>
              </a:defRPr>
            </a:lvl4pPr>
            <a:lvl5pPr marL="0" indent="0">
              <a:spcBef>
                <a:spcPts val="300"/>
              </a:spcBef>
              <a:buSzTx/>
              <a:buFontTx/>
              <a:buNone/>
              <a:defRPr sz="15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3"/>
          <p:cNvSpPr/>
          <p:nvPr/>
        </p:nvSpPr>
        <p:spPr>
          <a:xfrm>
            <a:off x="-1" y="6049340"/>
            <a:ext cx="9157815" cy="808661"/>
          </a:xfrm>
          <a:prstGeom prst="rect">
            <a:avLst/>
          </a:prstGeom>
          <a:solidFill>
            <a:srgbClr val="041E42"/>
          </a:solidFill>
          <a:ln>
            <a:solidFill>
              <a:srgbClr val="003A7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pic>
        <p:nvPicPr>
          <p:cNvPr id="42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31904" y="6371261"/>
            <a:ext cx="3067998" cy="223848"/>
          </a:xfrm>
          <a:prstGeom prst="rect">
            <a:avLst/>
          </a:prstGeom>
          <a:ln w="12700">
            <a:miter lim="400000"/>
          </a:ln>
        </p:spPr>
      </p:pic>
      <p:sp>
        <p:nvSpPr>
          <p:cNvPr id="43" name="Rectangle 6"/>
          <p:cNvSpPr/>
          <p:nvPr/>
        </p:nvSpPr>
        <p:spPr>
          <a:xfrm>
            <a:off x="-1" y="5956648"/>
            <a:ext cx="9144001" cy="92700"/>
          </a:xfrm>
          <a:prstGeom prst="rect">
            <a:avLst/>
          </a:prstGeom>
          <a:solidFill>
            <a:srgbClr val="BBBCB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44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xfrm>
            <a:off x="427896" y="6156905"/>
            <a:ext cx="203020" cy="193037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3"/>
          <p:cNvSpPr/>
          <p:nvPr/>
        </p:nvSpPr>
        <p:spPr>
          <a:xfrm>
            <a:off x="-1" y="6049340"/>
            <a:ext cx="9157815" cy="808661"/>
          </a:xfrm>
          <a:prstGeom prst="rect">
            <a:avLst/>
          </a:prstGeom>
          <a:solidFill>
            <a:srgbClr val="041E42"/>
          </a:solidFill>
          <a:ln>
            <a:solidFill>
              <a:srgbClr val="003A7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pic>
        <p:nvPicPr>
          <p:cNvPr id="53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31904" y="6371261"/>
            <a:ext cx="3067998" cy="223848"/>
          </a:xfrm>
          <a:prstGeom prst="rect">
            <a:avLst/>
          </a:prstGeom>
          <a:ln w="12700">
            <a:miter lim="400000"/>
          </a:ln>
        </p:spPr>
      </p:pic>
      <p:sp>
        <p:nvSpPr>
          <p:cNvPr id="54" name="Rectangle 6"/>
          <p:cNvSpPr/>
          <p:nvPr/>
        </p:nvSpPr>
        <p:spPr>
          <a:xfrm>
            <a:off x="-1" y="5956648"/>
            <a:ext cx="9144001" cy="92700"/>
          </a:xfrm>
          <a:prstGeom prst="rect">
            <a:avLst/>
          </a:prstGeom>
          <a:solidFill>
            <a:srgbClr val="BBBCB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55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6" name="Slide Number"/>
          <p:cNvSpPr txBox="1"/>
          <p:nvPr>
            <p:ph type="sldNum" sz="quarter" idx="2"/>
          </p:nvPr>
        </p:nvSpPr>
        <p:spPr>
          <a:xfrm>
            <a:off x="427896" y="6156905"/>
            <a:ext cx="203020" cy="193037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3"/>
          <p:cNvSpPr/>
          <p:nvPr/>
        </p:nvSpPr>
        <p:spPr>
          <a:xfrm>
            <a:off x="-1" y="6049340"/>
            <a:ext cx="9157815" cy="808661"/>
          </a:xfrm>
          <a:prstGeom prst="rect">
            <a:avLst/>
          </a:prstGeom>
          <a:solidFill>
            <a:srgbClr val="041E42"/>
          </a:solidFill>
          <a:ln>
            <a:solidFill>
              <a:srgbClr val="003A7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pic>
        <p:nvPicPr>
          <p:cNvPr id="64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31904" y="6371261"/>
            <a:ext cx="3067998" cy="223848"/>
          </a:xfrm>
          <a:prstGeom prst="rect">
            <a:avLst/>
          </a:prstGeom>
          <a:ln w="12700">
            <a:miter lim="400000"/>
          </a:ln>
        </p:spPr>
      </p:pic>
      <p:sp>
        <p:nvSpPr>
          <p:cNvPr id="65" name="Rectangle 6"/>
          <p:cNvSpPr/>
          <p:nvPr/>
        </p:nvSpPr>
        <p:spPr>
          <a:xfrm>
            <a:off x="-1" y="5956648"/>
            <a:ext cx="9144001" cy="92700"/>
          </a:xfrm>
          <a:prstGeom prst="rect">
            <a:avLst/>
          </a:prstGeom>
          <a:solidFill>
            <a:srgbClr val="BBBCB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6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7" name="Slide Number"/>
          <p:cNvSpPr txBox="1"/>
          <p:nvPr>
            <p:ph type="sldNum" sz="quarter" idx="2"/>
          </p:nvPr>
        </p:nvSpPr>
        <p:spPr>
          <a:xfrm>
            <a:off x="427896" y="6156905"/>
            <a:ext cx="203020" cy="193037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3"/>
          <p:cNvSpPr/>
          <p:nvPr/>
        </p:nvSpPr>
        <p:spPr>
          <a:xfrm>
            <a:off x="-1" y="6049340"/>
            <a:ext cx="9157815" cy="808661"/>
          </a:xfrm>
          <a:prstGeom prst="rect">
            <a:avLst/>
          </a:prstGeom>
          <a:solidFill>
            <a:srgbClr val="041E42"/>
          </a:solidFill>
          <a:ln>
            <a:solidFill>
              <a:srgbClr val="003A7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pic>
        <p:nvPicPr>
          <p:cNvPr id="75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31904" y="6371261"/>
            <a:ext cx="3067998" cy="223848"/>
          </a:xfrm>
          <a:prstGeom prst="rect">
            <a:avLst/>
          </a:prstGeom>
          <a:ln w="12700">
            <a:miter lim="400000"/>
          </a:ln>
        </p:spPr>
      </p:pic>
      <p:sp>
        <p:nvSpPr>
          <p:cNvPr id="76" name="Rectangle 6"/>
          <p:cNvSpPr/>
          <p:nvPr/>
        </p:nvSpPr>
        <p:spPr>
          <a:xfrm>
            <a:off x="-1" y="5956648"/>
            <a:ext cx="9144001" cy="92700"/>
          </a:xfrm>
          <a:prstGeom prst="rect">
            <a:avLst/>
          </a:prstGeom>
          <a:solidFill>
            <a:srgbClr val="BBBCB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77" name="Slide Number"/>
          <p:cNvSpPr txBox="1"/>
          <p:nvPr>
            <p:ph type="sldNum" sz="quarter" idx="2"/>
          </p:nvPr>
        </p:nvSpPr>
        <p:spPr>
          <a:xfrm>
            <a:off x="427896" y="6156905"/>
            <a:ext cx="203020" cy="193037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3"/>
          <p:cNvSpPr/>
          <p:nvPr/>
        </p:nvSpPr>
        <p:spPr>
          <a:xfrm>
            <a:off x="-1" y="6049340"/>
            <a:ext cx="9157815" cy="808661"/>
          </a:xfrm>
          <a:prstGeom prst="rect">
            <a:avLst/>
          </a:prstGeom>
          <a:solidFill>
            <a:srgbClr val="041E42"/>
          </a:solidFill>
          <a:ln>
            <a:solidFill>
              <a:srgbClr val="003A7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pic>
        <p:nvPicPr>
          <p:cNvPr id="85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31904" y="6371261"/>
            <a:ext cx="3067998" cy="223848"/>
          </a:xfrm>
          <a:prstGeom prst="rect">
            <a:avLst/>
          </a:prstGeom>
          <a:ln w="12700">
            <a:miter lim="400000"/>
          </a:ln>
        </p:spPr>
      </p:pic>
      <p:sp>
        <p:nvSpPr>
          <p:cNvPr id="86" name="Rectangle 6"/>
          <p:cNvSpPr/>
          <p:nvPr/>
        </p:nvSpPr>
        <p:spPr>
          <a:xfrm>
            <a:off x="-1" y="5956648"/>
            <a:ext cx="9144001" cy="92700"/>
          </a:xfrm>
          <a:prstGeom prst="rect">
            <a:avLst/>
          </a:prstGeom>
          <a:solidFill>
            <a:srgbClr val="BBBCB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87" name="Title Text"/>
          <p:cNvSpPr txBox="1"/>
          <p:nvPr>
            <p:ph type="title"/>
          </p:nvPr>
        </p:nvSpPr>
        <p:spPr>
          <a:xfrm>
            <a:off x="457203" y="273050"/>
            <a:ext cx="3008316" cy="1162050"/>
          </a:xfrm>
          <a:prstGeom prst="rect">
            <a:avLst/>
          </a:prstGeom>
        </p:spPr>
        <p:txBody>
          <a:bodyPr anchor="b"/>
          <a:lstStyle>
            <a:lvl1pPr>
              <a:defRPr sz="1500"/>
            </a:lvl1pPr>
          </a:lstStyle>
          <a:p>
            <a:pPr/>
            <a:r>
              <a:t>Title Text</a:t>
            </a:r>
          </a:p>
        </p:txBody>
      </p:sp>
      <p:sp>
        <p:nvSpPr>
          <p:cNvPr id="88" name="Body Level One…"/>
          <p:cNvSpPr txBox="1"/>
          <p:nvPr>
            <p:ph type="body" idx="1"/>
          </p:nvPr>
        </p:nvSpPr>
        <p:spPr>
          <a:xfrm>
            <a:off x="3575050" y="273056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9" name="Text Placeholder 3"/>
          <p:cNvSpPr/>
          <p:nvPr>
            <p:ph type="body" sz="half" idx="21"/>
          </p:nvPr>
        </p:nvSpPr>
        <p:spPr>
          <a:xfrm>
            <a:off x="457201" y="1435103"/>
            <a:ext cx="3008317" cy="469106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0" name="Slide Number"/>
          <p:cNvSpPr txBox="1"/>
          <p:nvPr>
            <p:ph type="sldNum" sz="quarter" idx="2"/>
          </p:nvPr>
        </p:nvSpPr>
        <p:spPr>
          <a:xfrm>
            <a:off x="427896" y="6156905"/>
            <a:ext cx="203020" cy="193037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Rectangle 3"/>
          <p:cNvSpPr/>
          <p:nvPr/>
        </p:nvSpPr>
        <p:spPr>
          <a:xfrm>
            <a:off x="-1" y="6049340"/>
            <a:ext cx="9157815" cy="808661"/>
          </a:xfrm>
          <a:prstGeom prst="rect">
            <a:avLst/>
          </a:prstGeom>
          <a:solidFill>
            <a:srgbClr val="041E42"/>
          </a:solidFill>
          <a:ln>
            <a:solidFill>
              <a:srgbClr val="003A7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pic>
        <p:nvPicPr>
          <p:cNvPr id="98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31904" y="6371261"/>
            <a:ext cx="3067998" cy="223848"/>
          </a:xfrm>
          <a:prstGeom prst="rect">
            <a:avLst/>
          </a:prstGeom>
          <a:ln w="12700">
            <a:miter lim="400000"/>
          </a:ln>
        </p:spPr>
      </p:pic>
      <p:sp>
        <p:nvSpPr>
          <p:cNvPr id="99" name="Rectangle 6"/>
          <p:cNvSpPr/>
          <p:nvPr/>
        </p:nvSpPr>
        <p:spPr>
          <a:xfrm>
            <a:off x="-1" y="5956648"/>
            <a:ext cx="9144001" cy="92700"/>
          </a:xfrm>
          <a:prstGeom prst="rect">
            <a:avLst/>
          </a:prstGeom>
          <a:solidFill>
            <a:srgbClr val="BBBCB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100" name="Title Text"/>
          <p:cNvSpPr txBox="1"/>
          <p:nvPr>
            <p:ph type="title"/>
          </p:nvPr>
        </p:nvSpPr>
        <p:spPr>
          <a:xfrm>
            <a:off x="1792288" y="4800600"/>
            <a:ext cx="5486403" cy="566738"/>
          </a:xfrm>
          <a:prstGeom prst="rect">
            <a:avLst/>
          </a:prstGeom>
        </p:spPr>
        <p:txBody>
          <a:bodyPr anchor="b"/>
          <a:lstStyle>
            <a:lvl1pPr>
              <a:defRPr sz="1500"/>
            </a:lvl1pPr>
          </a:lstStyle>
          <a:p>
            <a:pPr/>
            <a:r>
              <a:t>Title Text</a:t>
            </a:r>
          </a:p>
        </p:txBody>
      </p:sp>
      <p:sp>
        <p:nvSpPr>
          <p:cNvPr id="101" name="Picture Placeholder 2"/>
          <p:cNvSpPr/>
          <p:nvPr>
            <p:ph type="pic" sz="half" idx="21"/>
          </p:nvPr>
        </p:nvSpPr>
        <p:spPr>
          <a:xfrm>
            <a:off x="1792288" y="612775"/>
            <a:ext cx="5486403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02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3" cy="80486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00"/>
              </a:spcBef>
              <a:buSzTx/>
              <a:buFontTx/>
              <a:buNone/>
              <a:defRPr sz="1000"/>
            </a:lvl1pPr>
            <a:lvl2pPr marL="0" indent="0">
              <a:spcBef>
                <a:spcPts val="200"/>
              </a:spcBef>
              <a:buSzTx/>
              <a:buFontTx/>
              <a:buNone/>
              <a:defRPr sz="1000"/>
            </a:lvl2pPr>
            <a:lvl3pPr marL="0" indent="0">
              <a:spcBef>
                <a:spcPts val="200"/>
              </a:spcBef>
              <a:buSzTx/>
              <a:buFontTx/>
              <a:buNone/>
              <a:defRPr sz="1000"/>
            </a:lvl3pPr>
            <a:lvl4pPr marL="0" indent="0">
              <a:spcBef>
                <a:spcPts val="200"/>
              </a:spcBef>
              <a:buSzTx/>
              <a:buFontTx/>
              <a:buNone/>
              <a:defRPr sz="1000"/>
            </a:lvl4pPr>
            <a:lvl5pPr marL="0" indent="0">
              <a:spcBef>
                <a:spcPts val="200"/>
              </a:spcBef>
              <a:buSzTx/>
              <a:buFontTx/>
              <a:buNone/>
              <a:defRPr sz="10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3" name="Slide Number"/>
          <p:cNvSpPr txBox="1"/>
          <p:nvPr>
            <p:ph type="sldNum" sz="quarter" idx="2"/>
          </p:nvPr>
        </p:nvSpPr>
        <p:spPr>
          <a:xfrm>
            <a:off x="427896" y="6156905"/>
            <a:ext cx="203020" cy="193037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Rectangle 3"/>
          <p:cNvSpPr/>
          <p:nvPr/>
        </p:nvSpPr>
        <p:spPr>
          <a:xfrm>
            <a:off x="-1" y="6049340"/>
            <a:ext cx="9157815" cy="808661"/>
          </a:xfrm>
          <a:prstGeom prst="rect">
            <a:avLst/>
          </a:prstGeom>
          <a:solidFill>
            <a:srgbClr val="041E42"/>
          </a:solidFill>
          <a:ln>
            <a:solidFill>
              <a:srgbClr val="003A7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pic>
        <p:nvPicPr>
          <p:cNvPr id="111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31904" y="6371261"/>
            <a:ext cx="3067998" cy="223848"/>
          </a:xfrm>
          <a:prstGeom prst="rect">
            <a:avLst/>
          </a:prstGeom>
          <a:ln w="12700">
            <a:miter lim="400000"/>
          </a:ln>
        </p:spPr>
      </p:pic>
      <p:sp>
        <p:nvSpPr>
          <p:cNvPr id="112" name="Rectangle 6"/>
          <p:cNvSpPr/>
          <p:nvPr/>
        </p:nvSpPr>
        <p:spPr>
          <a:xfrm>
            <a:off x="-1" y="5956648"/>
            <a:ext cx="9144001" cy="92700"/>
          </a:xfrm>
          <a:prstGeom prst="rect">
            <a:avLst/>
          </a:prstGeom>
          <a:solidFill>
            <a:srgbClr val="BBBCB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113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14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b="1" sz="1800"/>
            </a:lvl1pPr>
            <a:lvl2pPr marL="0" indent="0">
              <a:buSzTx/>
              <a:buFontTx/>
              <a:buNone/>
              <a:defRPr b="1" sz="1800"/>
            </a:lvl2pPr>
            <a:lvl3pPr marL="0" indent="0">
              <a:buSzTx/>
              <a:buFontTx/>
              <a:buNone/>
              <a:defRPr b="1" sz="1800"/>
            </a:lvl3pPr>
            <a:lvl4pPr marL="0" indent="0">
              <a:buSzTx/>
              <a:buFontTx/>
              <a:buNone/>
              <a:defRPr b="1" sz="1800"/>
            </a:lvl4pPr>
            <a:lvl5pPr marL="0" indent="0">
              <a:buSzTx/>
              <a:buFontTx/>
              <a:buNone/>
              <a:defRPr b="1"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5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4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11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/>
          <p:nvPr/>
        </p:nvSpPr>
        <p:spPr>
          <a:xfrm>
            <a:off x="-1" y="6049340"/>
            <a:ext cx="9157815" cy="808661"/>
          </a:xfrm>
          <a:prstGeom prst="rect">
            <a:avLst/>
          </a:prstGeom>
          <a:solidFill>
            <a:srgbClr val="041E42"/>
          </a:solidFill>
          <a:ln>
            <a:solidFill>
              <a:srgbClr val="003A7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pic>
        <p:nvPicPr>
          <p:cNvPr id="3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31904" y="6371261"/>
            <a:ext cx="3067998" cy="223848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Rectangle 6"/>
          <p:cNvSpPr/>
          <p:nvPr/>
        </p:nvSpPr>
        <p:spPr>
          <a:xfrm>
            <a:off x="-1" y="5956648"/>
            <a:ext cx="9144001" cy="92700"/>
          </a:xfrm>
          <a:prstGeom prst="rect">
            <a:avLst/>
          </a:prstGeom>
          <a:solidFill>
            <a:srgbClr val="BBBCB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5" name="Title Text"/>
          <p:cNvSpPr txBox="1"/>
          <p:nvPr>
            <p:ph type="title"/>
          </p:nvPr>
        </p:nvSpPr>
        <p:spPr>
          <a:xfrm>
            <a:off x="213474" y="341767"/>
            <a:ext cx="8686428" cy="8789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6" name="Body Level One…"/>
          <p:cNvSpPr txBox="1"/>
          <p:nvPr>
            <p:ph type="body" idx="1"/>
          </p:nvPr>
        </p:nvSpPr>
        <p:spPr>
          <a:xfrm>
            <a:off x="213474" y="1338867"/>
            <a:ext cx="8686428" cy="4262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" name="Slide Number"/>
          <p:cNvSpPr txBox="1"/>
          <p:nvPr>
            <p:ph type="sldNum" sz="quarter" idx="2"/>
          </p:nvPr>
        </p:nvSpPr>
        <p:spPr>
          <a:xfrm>
            <a:off x="6553200" y="6259832"/>
            <a:ext cx="203020" cy="193037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>
              <a:defRPr sz="700">
                <a:solidFill>
                  <a:srgbClr val="FFFFFF"/>
                </a:solidFill>
                <a:latin typeface="55 Helvetica Roman"/>
                <a:ea typeface="55 Helvetica Roman"/>
                <a:cs typeface="55 Helvetica Roman"/>
                <a:sym typeface="55 Helvetica Roman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transition xmlns:p14="http://schemas.microsoft.com/office/powerpoint/2010/main" spd="med" advClick="1"/>
  <p:txStyles>
    <p:titleStyle>
      <a:lvl1pPr marL="0" marR="0" indent="0" algn="l" defTabSz="34299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700" u="none">
          <a:solidFill>
            <a:srgbClr val="002D5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0" marR="0" indent="0" algn="l" defTabSz="34299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700" u="none">
          <a:solidFill>
            <a:srgbClr val="002D5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0" marR="0" indent="0" algn="l" defTabSz="34299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700" u="none">
          <a:solidFill>
            <a:srgbClr val="002D5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0" marR="0" indent="0" algn="l" defTabSz="34299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700" u="none">
          <a:solidFill>
            <a:srgbClr val="002D5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0" marR="0" indent="0" algn="l" defTabSz="34299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700" u="none">
          <a:solidFill>
            <a:srgbClr val="002D5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0" marR="0" indent="0" algn="l" defTabSz="34299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700" u="none">
          <a:solidFill>
            <a:srgbClr val="002D5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0" marR="0" indent="0" algn="l" defTabSz="34299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700" u="none">
          <a:solidFill>
            <a:srgbClr val="002D5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0" marR="0" indent="0" algn="l" defTabSz="34299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700" u="none">
          <a:solidFill>
            <a:srgbClr val="002D5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0" marR="0" indent="0" algn="l" defTabSz="34299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700" u="none">
          <a:solidFill>
            <a:srgbClr val="002D5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titleStyle>
    <p:bodyStyle>
      <a:lvl1pPr marL="257242" marR="0" indent="-257242" algn="l" defTabSz="342991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Adobe Caslon Pro"/>
          <a:ea typeface="Adobe Caslon Pro"/>
          <a:cs typeface="Adobe Caslon Pro"/>
          <a:sym typeface="Adobe Caslon Pro"/>
        </a:defRPr>
      </a:lvl1pPr>
      <a:lvl2pPr marL="587984" marR="0" indent="-244994" algn="l" defTabSz="342991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2400" u="none">
          <a:solidFill>
            <a:srgbClr val="000000"/>
          </a:solidFill>
          <a:uFillTx/>
          <a:latin typeface="Adobe Caslon Pro"/>
          <a:ea typeface="Adobe Caslon Pro"/>
          <a:cs typeface="Adobe Caslon Pro"/>
          <a:sym typeface="Adobe Caslon Pro"/>
        </a:defRPr>
      </a:lvl2pPr>
      <a:lvl3pPr marL="914643" marR="0" indent="-228659" algn="l" defTabSz="342991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Adobe Caslon Pro"/>
          <a:ea typeface="Adobe Caslon Pro"/>
          <a:cs typeface="Adobe Caslon Pro"/>
          <a:sym typeface="Adobe Caslon Pro"/>
        </a:defRPr>
      </a:lvl3pPr>
      <a:lvl4pPr marL="1303365" marR="0" indent="-274391" algn="l" defTabSz="342991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2400" u="none">
          <a:solidFill>
            <a:srgbClr val="000000"/>
          </a:solidFill>
          <a:uFillTx/>
          <a:latin typeface="Adobe Caslon Pro"/>
          <a:ea typeface="Adobe Caslon Pro"/>
          <a:cs typeface="Adobe Caslon Pro"/>
          <a:sym typeface="Adobe Caslon Pro"/>
        </a:defRPr>
      </a:lvl4pPr>
      <a:lvl5pPr marL="1646358" marR="0" indent="-274391" algn="l" defTabSz="342991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2400" u="none">
          <a:solidFill>
            <a:srgbClr val="000000"/>
          </a:solidFill>
          <a:uFillTx/>
          <a:latin typeface="Adobe Caslon Pro"/>
          <a:ea typeface="Adobe Caslon Pro"/>
          <a:cs typeface="Adobe Caslon Pro"/>
          <a:sym typeface="Adobe Caslon Pro"/>
        </a:defRPr>
      </a:lvl5pPr>
      <a:lvl6pPr marL="1989350" marR="0" indent="-274391" algn="l" defTabSz="342991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Adobe Caslon Pro"/>
          <a:ea typeface="Adobe Caslon Pro"/>
          <a:cs typeface="Adobe Caslon Pro"/>
          <a:sym typeface="Adobe Caslon Pro"/>
        </a:defRPr>
      </a:lvl6pPr>
      <a:lvl7pPr marL="2332340" marR="0" indent="-274391" algn="l" defTabSz="342991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Adobe Caslon Pro"/>
          <a:ea typeface="Adobe Caslon Pro"/>
          <a:cs typeface="Adobe Caslon Pro"/>
          <a:sym typeface="Adobe Caslon Pro"/>
        </a:defRPr>
      </a:lvl7pPr>
      <a:lvl8pPr marL="2675333" marR="0" indent="-274391" algn="l" defTabSz="342991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Adobe Caslon Pro"/>
          <a:ea typeface="Adobe Caslon Pro"/>
          <a:cs typeface="Adobe Caslon Pro"/>
          <a:sym typeface="Adobe Caslon Pro"/>
        </a:defRPr>
      </a:lvl8pPr>
      <a:lvl9pPr marL="3018322" marR="0" indent="-274391" algn="l" defTabSz="342991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Adobe Caslon Pro"/>
          <a:ea typeface="Adobe Caslon Pro"/>
          <a:cs typeface="Adobe Caslon Pro"/>
          <a:sym typeface="Adobe Caslon Pro"/>
        </a:defRPr>
      </a:lvl9pPr>
    </p:bodyStyle>
    <p:otherStyle>
      <a:lvl1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55 Helvetica Roman"/>
        </a:defRPr>
      </a:lvl1pPr>
      <a:lvl2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55 Helvetica Roman"/>
        </a:defRPr>
      </a:lvl2pPr>
      <a:lvl3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55 Helvetica Roman"/>
        </a:defRPr>
      </a:lvl3pPr>
      <a:lvl4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55 Helvetica Roman"/>
        </a:defRPr>
      </a:lvl4pPr>
      <a:lvl5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55 Helvetica Roman"/>
        </a:defRPr>
      </a:lvl5pPr>
      <a:lvl6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55 Helvetica Roman"/>
        </a:defRPr>
      </a:lvl6pPr>
      <a:lvl7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55 Helvetica Roman"/>
        </a:defRPr>
      </a:lvl7pPr>
      <a:lvl8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55 Helvetica Roman"/>
        </a:defRPr>
      </a:lvl8pPr>
      <a:lvl9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55 Helvetica Roman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Rectangle 4"/>
          <p:cNvSpPr/>
          <p:nvPr/>
        </p:nvSpPr>
        <p:spPr>
          <a:xfrm>
            <a:off x="2" y="0"/>
            <a:ext cx="9151874" cy="6858000"/>
          </a:xfrm>
          <a:prstGeom prst="rect">
            <a:avLst/>
          </a:prstGeom>
          <a:solidFill>
            <a:srgbClr val="011B39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126" name="Title 5"/>
          <p:cNvSpPr txBox="1"/>
          <p:nvPr>
            <p:ph type="ctrTitle"/>
          </p:nvPr>
        </p:nvSpPr>
        <p:spPr>
          <a:xfrm>
            <a:off x="626683" y="1502819"/>
            <a:ext cx="8184810" cy="978699"/>
          </a:xfrm>
          <a:prstGeom prst="rect">
            <a:avLst/>
          </a:prstGeom>
        </p:spPr>
        <p:txBody>
          <a:bodyPr/>
          <a:lstStyle>
            <a:lvl1pPr>
              <a:defRPr sz="4000">
                <a:solidFill>
                  <a:srgbClr val="BBBCBC"/>
                </a:solidFill>
              </a:defRPr>
            </a:lvl1pPr>
          </a:lstStyle>
          <a:p>
            <a:pPr/>
            <a:r>
              <a:t>Yelp Dataset Sentiment Analysis</a:t>
            </a:r>
          </a:p>
        </p:txBody>
      </p:sp>
      <p:sp>
        <p:nvSpPr>
          <p:cNvPr id="127" name="Subtitle 6"/>
          <p:cNvSpPr txBox="1"/>
          <p:nvPr>
            <p:ph type="subTitle" sz="quarter" idx="1"/>
          </p:nvPr>
        </p:nvSpPr>
        <p:spPr>
          <a:xfrm>
            <a:off x="626683" y="2397727"/>
            <a:ext cx="3558234" cy="547976"/>
          </a:xfrm>
          <a:prstGeom prst="rect">
            <a:avLst/>
          </a:prstGeom>
        </p:spPr>
        <p:txBody>
          <a:bodyPr/>
          <a:lstStyle>
            <a:lvl1pPr>
              <a:spcBef>
                <a:spcPts val="400"/>
              </a:spcBef>
              <a:defRPr b="0" sz="18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Phase 2: Project Plan</a:t>
            </a:r>
          </a:p>
        </p:txBody>
      </p:sp>
      <p:pic>
        <p:nvPicPr>
          <p:cNvPr id="128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468898" y="4690386"/>
            <a:ext cx="2016791" cy="1422959"/>
          </a:xfrm>
          <a:prstGeom prst="rect">
            <a:avLst/>
          </a:prstGeom>
          <a:ln w="12700">
            <a:miter lim="400000"/>
          </a:ln>
        </p:spPr>
      </p:pic>
      <p:sp>
        <p:nvSpPr>
          <p:cNvPr id="129" name="Subtitle 6"/>
          <p:cNvSpPr txBox="1"/>
          <p:nvPr/>
        </p:nvSpPr>
        <p:spPr>
          <a:xfrm>
            <a:off x="672403" y="4372202"/>
            <a:ext cx="4131252" cy="14229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 defTabSz="342991">
              <a:lnSpc>
                <a:spcPct val="80000"/>
              </a:lnSpc>
              <a:spcBef>
                <a:spcPts val="200"/>
              </a:spcBef>
              <a:defRPr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Cole Hanrahan and Julia Sober</a:t>
            </a:r>
          </a:p>
          <a:p>
            <a:pPr defTabSz="342991">
              <a:lnSpc>
                <a:spcPct val="80000"/>
              </a:lnSpc>
              <a:spcBef>
                <a:spcPts val="200"/>
              </a:spcBef>
              <a:defRPr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COSC 5540</a:t>
            </a:r>
            <a:r>
              <a:rPr b="1">
                <a:latin typeface="Helvetica Neue"/>
                <a:ea typeface="Helvetica Neue"/>
                <a:cs typeface="Helvetica Neue"/>
                <a:sym typeface="Helvetica Neue"/>
              </a:rPr>
              <a:t> — </a:t>
            </a:r>
            <a:r>
              <a:t>Text Mining &amp; Analysis</a:t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  <a:p>
            <a:pPr defTabSz="342991">
              <a:lnSpc>
                <a:spcPct val="80000"/>
              </a:lnSpc>
              <a:spcBef>
                <a:spcPts val="200"/>
              </a:spcBef>
              <a:defRPr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Fall 2025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roject Motivation and Goal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Project Motivation and Goals</a:t>
            </a:r>
          </a:p>
        </p:txBody>
      </p:sp>
      <p:sp>
        <p:nvSpPr>
          <p:cNvPr id="132" name="Star ratings on Yelp reviews are widely used but can be subjective and inconsistent.…"/>
          <p:cNvSpPr txBox="1"/>
          <p:nvPr>
            <p:ph type="body" idx="1"/>
          </p:nvPr>
        </p:nvSpPr>
        <p:spPr>
          <a:xfrm>
            <a:off x="213474" y="1256420"/>
            <a:ext cx="8239262" cy="4345159"/>
          </a:xfrm>
          <a:prstGeom prst="rect">
            <a:avLst/>
          </a:prstGeom>
        </p:spPr>
        <p:txBody>
          <a:bodyPr/>
          <a:lstStyle/>
          <a:p>
            <a:pPr marL="216084" indent="-216084" defTabSz="288111">
              <a:spcBef>
                <a:spcPts val="400"/>
              </a:spcBef>
              <a:defRPr sz="2000"/>
            </a:pPr>
            <a:r>
              <a:t>Star ratings on Yelp reviews are widely used but can be subjective and inconsistent. </a:t>
            </a:r>
          </a:p>
          <a:p>
            <a:pPr marL="216084" indent="-216084" defTabSz="288111">
              <a:spcBef>
                <a:spcPts val="400"/>
              </a:spcBef>
              <a:defRPr sz="2000"/>
            </a:pPr>
            <a:r>
              <a:t>Predicting ratings from review text can help users gauge sentiment efficiently, businesses pinpoint improvement areas, and researchers better understand satisfaction drivers.</a:t>
            </a:r>
          </a:p>
          <a:p>
            <a:pPr marL="216084" indent="-216084" defTabSz="288111">
              <a:spcBef>
                <a:spcPts val="400"/>
              </a:spcBef>
              <a:defRPr b="1" sz="2000"/>
            </a:pPr>
            <a:r>
              <a:t>We are building on prior work in text-based sentiment and rating prediction, aiming to improve model performance and address gaps in contextual understanding and sentiment analysis.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Insights from Literature Review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Insights from Literature Review</a:t>
            </a:r>
          </a:p>
        </p:txBody>
      </p:sp>
      <p:sp>
        <p:nvSpPr>
          <p:cNvPr id="135" name="Sentiment classification (positive vs. negative) achieves high accuracy (around 90%), but predicting specific star ratings (1–5) is much harder, with accuracy between 60–65%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216084" indent="-216084" defTabSz="288111">
              <a:spcBef>
                <a:spcPts val="400"/>
              </a:spcBef>
              <a:defRPr sz="2000"/>
            </a:pPr>
            <a:r>
              <a:t>Sentiment classification (positive vs. negative) achieves high accuracy (around 90%), but predicting specific star ratings (1–5) is much harder, with accuracy between 60–65%.</a:t>
            </a:r>
          </a:p>
          <a:p>
            <a:pPr marL="216084" indent="-216084" defTabSz="288111">
              <a:spcBef>
                <a:spcPts val="400"/>
              </a:spcBef>
              <a:defRPr sz="2000"/>
            </a:pPr>
            <a:r>
              <a:t>Best traditional features are TF-IDF n-grams, and strong classical models include logistic regression and SVM.</a:t>
            </a:r>
          </a:p>
          <a:p>
            <a:pPr marL="216084" indent="-216084" defTabSz="288111">
              <a:spcBef>
                <a:spcPts val="400"/>
              </a:spcBef>
              <a:defRPr sz="2000"/>
            </a:pPr>
            <a:r>
              <a:t>Deep models like CNNs and BERT offer nuanced understanding but struggle particularly with middle (2–3 star) reviews due to ambiguity and class imbalance. </a:t>
            </a:r>
          </a:p>
          <a:p>
            <a:pPr marL="216084" indent="-216084" defTabSz="288111">
              <a:spcBef>
                <a:spcPts val="400"/>
              </a:spcBef>
              <a:defRPr sz="2000"/>
            </a:pPr>
            <a:r>
              <a:rPr b="1"/>
              <a:t>Key gaps:</a:t>
            </a:r>
            <a:r>
              <a:t> limited context understanding, dominance of 4/5-star reviews, and need for better model explainability.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Data Preparation"/>
          <p:cNvSpPr txBox="1"/>
          <p:nvPr>
            <p:ph type="title"/>
          </p:nvPr>
        </p:nvSpPr>
        <p:spPr>
          <a:xfrm>
            <a:off x="213474" y="341767"/>
            <a:ext cx="8686428" cy="878970"/>
          </a:xfrm>
          <a:prstGeom prst="rect">
            <a:avLst/>
          </a:prstGeom>
        </p:spPr>
        <p:txBody>
          <a:bodyPr/>
          <a:lstStyle/>
          <a:p>
            <a:pPr/>
            <a:r>
              <a:t>Data Preparation and Baselines</a:t>
            </a:r>
          </a:p>
        </p:txBody>
      </p:sp>
      <p:sp>
        <p:nvSpPr>
          <p:cNvPr id="138" name="Dataset: Yelp Open Dataset (subset: specific state restaurant reviews).…"/>
          <p:cNvSpPr txBox="1"/>
          <p:nvPr>
            <p:ph type="body" idx="1"/>
          </p:nvPr>
        </p:nvSpPr>
        <p:spPr>
          <a:xfrm>
            <a:off x="213473" y="1338867"/>
            <a:ext cx="8686429" cy="4262713"/>
          </a:xfrm>
          <a:prstGeom prst="rect">
            <a:avLst/>
          </a:prstGeom>
        </p:spPr>
        <p:txBody>
          <a:bodyPr/>
          <a:lstStyle/>
          <a:p>
            <a:pPr marL="488948" indent="-322324" defTabSz="322410">
              <a:lnSpc>
                <a:spcPct val="90000"/>
              </a:lnSpc>
              <a:spcBef>
                <a:spcPts val="400"/>
              </a:spcBef>
              <a:defRPr sz="2200"/>
            </a:pPr>
            <a:r>
              <a:t>Filtered Yelp restaurant reviews, normalized text (lowercasing, punctuation and stopword removal), and derived auxiliary features like review length.</a:t>
            </a:r>
          </a:p>
          <a:p>
            <a:pPr marL="488948" indent="-322324" defTabSz="322410">
              <a:lnSpc>
                <a:spcPct val="90000"/>
              </a:lnSpc>
              <a:spcBef>
                <a:spcPts val="400"/>
              </a:spcBef>
              <a:defRPr sz="2200"/>
            </a:pPr>
            <a:r>
              <a:t>Output: cleaned, balanced dataset ready for modeling and performance benchmarking.</a:t>
            </a:r>
          </a:p>
          <a:p>
            <a:pPr marL="488948" indent="-322324" defTabSz="322410">
              <a:lnSpc>
                <a:spcPct val="90000"/>
              </a:lnSpc>
              <a:spcBef>
                <a:spcPts val="400"/>
              </a:spcBef>
              <a:defRPr sz="2200"/>
            </a:pPr>
            <a:r>
              <a:t>Built baselines with TF-IDF features and classic models (Logistic Regression, Naive Bayes, SVM, Random Forest, Ordinal Logistic Regression).</a:t>
            </a:r>
          </a:p>
          <a:p>
            <a:pPr lvl="1" marL="799844" indent="-322324" defTabSz="322410">
              <a:lnSpc>
                <a:spcPct val="90000"/>
              </a:lnSpc>
              <a:spcBef>
                <a:spcPts val="400"/>
              </a:spcBef>
              <a:buChar char="•"/>
              <a:defRPr sz="2200"/>
            </a:pPr>
            <a:r>
              <a:t>“Binary” = positive/negative/neutral</a:t>
            </a:r>
          </a:p>
          <a:p>
            <a:pPr lvl="1" marL="799844" indent="-322324" defTabSz="322410">
              <a:lnSpc>
                <a:spcPct val="90000"/>
              </a:lnSpc>
              <a:spcBef>
                <a:spcPts val="400"/>
              </a:spcBef>
              <a:buChar char="•"/>
              <a:defRPr sz="2200"/>
            </a:pPr>
            <a:r>
              <a:t>1-5 RRP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Baseline Results (subsample n=500,000)…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Baseline Results </a:t>
            </a:r>
            <a:r>
              <a:rPr sz="1500"/>
              <a:t>(subsample n=500,000)</a:t>
            </a:r>
            <a:endParaRPr sz="1500"/>
          </a:p>
          <a:p>
            <a:pPr>
              <a:defRPr sz="1600"/>
            </a:pPr>
            <a:r>
              <a:t>Features = Unigram + Bigram + TF_IDF w/ max_features = 10,000</a:t>
            </a:r>
          </a:p>
        </p:txBody>
      </p:sp>
      <p:graphicFrame>
        <p:nvGraphicFramePr>
          <p:cNvPr id="141" name="Table 2"/>
          <p:cNvGraphicFramePr/>
          <p:nvPr/>
        </p:nvGraphicFramePr>
        <p:xfrm>
          <a:off x="250233" y="1118449"/>
          <a:ext cx="8625610" cy="447570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2664599"/>
                <a:gridCol w="2745440"/>
                <a:gridCol w="1491620"/>
                <a:gridCol w="1711249"/>
              </a:tblGrid>
              <a:tr h="412101"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600">
                          <a:solidFill>
                            <a:srgbClr val="FFFFFF"/>
                          </a:solidFill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Model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600">
                          <a:solidFill>
                            <a:srgbClr val="FFFFFF"/>
                          </a:solidFill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Classification Type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600">
                          <a:solidFill>
                            <a:srgbClr val="FFFFFF"/>
                          </a:solidFill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Accuracy (%)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600">
                          <a:solidFill>
                            <a:srgbClr val="FFFFFF"/>
                          </a:solidFill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Macro-F1</a:t>
                      </a:r>
                    </a:p>
                  </a:txBody>
                  <a:tcPr marL="0" marR="0" marT="0" marB="0" anchor="t" anchorCtr="0" horzOverflow="overflow"/>
                </a:tc>
              </a:tr>
              <a:tr h="390844"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b="1"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Logistic Regression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1-5 RRP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b="1"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67.66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0.5969</a:t>
                      </a:r>
                    </a:p>
                  </a:txBody>
                  <a:tcPr marL="0" marR="0" marT="0" marB="0" anchor="ctr" anchorCtr="0" horzOverflow="overflow"/>
                </a:tc>
              </a:tr>
              <a:tr h="380559"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b="1"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Naive Bayes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1-5 RRP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64.15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0.5187</a:t>
                      </a:r>
                    </a:p>
                  </a:txBody>
                  <a:tcPr marL="0" marR="0" marT="0" marB="0" anchor="ctr" anchorCtr="0" horzOverflow="overflow"/>
                </a:tc>
              </a:tr>
              <a:tr h="380559"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b="1"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SVM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1-5 RRP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44.70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0.4147</a:t>
                      </a:r>
                    </a:p>
                  </a:txBody>
                  <a:tcPr marL="0" marR="0" marT="0" marB="0" anchor="ctr" anchorCtr="0" horzOverflow="overflow"/>
                </a:tc>
              </a:tr>
              <a:tr h="380559"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b="1"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Random Forest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1-5 RRP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51.96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0.2869</a:t>
                      </a:r>
                    </a:p>
                  </a:txBody>
                  <a:tcPr marL="0" marR="0" marT="0" marB="0" anchor="ctr" anchorCtr="0" horzOverflow="overflow"/>
                </a:tc>
              </a:tr>
              <a:tr h="390844"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b="1"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Ordinal Logistic Regression</a:t>
                      </a:r>
                    </a:p>
                  </a:txBody>
                  <a:tcPr marL="0" marR="0" marT="0" marB="0" anchor="ctr" anchorCtr="0" horzOverflow="overflow">
                    <a:lnB w="38100" cap="rnd">
                      <a:solidFill>
                        <a:schemeClr val="accent1">
                          <a:lumOff val="-4862"/>
                        </a:schemeClr>
                      </a:solidFill>
                      <a:custDash>
                        <a:ds d="100000" sp="200000"/>
                      </a:custDash>
                    </a:lnB>
                  </a:tcPr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1-5 RRP</a:t>
                      </a:r>
                    </a:p>
                  </a:txBody>
                  <a:tcPr marL="0" marR="0" marT="0" marB="0" anchor="ctr" anchorCtr="0" horzOverflow="overflow">
                    <a:lnB w="38100" cap="rnd">
                      <a:solidFill>
                        <a:schemeClr val="accent1">
                          <a:lumOff val="-4862"/>
                        </a:schemeClr>
                      </a:solidFill>
                      <a:custDash>
                        <a:ds d="100000" sp="200000"/>
                      </a:custDash>
                    </a:lnB>
                  </a:tcPr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60.92</a:t>
                      </a:r>
                    </a:p>
                  </a:txBody>
                  <a:tcPr marL="0" marR="0" marT="0" marB="0" anchor="ctr" anchorCtr="0" horzOverflow="overflow">
                    <a:lnB w="38100" cap="rnd">
                      <a:solidFill>
                        <a:schemeClr val="accent1">
                          <a:lumOff val="-4862"/>
                        </a:schemeClr>
                      </a:solidFill>
                      <a:custDash>
                        <a:ds d="100000" sp="200000"/>
                      </a:custDash>
                    </a:lnB>
                  </a:tcPr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0.5268</a:t>
                      </a:r>
                    </a:p>
                  </a:txBody>
                  <a:tcPr marL="0" marR="0" marT="0" marB="0" anchor="ctr" anchorCtr="0" horzOverflow="overflow">
                    <a:lnB w="38100" cap="rnd">
                      <a:solidFill>
                        <a:schemeClr val="accent1">
                          <a:lumOff val="-4862"/>
                        </a:schemeClr>
                      </a:solidFill>
                      <a:custDash>
                        <a:ds d="100000" sp="200000"/>
                      </a:custDash>
                    </a:lnB>
                  </a:tcPr>
                </a:tc>
              </a:tr>
              <a:tr h="466957"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b="1"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Logistic Regression</a:t>
                      </a:r>
                    </a:p>
                  </a:txBody>
                  <a:tcPr marL="0" marR="0" marT="0" marB="0" anchor="ctr" anchorCtr="0" horzOverflow="overflow">
                    <a:lnT w="38100" cap="rnd">
                      <a:solidFill>
                        <a:schemeClr val="accent1">
                          <a:lumOff val="-4862"/>
                        </a:schemeClr>
                      </a:solidFill>
                      <a:custDash>
                        <a:ds d="100000" sp="200000"/>
                      </a:custDash>
                    </a:lnT>
                  </a:tcPr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Pos. / Neu. / Neg.</a:t>
                      </a:r>
                    </a:p>
                  </a:txBody>
                  <a:tcPr marL="0" marR="0" marT="0" marB="0" anchor="ctr" anchorCtr="0" horzOverflow="overflow">
                    <a:lnT w="38100" cap="rnd">
                      <a:solidFill>
                        <a:schemeClr val="accent1">
                          <a:lumOff val="-4862"/>
                        </a:schemeClr>
                      </a:solidFill>
                      <a:custDash>
                        <a:ds d="100000" sp="200000"/>
                      </a:custDash>
                    </a:lnT>
                  </a:tcPr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b="1"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87.43</a:t>
                      </a:r>
                    </a:p>
                  </a:txBody>
                  <a:tcPr marL="0" marR="0" marT="0" marB="0" anchor="ctr" anchorCtr="0" horzOverflow="overflow">
                    <a:lnT w="38100" cap="rnd">
                      <a:solidFill>
                        <a:schemeClr val="accent1">
                          <a:lumOff val="-4862"/>
                        </a:schemeClr>
                      </a:solidFill>
                      <a:custDash>
                        <a:ds d="100000" sp="200000"/>
                      </a:custDash>
                    </a:lnT>
                  </a:tcPr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0.7398</a:t>
                      </a:r>
                    </a:p>
                  </a:txBody>
                  <a:tcPr marL="0" marR="0" marT="0" marB="0" anchor="ctr" anchorCtr="0" horzOverflow="overflow">
                    <a:lnT w="38100" cap="rnd">
                      <a:solidFill>
                        <a:schemeClr val="accent1">
                          <a:lumOff val="-4862"/>
                        </a:schemeClr>
                      </a:solidFill>
                      <a:custDash>
                        <a:ds d="100000" sp="200000"/>
                      </a:custDash>
                    </a:lnT>
                  </a:tcPr>
                </a:tc>
              </a:tr>
              <a:tr h="454668"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b="1"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Naive Bayes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Pos. / Neu. / Neg.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84.45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0.6494</a:t>
                      </a:r>
                    </a:p>
                  </a:txBody>
                  <a:tcPr marL="0" marR="0" marT="0" marB="0" anchor="ctr" anchorCtr="0" horzOverflow="overflow"/>
                </a:tc>
              </a:tr>
              <a:tr h="454668"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b="1"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SVM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Pos. / Neu. / Neg.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60.63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0.5081</a:t>
                      </a:r>
                    </a:p>
                  </a:txBody>
                  <a:tcPr marL="0" marR="0" marT="0" marB="0" anchor="ctr" anchorCtr="0" horzOverflow="overflow"/>
                </a:tc>
              </a:tr>
              <a:tr h="454668"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b="1"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Random Forest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Pos. / Neu. / Neg.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75.83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0.4622</a:t>
                      </a:r>
                    </a:p>
                  </a:txBody>
                  <a:tcPr marL="0" marR="0" marT="0" marB="0" anchor="ctr" anchorCtr="0" horzOverflow="overflow"/>
                </a:tc>
              </a:tr>
              <a:tr h="454668"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b="1"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Ordinal Logistic Regression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Pos. / Neu. / Neg.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85.66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0.7133</a:t>
                      </a:r>
                    </a:p>
                  </a:txBody>
                  <a:tcPr marL="0" marR="0" marT="0" marB="0" anchor="ctr" anchorCtr="0" horzOverflow="overflow"/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What We Noticed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What We Noticed</a:t>
            </a:r>
          </a:p>
        </p:txBody>
      </p:sp>
      <p:sp>
        <p:nvSpPr>
          <p:cNvPr id="144" name="The Pattern: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241807" indent="-241807" defTabSz="322411">
              <a:spcBef>
                <a:spcPts val="400"/>
              </a:spcBef>
              <a:defRPr sz="2256"/>
            </a:pPr>
            <a:r>
              <a:t>The Pattern:</a:t>
            </a:r>
          </a:p>
          <a:p>
            <a:pPr lvl="1" marL="564218" indent="-241807" defTabSz="322411">
              <a:spcBef>
                <a:spcPts val="400"/>
              </a:spcBef>
              <a:buChar char="•"/>
              <a:defRPr sz="2256"/>
            </a:pPr>
            <a:r>
              <a:rPr b="1"/>
              <a:t>Positive vs Negative</a:t>
            </a:r>
            <a:r>
              <a:t> reviews are </a:t>
            </a:r>
            <a:r>
              <a:rPr i="1"/>
              <a:t>very easy</a:t>
            </a:r>
            <a:r>
              <a:t> to separate (97% accuracy when we took out 3 star ratings). </a:t>
            </a:r>
          </a:p>
          <a:p>
            <a:pPr lvl="1" marL="564218" indent="-241807" defTabSz="322411">
              <a:spcBef>
                <a:spcPts val="400"/>
              </a:spcBef>
              <a:buChar char="•"/>
              <a:defRPr sz="2256"/>
            </a:pPr>
            <a:r>
              <a:rPr b="1"/>
              <a:t>Neutral (3-star)</a:t>
            </a:r>
            <a:r>
              <a:t> reviews are </a:t>
            </a:r>
            <a:r>
              <a:rPr i="1"/>
              <a:t>ambiguous</a:t>
            </a:r>
            <a:r>
              <a:t> — they overlap lexically and sentiment-wise with both extremes. </a:t>
            </a:r>
          </a:p>
          <a:p>
            <a:pPr lvl="1" marL="564218" indent="-241807" defTabSz="322411">
              <a:spcBef>
                <a:spcPts val="400"/>
              </a:spcBef>
              <a:buChar char="•"/>
              <a:defRPr sz="2256"/>
            </a:pPr>
            <a:r>
              <a:t>The multi-class (1–5) setup suffers because 3-star reviews blur the boundaries. </a:t>
            </a:r>
          </a:p>
          <a:p>
            <a:pPr marL="241807" indent="-241807" defTabSz="322411">
              <a:spcBef>
                <a:spcPts val="400"/>
              </a:spcBef>
              <a:defRPr sz="2256"/>
            </a:pPr>
            <a:r>
              <a:t>The model can almost perfectly identify polarity, but it struggles to map polarity → precise star rating. </a:t>
            </a:r>
          </a:p>
          <a:p>
            <a:pPr marL="241807" indent="-241807" defTabSz="322411">
              <a:spcBef>
                <a:spcPts val="400"/>
              </a:spcBef>
              <a:defRPr sz="2256"/>
            </a:pPr>
            <a:r>
              <a:t>This means the information bottleneck isn’t “sentiment detection” — it’s “rating calibration.”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Experimental Test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Experimental Tests</a:t>
            </a:r>
          </a:p>
        </p:txBody>
      </p:sp>
      <p:sp>
        <p:nvSpPr>
          <p:cNvPr id="147" name="Layered/Hierarchical classifier…"/>
          <p:cNvSpPr txBox="1"/>
          <p:nvPr>
            <p:ph type="body" idx="1"/>
          </p:nvPr>
        </p:nvSpPr>
        <p:spPr>
          <a:xfrm>
            <a:off x="213474" y="940454"/>
            <a:ext cx="5457999" cy="4661125"/>
          </a:xfrm>
          <a:prstGeom prst="rect">
            <a:avLst/>
          </a:prstGeom>
        </p:spPr>
        <p:txBody>
          <a:bodyPr/>
          <a:lstStyle/>
          <a:p>
            <a:pPr marL="179671" indent="-179671" defTabSz="192074">
              <a:spcBef>
                <a:spcPts val="200"/>
              </a:spcBef>
              <a:buFontTx/>
              <a:buAutoNum type="arabicPeriod" startAt="1"/>
              <a:defRPr b="1" sz="1344"/>
            </a:pPr>
            <a:r>
              <a:t>Layered/Hierarchical classifier</a:t>
            </a:r>
          </a:p>
          <a:p>
            <a:pPr lvl="1" marL="348113" indent="-134753" defTabSz="192074">
              <a:spcBef>
                <a:spcPts val="200"/>
              </a:spcBef>
              <a:buFontTx/>
              <a:buChar char="•"/>
              <a:defRPr sz="1344"/>
            </a:pPr>
            <a:r>
              <a:t>TF-IDF + n-grams with Logistic Regression</a:t>
            </a:r>
          </a:p>
          <a:p>
            <a:pPr lvl="1" marL="336129" indent="-144055" defTabSz="192074">
              <a:spcBef>
                <a:spcPts val="200"/>
              </a:spcBef>
              <a:buChar char="•"/>
              <a:defRPr sz="1344"/>
            </a:pPr>
            <a:r>
              <a:t>Stage 1: Sentiment classification (negative/neutral/positive)</a:t>
            </a:r>
          </a:p>
          <a:p>
            <a:pPr lvl="1" marL="336129" indent="-144055" defTabSz="192074">
              <a:spcBef>
                <a:spcPts val="200"/>
              </a:spcBef>
              <a:buChar char="•"/>
              <a:defRPr sz="1344"/>
            </a:pPr>
            <a:r>
              <a:t>Stage 2a: Negative reviews → 1 vs 2 stars</a:t>
            </a:r>
          </a:p>
          <a:p>
            <a:pPr lvl="1" marL="336129" indent="-144055" defTabSz="192074">
              <a:spcBef>
                <a:spcPts val="200"/>
              </a:spcBef>
              <a:buChar char="•"/>
              <a:defRPr sz="1344"/>
            </a:pPr>
            <a:r>
              <a:t>Stage 2b: Positive reviews → 4 vs 5 stars</a:t>
            </a:r>
          </a:p>
          <a:p>
            <a:pPr lvl="1" marL="336129" indent="-144055" defTabSz="192074">
              <a:spcBef>
                <a:spcPts val="200"/>
              </a:spcBef>
              <a:buChar char="•"/>
              <a:defRPr sz="1344"/>
            </a:pPr>
            <a:r>
              <a:t>Neutral reviews → automatically assigned 3 stars</a:t>
            </a:r>
          </a:p>
          <a:p>
            <a:pPr lvl="1" marL="336129" indent="-144055" defTabSz="192074">
              <a:spcBef>
                <a:spcPts val="200"/>
              </a:spcBef>
              <a:buChar char="•"/>
              <a:defRPr sz="1344"/>
            </a:pPr>
            <a:r>
              <a:t>Slightly better than baseline in some classes, worse in others, but limited improvement overall (&lt; 0.02%)</a:t>
            </a:r>
          </a:p>
          <a:p>
            <a:pPr marL="179671" indent="-179671" defTabSz="192074">
              <a:spcBef>
                <a:spcPts val="200"/>
              </a:spcBef>
              <a:buFontTx/>
              <a:buAutoNum type="arabicPeriod" startAt="1"/>
              <a:defRPr b="1" sz="1344"/>
            </a:pPr>
            <a:r>
              <a:t>Layered classifier with soft probabilities</a:t>
            </a:r>
          </a:p>
          <a:p>
            <a:pPr lvl="1" marL="348113" indent="-134753" defTabSz="192074">
              <a:spcBef>
                <a:spcPts val="200"/>
              </a:spcBef>
              <a:buFontTx/>
              <a:buChar char="•"/>
              <a:defRPr sz="1344"/>
            </a:pPr>
            <a:r>
              <a:t>Passing probabilities from layer 1 classifier </a:t>
            </a:r>
          </a:p>
          <a:p>
            <a:pPr lvl="1" marL="348113" indent="-134753" defTabSz="192074">
              <a:spcBef>
                <a:spcPts val="200"/>
              </a:spcBef>
              <a:buFontTx/>
              <a:buChar char="•"/>
              <a:defRPr sz="1344"/>
            </a:pPr>
            <a:r>
              <a:t>Used pre-trained sentence embeddings (s-BERT) instead of TF-IDF</a:t>
            </a:r>
          </a:p>
          <a:p>
            <a:pPr lvl="1" marL="348113" indent="-134753" defTabSz="192074">
              <a:spcBef>
                <a:spcPts val="200"/>
              </a:spcBef>
              <a:buFontTx/>
              <a:buChar char="•"/>
              <a:defRPr sz="1344"/>
            </a:pPr>
            <a:r>
              <a:t>Worse accuracy for binary (layer 1) classifier than baseline</a:t>
            </a:r>
          </a:p>
          <a:p>
            <a:pPr lvl="1" marL="348113" indent="-134753" defTabSz="192074">
              <a:spcBef>
                <a:spcPts val="200"/>
              </a:spcBef>
              <a:buFontTx/>
              <a:buChar char="•"/>
              <a:defRPr sz="1344"/>
            </a:pPr>
            <a:r>
              <a:t>Layer 2 classifier ended up predicting dominant class (5-star) for every rating</a:t>
            </a:r>
          </a:p>
          <a:p>
            <a:pPr marL="179671" indent="-179671" defTabSz="192074">
              <a:spcBef>
                <a:spcPts val="200"/>
              </a:spcBef>
              <a:buFontTx/>
              <a:buAutoNum type="arabicPeriod" startAt="1"/>
              <a:defRPr b="1" sz="1344"/>
            </a:pPr>
            <a:r>
              <a:t>Simple MLP with sBERT</a:t>
            </a:r>
          </a:p>
          <a:p>
            <a:pPr lvl="1" marL="348113" indent="-134753" defTabSz="192074">
              <a:spcBef>
                <a:spcPts val="200"/>
              </a:spcBef>
              <a:buFontTx/>
              <a:buChar char="•"/>
              <a:defRPr sz="1344"/>
            </a:pPr>
            <a:r>
              <a:t>Adam optimizer, 100 epochs, 1 hidden layer (128), ReLU activation, batch size = 64 </a:t>
            </a:r>
          </a:p>
          <a:p>
            <a:pPr lvl="1" marL="348113" indent="-134753" defTabSz="192074">
              <a:spcBef>
                <a:spcPts val="200"/>
              </a:spcBef>
              <a:buFontTx/>
              <a:buChar char="•"/>
              <a:defRPr sz="1344"/>
            </a:pPr>
            <a:r>
              <a:t>62% test accuracy</a:t>
            </a:r>
          </a:p>
        </p:txBody>
      </p:sp>
      <p:pic>
        <p:nvPicPr>
          <p:cNvPr id="148" name="Screenshot 2025-11-07 at 11.38.22 AM.png" descr="Screenshot 2025-11-07 at 11.38.22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170589" y="242378"/>
            <a:ext cx="2390628" cy="3330941"/>
          </a:xfrm>
          <a:prstGeom prst="rect">
            <a:avLst/>
          </a:prstGeom>
          <a:ln w="12700">
            <a:miter lim="400000"/>
          </a:ln>
        </p:spPr>
      </p:pic>
      <p:pic>
        <p:nvPicPr>
          <p:cNvPr id="149" name="Screenshot 2025-11-09 at 2.17.41 PM.png" descr="Screenshot 2025-11-09 at 2.17.41 P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717613" y="3716442"/>
            <a:ext cx="3296579" cy="20970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Our Proposal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Our Proposal</a:t>
            </a:r>
          </a:p>
        </p:txBody>
      </p:sp>
      <p:sp>
        <p:nvSpPr>
          <p:cNvPr id="152" name="Best test accuracies: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Best test accuracies:</a:t>
            </a:r>
          </a:p>
          <a:p>
            <a:pPr lvl="1" marL="600232" indent="-257242">
              <a:buChar char="•"/>
            </a:pPr>
            <a:r>
              <a:t>Logistic Regression (Classifier) w/ TF-IDF &amp; n-grams =&gt; 67%</a:t>
            </a:r>
          </a:p>
          <a:p>
            <a:pPr lvl="1" marL="600232" indent="-257242">
              <a:buChar char="•"/>
            </a:pPr>
            <a:r>
              <a:t>Linear Regression (Regressor) w/ TF-IDF &amp; n-grams =&gt; 68% (rounding up to nearest star)</a:t>
            </a:r>
          </a:p>
          <a:p>
            <a:pPr/>
            <a:r>
              <a:t>These accuracies are already 5-7 percentage points better than all of the papers we read (we trained on more data than papers).</a:t>
            </a:r>
          </a:p>
          <a:p>
            <a:pPr/>
            <a:r>
              <a:t>We can potentially improve these results even more with hyperparameter tuning.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roject Statu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Project Status</a:t>
            </a:r>
          </a:p>
        </p:txBody>
      </p:sp>
      <p:sp>
        <p:nvSpPr>
          <p:cNvPr id="155" name="Already Completed…"/>
          <p:cNvSpPr txBox="1"/>
          <p:nvPr>
            <p:ph type="body" sz="quarter" idx="1"/>
          </p:nvPr>
        </p:nvSpPr>
        <p:spPr>
          <a:xfrm>
            <a:off x="416857" y="1074551"/>
            <a:ext cx="2513069" cy="4708898"/>
          </a:xfrm>
          <a:prstGeom prst="rect">
            <a:avLst/>
          </a:prstGeom>
        </p:spPr>
        <p:txBody>
          <a:bodyPr/>
          <a:lstStyle/>
          <a:p>
            <a:pPr marL="0" indent="0" algn="ctr" defTabSz="209224">
              <a:spcBef>
                <a:spcPts val="300"/>
              </a:spcBef>
              <a:buSzTx/>
              <a:buFontTx/>
              <a:buNone/>
              <a:defRPr b="1" sz="1830" u="sng"/>
            </a:pPr>
            <a:r>
              <a:t>Already Completed</a:t>
            </a:r>
          </a:p>
          <a:p>
            <a:pPr marL="156917" indent="-156917" defTabSz="209224">
              <a:spcBef>
                <a:spcPts val="300"/>
              </a:spcBef>
              <a:defRPr sz="1525"/>
            </a:pPr>
            <a:r>
              <a:t>Data collection/wrangling</a:t>
            </a:r>
          </a:p>
          <a:p>
            <a:pPr marL="156917" indent="-156917" defTabSz="209224">
              <a:spcBef>
                <a:spcPts val="300"/>
              </a:spcBef>
              <a:defRPr sz="1525"/>
            </a:pPr>
            <a:r>
              <a:t>Preprocessing</a:t>
            </a:r>
          </a:p>
          <a:p>
            <a:pPr marL="156917" indent="-156917" defTabSz="209224">
              <a:spcBef>
                <a:spcPts val="300"/>
              </a:spcBef>
              <a:defRPr sz="1525"/>
            </a:pPr>
            <a:r>
              <a:t>Model pipelines built + tested:</a:t>
            </a:r>
          </a:p>
          <a:p>
            <a:pPr lvl="1" marL="366141" indent="-156917" defTabSz="209224">
              <a:spcBef>
                <a:spcPts val="300"/>
              </a:spcBef>
              <a:buChar char="•"/>
              <a:defRPr sz="1525"/>
            </a:pPr>
            <a:r>
              <a:t>Baselines with TF-IDF</a:t>
            </a:r>
          </a:p>
          <a:p>
            <a:pPr lvl="1" marL="366141" indent="-156917" defTabSz="209224">
              <a:spcBef>
                <a:spcPts val="300"/>
              </a:spcBef>
              <a:buChar char="•"/>
              <a:defRPr sz="1525"/>
            </a:pPr>
            <a:r>
              <a:t>Baselines with embeddings</a:t>
            </a:r>
          </a:p>
          <a:p>
            <a:pPr lvl="1" marL="366141" indent="-156917" defTabSz="209224">
              <a:spcBef>
                <a:spcPts val="300"/>
              </a:spcBef>
              <a:buChar char="•"/>
              <a:defRPr sz="1525"/>
            </a:pPr>
            <a:r>
              <a:t>Layered classifier with TF-IDF</a:t>
            </a:r>
          </a:p>
          <a:p>
            <a:pPr lvl="1" marL="366141" indent="-156917" defTabSz="209224">
              <a:spcBef>
                <a:spcPts val="300"/>
              </a:spcBef>
              <a:buChar char="•"/>
              <a:defRPr sz="1525"/>
            </a:pPr>
            <a:r>
              <a:t>Layered classifier with embeddings + soft routing (probability-based)</a:t>
            </a:r>
          </a:p>
          <a:p>
            <a:pPr lvl="1" marL="366141" indent="-156917" defTabSz="209224">
              <a:spcBef>
                <a:spcPts val="300"/>
              </a:spcBef>
              <a:buChar char="•"/>
              <a:defRPr sz="1525"/>
            </a:pPr>
            <a:r>
              <a:t>Simple MLP + BERT (2 layers) </a:t>
            </a:r>
          </a:p>
          <a:p>
            <a:pPr lvl="1" marL="366141" indent="-156917" defTabSz="209224">
              <a:spcBef>
                <a:spcPts val="300"/>
              </a:spcBef>
              <a:buChar char="•"/>
              <a:defRPr sz="1525"/>
            </a:pPr>
            <a:r>
              <a:t>Regressors</a:t>
            </a:r>
          </a:p>
        </p:txBody>
      </p:sp>
      <p:sp>
        <p:nvSpPr>
          <p:cNvPr id="156" name="In Progress…"/>
          <p:cNvSpPr txBox="1"/>
          <p:nvPr/>
        </p:nvSpPr>
        <p:spPr>
          <a:xfrm>
            <a:off x="3389450" y="1100418"/>
            <a:ext cx="2513069" cy="45343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 algn="ctr" defTabSz="342991">
              <a:spcBef>
                <a:spcPts val="500"/>
              </a:spcBef>
              <a:defRPr b="1" u="sng">
                <a:latin typeface="Adobe Caslon Pro"/>
                <a:ea typeface="Adobe Caslon Pro"/>
                <a:cs typeface="Adobe Caslon Pro"/>
                <a:sym typeface="Adobe Caslon Pro"/>
              </a:defRPr>
            </a:pPr>
            <a:r>
              <a:t>In Progress</a:t>
            </a:r>
          </a:p>
          <a:p>
            <a:pPr marL="257241" indent="-257241" defTabSz="342991">
              <a:spcBef>
                <a:spcPts val="500"/>
              </a:spcBef>
              <a:buSzPct val="100000"/>
              <a:buFont typeface="Arial"/>
              <a:buChar char="•"/>
              <a:defRPr>
                <a:latin typeface="Adobe Caslon Pro"/>
                <a:ea typeface="Adobe Caslon Pro"/>
                <a:cs typeface="Adobe Caslon Pro"/>
                <a:sym typeface="Adobe Caslon Pro"/>
              </a:defRPr>
            </a:pPr>
            <a:r>
              <a:t>Evaluation &amp; comparison across all models </a:t>
            </a:r>
          </a:p>
          <a:p>
            <a:pPr marL="257241" indent="-257241" defTabSz="342991">
              <a:spcBef>
                <a:spcPts val="500"/>
              </a:spcBef>
              <a:buSzPct val="100000"/>
              <a:buFont typeface="Arial"/>
              <a:buChar char="•"/>
              <a:defRPr>
                <a:latin typeface="Adobe Caslon Pro"/>
                <a:ea typeface="Adobe Caslon Pro"/>
                <a:cs typeface="Adobe Caslon Pro"/>
                <a:sym typeface="Adobe Caslon Pro"/>
              </a:defRPr>
            </a:pPr>
            <a:r>
              <a:t>Hyperparameter tuning and model adjustments</a:t>
            </a:r>
          </a:p>
          <a:p>
            <a:pPr marL="257241" indent="-257241" defTabSz="342991">
              <a:spcBef>
                <a:spcPts val="500"/>
              </a:spcBef>
              <a:buSzPct val="100000"/>
              <a:buFont typeface="Arial"/>
              <a:buChar char="•"/>
              <a:defRPr>
                <a:latin typeface="Adobe Caslon Pro"/>
                <a:ea typeface="Adobe Caslon Pro"/>
                <a:cs typeface="Adobe Caslon Pro"/>
                <a:sym typeface="Adobe Caslon Pro"/>
              </a:defRPr>
            </a:pPr>
            <a:r>
              <a:t>Visualization of results (confusion matrices, metric tables)</a:t>
            </a:r>
          </a:p>
          <a:p>
            <a:pPr marL="257241" indent="-257241" defTabSz="342991">
              <a:spcBef>
                <a:spcPts val="500"/>
              </a:spcBef>
              <a:buSzPct val="100000"/>
              <a:buFont typeface="Arial"/>
              <a:buChar char="•"/>
              <a:defRPr>
                <a:latin typeface="Adobe Caslon Pro"/>
                <a:ea typeface="Adobe Caslon Pro"/>
                <a:cs typeface="Adobe Caslon Pro"/>
                <a:sym typeface="Adobe Caslon Pro"/>
              </a:defRPr>
            </a:pPr>
            <a:r>
              <a:t>Try additional extracted features</a:t>
            </a:r>
          </a:p>
        </p:txBody>
      </p:sp>
      <p:sp>
        <p:nvSpPr>
          <p:cNvPr id="157" name="Not Started…"/>
          <p:cNvSpPr txBox="1"/>
          <p:nvPr/>
        </p:nvSpPr>
        <p:spPr>
          <a:xfrm>
            <a:off x="6183450" y="1074551"/>
            <a:ext cx="2513069" cy="4560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 algn="ctr" defTabSz="342991">
              <a:spcBef>
                <a:spcPts val="500"/>
              </a:spcBef>
              <a:defRPr b="1" u="sng">
                <a:latin typeface="Adobe Caslon Pro"/>
                <a:ea typeface="Adobe Caslon Pro"/>
                <a:cs typeface="Adobe Caslon Pro"/>
                <a:sym typeface="Adobe Caslon Pro"/>
              </a:defRPr>
            </a:pPr>
            <a:r>
              <a:t>Not Started</a:t>
            </a:r>
          </a:p>
          <a:p>
            <a:pPr marL="257241" indent="-257241" defTabSz="342991">
              <a:spcBef>
                <a:spcPts val="500"/>
              </a:spcBef>
              <a:buSzPct val="100000"/>
              <a:buFont typeface="Arial"/>
              <a:buChar char="•"/>
              <a:defRPr>
                <a:latin typeface="Adobe Caslon Pro"/>
                <a:ea typeface="Adobe Caslon Pro"/>
                <a:cs typeface="Adobe Caslon Pro"/>
                <a:sym typeface="Adobe Caslon Pro"/>
              </a:defRPr>
            </a:pPr>
            <a:r>
              <a:t>Report + presentation slides</a:t>
            </a:r>
          </a:p>
          <a:p>
            <a:pPr marL="257241" indent="-257241" defTabSz="342991">
              <a:spcBef>
                <a:spcPts val="500"/>
              </a:spcBef>
              <a:buSzPct val="100000"/>
              <a:buFont typeface="Arial"/>
              <a:buChar char="•"/>
              <a:defRPr>
                <a:latin typeface="Adobe Caslon Pro"/>
                <a:ea typeface="Adobe Caslon Pro"/>
                <a:cs typeface="Adobe Caslon Pro"/>
                <a:sym typeface="Adobe Caslon Pro"/>
              </a:defRPr>
            </a:pPr>
            <a:r>
              <a:t>Additional analysis:</a:t>
            </a:r>
          </a:p>
          <a:p>
            <a:pPr lvl="1" marL="600231" indent="-257241" defTabSz="342991">
              <a:spcBef>
                <a:spcPts val="500"/>
              </a:spcBef>
              <a:buSzPct val="100000"/>
              <a:buFont typeface="Arial"/>
              <a:buChar char="•"/>
              <a:defRPr>
                <a:latin typeface="Adobe Caslon Pro"/>
                <a:ea typeface="Adobe Caslon Pro"/>
                <a:cs typeface="Adobe Caslon Pro"/>
                <a:sym typeface="Adobe Caslon Pro"/>
              </a:defRPr>
            </a:pPr>
            <a:r>
              <a:t>Per-class performance</a:t>
            </a:r>
          </a:p>
          <a:p>
            <a:pPr lvl="1" marL="600231" indent="-257241" defTabSz="342991">
              <a:spcBef>
                <a:spcPts val="500"/>
              </a:spcBef>
              <a:buSzPct val="100000"/>
              <a:buFont typeface="Arial"/>
              <a:buChar char="•"/>
              <a:defRPr>
                <a:latin typeface="Adobe Caslon Pro"/>
                <a:ea typeface="Adobe Caslon Pro"/>
                <a:cs typeface="Adobe Caslon Pro"/>
                <a:sym typeface="Adobe Caslon Pro"/>
              </a:defRPr>
            </a:pPr>
            <a:r>
              <a:t>Error analysis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3B7C"/>
      </a:accent1>
      <a:accent2>
        <a:srgbClr val="9CA09C"/>
      </a:accent2>
      <a:accent3>
        <a:srgbClr val="00A4CC"/>
      </a:accent3>
      <a:accent4>
        <a:srgbClr val="46A536"/>
      </a:accent4>
      <a:accent5>
        <a:srgbClr val="CD0032"/>
      </a:accent5>
      <a:accent6>
        <a:srgbClr val="580A1D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3B7C"/>
      </a:accent1>
      <a:accent2>
        <a:srgbClr val="9CA09C"/>
      </a:accent2>
      <a:accent3>
        <a:srgbClr val="00A4CC"/>
      </a:accent3>
      <a:accent4>
        <a:srgbClr val="46A536"/>
      </a:accent4>
      <a:accent5>
        <a:srgbClr val="CD0032"/>
      </a:accent5>
      <a:accent6>
        <a:srgbClr val="580A1D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