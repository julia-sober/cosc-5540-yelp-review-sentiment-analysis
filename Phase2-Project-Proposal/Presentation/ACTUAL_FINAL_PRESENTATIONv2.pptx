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9" r:id="rId2"/>
  </p:sldMasterIdLst>
  <p:notesMasterIdLst>
    <p:notesMasterId r:id="rId13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85" r:id="rId12"/>
  </p:sldIdLst>
  <p:sldSz cx="9144000" cy="6858000" type="screen4x3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DD6"/>
          </a:solidFill>
        </a:fill>
      </a:tcStyle>
    </a:wholeTbl>
    <a:band2H>
      <a:tcTxStyle/>
      <a:tcStyle>
        <a:tcBdr/>
        <a:fill>
          <a:solidFill>
            <a:srgbClr val="E6E7EC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E0EC"/>
          </a:solidFill>
        </a:fill>
      </a:tcStyle>
    </a:wholeTbl>
    <a:band2H>
      <a:tcTxStyle/>
      <a:tcStyle>
        <a:tcBdr/>
        <a:fill>
          <a:solidFill>
            <a:srgbClr val="E6F0F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0CACB"/>
          </a:solidFill>
        </a:fill>
      </a:tcStyle>
    </a:wholeTbl>
    <a:band2H>
      <a:tcTxStyle/>
      <a:tcStyle>
        <a:tcBdr/>
        <a:fill>
          <a:solidFill>
            <a:srgbClr val="E9E6E7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8F44A2F1-9E1F-4B54-A3A2-5F16C0AD49E2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DD6"/>
          </a:solidFill>
        </a:fill>
      </a:tcStyle>
    </a:wholeTbl>
    <a:band2H>
      <a:tcTxStyle/>
      <a:tcStyle>
        <a:tcBdr/>
        <a:fill>
          <a:solidFill>
            <a:srgbClr val="E6E7EC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19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Shape 122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23" name="Shape 123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j-lt"/>
        <a:ea typeface="+mj-ea"/>
        <a:cs typeface="+mj-cs"/>
        <a:sym typeface="Calibri"/>
      </a:defRPr>
    </a:lvl1pPr>
    <a:lvl2pPr indent="228600" defTabSz="457200" latinLnBrk="0">
      <a:defRPr sz="1200">
        <a:latin typeface="+mj-lt"/>
        <a:ea typeface="+mj-ea"/>
        <a:cs typeface="+mj-cs"/>
        <a:sym typeface="Calibri"/>
      </a:defRPr>
    </a:lvl2pPr>
    <a:lvl3pPr indent="457200" defTabSz="457200" latinLnBrk="0">
      <a:defRPr sz="1200">
        <a:latin typeface="+mj-lt"/>
        <a:ea typeface="+mj-ea"/>
        <a:cs typeface="+mj-cs"/>
        <a:sym typeface="Calibri"/>
      </a:defRPr>
    </a:lvl3pPr>
    <a:lvl4pPr indent="685800" defTabSz="457200" latinLnBrk="0">
      <a:defRPr sz="1200">
        <a:latin typeface="+mj-lt"/>
        <a:ea typeface="+mj-ea"/>
        <a:cs typeface="+mj-cs"/>
        <a:sym typeface="Calibri"/>
      </a:defRPr>
    </a:lvl4pPr>
    <a:lvl5pPr indent="914400" defTabSz="457200" latinLnBrk="0">
      <a:defRPr sz="1200">
        <a:latin typeface="+mj-lt"/>
        <a:ea typeface="+mj-ea"/>
        <a:cs typeface="+mj-cs"/>
        <a:sym typeface="Calibri"/>
      </a:defRPr>
    </a:lvl5pPr>
    <a:lvl6pPr indent="1143000" defTabSz="457200" latinLnBrk="0">
      <a:defRPr sz="1200">
        <a:latin typeface="+mj-lt"/>
        <a:ea typeface="+mj-ea"/>
        <a:cs typeface="+mj-cs"/>
        <a:sym typeface="Calibri"/>
      </a:defRPr>
    </a:lvl6pPr>
    <a:lvl7pPr indent="1371600" defTabSz="457200" latinLnBrk="0">
      <a:defRPr sz="1200">
        <a:latin typeface="+mj-lt"/>
        <a:ea typeface="+mj-ea"/>
        <a:cs typeface="+mj-cs"/>
        <a:sym typeface="Calibri"/>
      </a:defRPr>
    </a:lvl7pPr>
    <a:lvl8pPr indent="1600200" defTabSz="457200" latinLnBrk="0">
      <a:defRPr sz="1200">
        <a:latin typeface="+mj-lt"/>
        <a:ea typeface="+mj-ea"/>
        <a:cs typeface="+mj-cs"/>
        <a:sym typeface="Calibri"/>
      </a:defRPr>
    </a:lvl8pPr>
    <a:lvl9pPr indent="1828800" defTabSz="4572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Text"/>
          <p:cNvSpPr txBox="1">
            <a:spLocks noGrp="1"/>
          </p:cNvSpPr>
          <p:nvPr>
            <p:ph type="title"/>
          </p:nvPr>
        </p:nvSpPr>
        <p:spPr>
          <a:xfrm>
            <a:off x="427893" y="530103"/>
            <a:ext cx="5267658" cy="173195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15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427896" y="2479367"/>
            <a:ext cx="5267655" cy="978610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indent="0">
              <a:buSzTx/>
              <a:buFontTx/>
              <a:buNone/>
              <a:defRPr sz="2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indent="0">
              <a:buSzTx/>
              <a:buFontTx/>
              <a:buNone/>
              <a:defRPr sz="2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indent="0">
              <a:buSzTx/>
              <a:buFontTx/>
              <a:buNone/>
              <a:defRPr sz="2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indent="0">
              <a:buSzTx/>
              <a:buFontTx/>
              <a:buNone/>
              <a:defRPr sz="2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427896" y="6210695"/>
            <a:ext cx="203020" cy="193037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4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Text"/>
          <p:cNvSpPr txBox="1">
            <a:spLocks noGrp="1"/>
          </p:cNvSpPr>
          <p:nvPr>
            <p:ph type="title"/>
          </p:nvPr>
        </p:nvSpPr>
        <p:spPr>
          <a:xfrm>
            <a:off x="722312" y="4406905"/>
            <a:ext cx="7772401" cy="1362078"/>
          </a:xfrm>
          <a:prstGeom prst="rect">
            <a:avLst/>
          </a:prstGeom>
        </p:spPr>
        <p:txBody>
          <a:bodyPr/>
          <a:lstStyle>
            <a:lvl1pPr>
              <a:defRPr sz="3000" cap="all"/>
            </a:lvl1pPr>
          </a:lstStyle>
          <a:p>
            <a:r>
              <a:t>Title Text</a:t>
            </a:r>
          </a:p>
        </p:txBody>
      </p:sp>
      <p:sp>
        <p:nvSpPr>
          <p:cNvPr id="33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722312" y="2906713"/>
            <a:ext cx="7772401" cy="1500190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300"/>
              </a:spcBef>
              <a:buSzTx/>
              <a:buFontTx/>
              <a:buNone/>
              <a:defRPr sz="1500">
                <a:solidFill>
                  <a:srgbClr val="888888"/>
                </a:solidFill>
              </a:defRPr>
            </a:lvl1pPr>
            <a:lvl2pPr marL="0" indent="0">
              <a:spcBef>
                <a:spcPts val="300"/>
              </a:spcBef>
              <a:buSzTx/>
              <a:buFontTx/>
              <a:buNone/>
              <a:defRPr sz="1500">
                <a:solidFill>
                  <a:srgbClr val="888888"/>
                </a:solidFill>
              </a:defRPr>
            </a:lvl2pPr>
            <a:lvl3pPr marL="0" indent="0">
              <a:spcBef>
                <a:spcPts val="300"/>
              </a:spcBef>
              <a:buSzTx/>
              <a:buFontTx/>
              <a:buNone/>
              <a:defRPr sz="1500">
                <a:solidFill>
                  <a:srgbClr val="888888"/>
                </a:solidFill>
              </a:defRPr>
            </a:lvl3pPr>
            <a:lvl4pPr marL="0" indent="0">
              <a:spcBef>
                <a:spcPts val="300"/>
              </a:spcBef>
              <a:buSzTx/>
              <a:buFontTx/>
              <a:buNone/>
              <a:defRPr sz="1500">
                <a:solidFill>
                  <a:srgbClr val="888888"/>
                </a:solidFill>
              </a:defRPr>
            </a:lvl4pPr>
            <a:lvl5pPr marL="0" indent="0">
              <a:spcBef>
                <a:spcPts val="300"/>
              </a:spcBef>
              <a:buSzTx/>
              <a:buFontTx/>
              <a:buNone/>
              <a:defRPr sz="1500">
                <a:solidFill>
                  <a:srgbClr val="888888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3"/>
          <p:cNvSpPr/>
          <p:nvPr/>
        </p:nvSpPr>
        <p:spPr>
          <a:xfrm>
            <a:off x="-1" y="6049340"/>
            <a:ext cx="9157815" cy="808661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42" name="Picture 4" descr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1904" y="6371261"/>
            <a:ext cx="3067998" cy="223848"/>
          </a:xfrm>
          <a:prstGeom prst="rect">
            <a:avLst/>
          </a:prstGeom>
          <a:ln w="12700">
            <a:miter lim="400000"/>
          </a:ln>
        </p:spPr>
      </p:pic>
      <p:sp>
        <p:nvSpPr>
          <p:cNvPr id="43" name="Rectangle 6"/>
          <p:cNvSpPr/>
          <p:nvPr/>
        </p:nvSpPr>
        <p:spPr>
          <a:xfrm>
            <a:off x="-1" y="5956648"/>
            <a:ext cx="9144001" cy="92700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427896" y="6156905"/>
            <a:ext cx="203020" cy="193037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ctangle 3"/>
          <p:cNvSpPr/>
          <p:nvPr/>
        </p:nvSpPr>
        <p:spPr>
          <a:xfrm>
            <a:off x="-1" y="6049340"/>
            <a:ext cx="9157815" cy="808661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53" name="Picture 4" descr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1904" y="6371261"/>
            <a:ext cx="3067998" cy="223848"/>
          </a:xfrm>
          <a:prstGeom prst="rect">
            <a:avLst/>
          </a:prstGeom>
          <a:ln w="12700">
            <a:miter lim="400000"/>
          </a:ln>
        </p:spPr>
      </p:pic>
      <p:sp>
        <p:nvSpPr>
          <p:cNvPr id="54" name="Rectangle 6"/>
          <p:cNvSpPr/>
          <p:nvPr/>
        </p:nvSpPr>
        <p:spPr>
          <a:xfrm>
            <a:off x="-1" y="5956648"/>
            <a:ext cx="9144001" cy="92700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5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427896" y="6156905"/>
            <a:ext cx="203020" cy="193037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Rectangle 3"/>
          <p:cNvSpPr/>
          <p:nvPr/>
        </p:nvSpPr>
        <p:spPr>
          <a:xfrm>
            <a:off x="-1" y="6049340"/>
            <a:ext cx="9157815" cy="808661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64" name="Picture 4" descr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1904" y="6371261"/>
            <a:ext cx="3067998" cy="223848"/>
          </a:xfrm>
          <a:prstGeom prst="rect">
            <a:avLst/>
          </a:prstGeom>
          <a:ln w="12700">
            <a:miter lim="400000"/>
          </a:ln>
        </p:spPr>
      </p:pic>
      <p:sp>
        <p:nvSpPr>
          <p:cNvPr id="65" name="Rectangle 6"/>
          <p:cNvSpPr/>
          <p:nvPr/>
        </p:nvSpPr>
        <p:spPr>
          <a:xfrm>
            <a:off x="-1" y="5956648"/>
            <a:ext cx="9144001" cy="92700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427896" y="6156905"/>
            <a:ext cx="203020" cy="193037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angle 3"/>
          <p:cNvSpPr/>
          <p:nvPr/>
        </p:nvSpPr>
        <p:spPr>
          <a:xfrm>
            <a:off x="-1" y="6049340"/>
            <a:ext cx="9157815" cy="808661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75" name="Picture 4" descr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1904" y="6371261"/>
            <a:ext cx="3067998" cy="223848"/>
          </a:xfrm>
          <a:prstGeom prst="rect">
            <a:avLst/>
          </a:prstGeom>
          <a:ln w="12700">
            <a:miter lim="400000"/>
          </a:ln>
        </p:spPr>
      </p:pic>
      <p:sp>
        <p:nvSpPr>
          <p:cNvPr id="76" name="Rectangle 6"/>
          <p:cNvSpPr/>
          <p:nvPr/>
        </p:nvSpPr>
        <p:spPr>
          <a:xfrm>
            <a:off x="-1" y="5956648"/>
            <a:ext cx="9144001" cy="92700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7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427896" y="6156905"/>
            <a:ext cx="203020" cy="193037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Rectangle 3"/>
          <p:cNvSpPr/>
          <p:nvPr/>
        </p:nvSpPr>
        <p:spPr>
          <a:xfrm>
            <a:off x="-1" y="6049340"/>
            <a:ext cx="9157815" cy="808661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85" name="Picture 4" descr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1904" y="6371261"/>
            <a:ext cx="3067998" cy="223848"/>
          </a:xfrm>
          <a:prstGeom prst="rect">
            <a:avLst/>
          </a:prstGeom>
          <a:ln w="12700">
            <a:miter lim="400000"/>
          </a:ln>
        </p:spPr>
      </p:pic>
      <p:sp>
        <p:nvSpPr>
          <p:cNvPr id="86" name="Rectangle 6"/>
          <p:cNvSpPr/>
          <p:nvPr/>
        </p:nvSpPr>
        <p:spPr>
          <a:xfrm>
            <a:off x="-1" y="5956648"/>
            <a:ext cx="9144001" cy="92700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7" name="Title Text"/>
          <p:cNvSpPr txBox="1">
            <a:spLocks noGrp="1"/>
          </p:cNvSpPr>
          <p:nvPr>
            <p:ph type="title"/>
          </p:nvPr>
        </p:nvSpPr>
        <p:spPr>
          <a:xfrm>
            <a:off x="457203" y="273050"/>
            <a:ext cx="3008316" cy="1162050"/>
          </a:xfrm>
          <a:prstGeom prst="rect">
            <a:avLst/>
          </a:prstGeom>
        </p:spPr>
        <p:txBody>
          <a:bodyPr anchor="b"/>
          <a:lstStyle>
            <a:lvl1pPr>
              <a:defRPr sz="1500"/>
            </a:lvl1pPr>
          </a:lstStyle>
          <a:p>
            <a:r>
              <a:t>Title Text</a:t>
            </a:r>
          </a:p>
        </p:txBody>
      </p:sp>
      <p:sp>
        <p:nvSpPr>
          <p:cNvPr id="88" name="Body Level One…"/>
          <p:cNvSpPr txBox="1">
            <a:spLocks noGrp="1"/>
          </p:cNvSpPr>
          <p:nvPr>
            <p:ph type="body" idx="1"/>
          </p:nvPr>
        </p:nvSpPr>
        <p:spPr>
          <a:xfrm>
            <a:off x="3575050" y="273056"/>
            <a:ext cx="5111750" cy="5853113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9" name="Text Placeholder 3"/>
          <p:cNvSpPr>
            <a:spLocks noGrp="1"/>
          </p:cNvSpPr>
          <p:nvPr>
            <p:ph type="body" sz="half" idx="21"/>
          </p:nvPr>
        </p:nvSpPr>
        <p:spPr>
          <a:xfrm>
            <a:off x="457201" y="1435103"/>
            <a:ext cx="3008317" cy="4691063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9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427896" y="6156905"/>
            <a:ext cx="203020" cy="193037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angle 3"/>
          <p:cNvSpPr/>
          <p:nvPr/>
        </p:nvSpPr>
        <p:spPr>
          <a:xfrm>
            <a:off x="-1" y="6049340"/>
            <a:ext cx="9157815" cy="808661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98" name="Picture 4" descr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1904" y="6371261"/>
            <a:ext cx="3067998" cy="223848"/>
          </a:xfrm>
          <a:prstGeom prst="rect">
            <a:avLst/>
          </a:prstGeom>
          <a:ln w="12700">
            <a:miter lim="400000"/>
          </a:ln>
        </p:spPr>
      </p:pic>
      <p:sp>
        <p:nvSpPr>
          <p:cNvPr id="99" name="Rectangle 6"/>
          <p:cNvSpPr/>
          <p:nvPr/>
        </p:nvSpPr>
        <p:spPr>
          <a:xfrm>
            <a:off x="-1" y="5956648"/>
            <a:ext cx="9144001" cy="92700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" name="Title Text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3" cy="566738"/>
          </a:xfrm>
          <a:prstGeom prst="rect">
            <a:avLst/>
          </a:prstGeom>
        </p:spPr>
        <p:txBody>
          <a:bodyPr anchor="b"/>
          <a:lstStyle>
            <a:lvl1pPr>
              <a:defRPr sz="1500"/>
            </a:lvl1pPr>
          </a:lstStyle>
          <a:p>
            <a:r>
              <a:t>Title Text</a:t>
            </a:r>
          </a:p>
        </p:txBody>
      </p:sp>
      <p:sp>
        <p:nvSpPr>
          <p:cNvPr id="101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1792288" y="612775"/>
            <a:ext cx="5486403" cy="4114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0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792288" y="5367337"/>
            <a:ext cx="5486403" cy="80486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200"/>
              </a:spcBef>
              <a:buSzTx/>
              <a:buFontTx/>
              <a:buNone/>
              <a:defRPr sz="1000"/>
            </a:lvl1pPr>
            <a:lvl2pPr marL="0" indent="0">
              <a:spcBef>
                <a:spcPts val="200"/>
              </a:spcBef>
              <a:buSzTx/>
              <a:buFontTx/>
              <a:buNone/>
              <a:defRPr sz="1000"/>
            </a:lvl2pPr>
            <a:lvl3pPr marL="0" indent="0">
              <a:spcBef>
                <a:spcPts val="200"/>
              </a:spcBef>
              <a:buSzTx/>
              <a:buFontTx/>
              <a:buNone/>
              <a:defRPr sz="1000"/>
            </a:lvl3pPr>
            <a:lvl4pPr marL="0" indent="0">
              <a:spcBef>
                <a:spcPts val="200"/>
              </a:spcBef>
              <a:buSzTx/>
              <a:buFontTx/>
              <a:buNone/>
              <a:defRPr sz="1000"/>
            </a:lvl4pPr>
            <a:lvl5pPr marL="0" indent="0">
              <a:spcBef>
                <a:spcPts val="200"/>
              </a:spcBef>
              <a:buSzTx/>
              <a:buFontTx/>
              <a:buNone/>
              <a:defRPr sz="10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427896" y="6156905"/>
            <a:ext cx="203020" cy="193037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3"/>
          <p:cNvSpPr/>
          <p:nvPr/>
        </p:nvSpPr>
        <p:spPr>
          <a:xfrm>
            <a:off x="-1" y="6049340"/>
            <a:ext cx="9157815" cy="808661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11" name="Picture 4" descr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1904" y="6371261"/>
            <a:ext cx="3067998" cy="223848"/>
          </a:xfrm>
          <a:prstGeom prst="rect">
            <a:avLst/>
          </a:prstGeom>
          <a:ln w="12700">
            <a:miter lim="400000"/>
          </a:ln>
        </p:spPr>
      </p:pic>
      <p:sp>
        <p:nvSpPr>
          <p:cNvPr id="112" name="Rectangle 6"/>
          <p:cNvSpPr/>
          <p:nvPr/>
        </p:nvSpPr>
        <p:spPr>
          <a:xfrm>
            <a:off x="-1" y="5956648"/>
            <a:ext cx="9144001" cy="92700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3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1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1800" b="1"/>
            </a:lvl1pPr>
            <a:lvl2pPr marL="0" indent="0">
              <a:buSzTx/>
              <a:buFontTx/>
              <a:buNone/>
              <a:defRPr sz="1800" b="1"/>
            </a:lvl2pPr>
            <a:lvl3pPr marL="0" indent="0">
              <a:buSzTx/>
              <a:buFontTx/>
              <a:buNone/>
              <a:defRPr sz="1800" b="1"/>
            </a:lvl3pPr>
            <a:lvl4pPr marL="0" indent="0">
              <a:buSzTx/>
              <a:buFontTx/>
              <a:buNone/>
              <a:defRPr sz="1800" b="1"/>
            </a:lvl4pPr>
            <a:lvl5pPr marL="0" indent="0">
              <a:buSzTx/>
              <a:buFontTx/>
              <a:buNone/>
              <a:defRPr sz="1800" b="1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15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4645025" y="1535112"/>
            <a:ext cx="4041775" cy="639764"/>
          </a:xfrm>
          <a:prstGeom prst="rect">
            <a:avLst/>
          </a:prstGeom>
        </p:spPr>
        <p:txBody>
          <a:bodyPr anchor="b"/>
          <a:lstStyle/>
          <a:p>
            <a:endParaRPr/>
          </a:p>
        </p:txBody>
      </p:sp>
      <p:sp>
        <p:nvSpPr>
          <p:cNvPr id="11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7894" y="530103"/>
            <a:ext cx="5267656" cy="1731951"/>
          </a:xfrm>
        </p:spPr>
        <p:txBody>
          <a:bodyPr/>
          <a:lstStyle>
            <a:lvl1pPr algn="l">
              <a:defRPr b="1" i="0">
                <a:solidFill>
                  <a:schemeClr val="bg1"/>
                </a:solidFill>
                <a:latin typeface="Helvetica Neue"/>
                <a:cs typeface="Helvetica Neue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7896" y="2479367"/>
            <a:ext cx="5267655" cy="978607"/>
          </a:xfrm>
        </p:spPr>
        <p:txBody>
          <a:bodyPr>
            <a:normAutofit/>
          </a:bodyPr>
          <a:lstStyle>
            <a:lvl1pPr marL="0" indent="0" algn="l">
              <a:buNone/>
              <a:defRPr sz="2251" b="1" i="0">
                <a:solidFill>
                  <a:schemeClr val="bg1"/>
                </a:solidFill>
                <a:latin typeface="Helvetica Neue"/>
                <a:cs typeface="Helvetica Neue"/>
              </a:defRPr>
            </a:lvl1pPr>
            <a:lvl2pPr marL="3429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9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9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9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9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9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27896" y="6124651"/>
            <a:ext cx="393097" cy="365125"/>
          </a:xfrm>
        </p:spPr>
        <p:txBody>
          <a:bodyPr/>
          <a:lstStyle/>
          <a:p>
            <a:fld id="{A11F1ED6-03CA-FF41-BAAB-392506A14B1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056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040823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6"/>
            <a:ext cx="7772400" cy="1362075"/>
          </a:xfrm>
        </p:spPr>
        <p:txBody>
          <a:bodyPr anchor="t"/>
          <a:lstStyle>
            <a:lvl1pPr algn="l">
              <a:defRPr sz="3001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91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983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974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966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957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949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94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932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553053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1F1ED6-03CA-FF41-BAAB-392506A14B1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76131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1F1ED6-03CA-FF41-BAAB-392506A14B1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95013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6"/>
            <a:ext cx="4038600" cy="4525963"/>
          </a:xfrm>
        </p:spPr>
        <p:txBody>
          <a:bodyPr/>
          <a:lstStyle>
            <a:lvl1pPr>
              <a:defRPr sz="2101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6"/>
            <a:ext cx="4038600" cy="4525963"/>
          </a:xfrm>
        </p:spPr>
        <p:txBody>
          <a:bodyPr/>
          <a:lstStyle>
            <a:lvl1pPr>
              <a:defRPr sz="2101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356356"/>
            <a:ext cx="2133600" cy="365125"/>
          </a:xfrm>
          <a:prstGeom prst="rect">
            <a:avLst/>
          </a:prstGeom>
        </p:spPr>
        <p:txBody>
          <a:bodyPr/>
          <a:lstStyle/>
          <a:p>
            <a:fld id="{B86A9B72-EFE5-0C44-9856-127B83BB47D0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356356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1F1ED6-03CA-FF41-BAAB-392506A14B1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81711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91" indent="0">
              <a:buNone/>
              <a:defRPr sz="1500" b="1"/>
            </a:lvl2pPr>
            <a:lvl3pPr marL="685983" indent="0">
              <a:buNone/>
              <a:defRPr sz="1350" b="1"/>
            </a:lvl3pPr>
            <a:lvl4pPr marL="1028974" indent="0">
              <a:buNone/>
              <a:defRPr sz="1200" b="1"/>
            </a:lvl4pPr>
            <a:lvl5pPr marL="1371966" indent="0">
              <a:buNone/>
              <a:defRPr sz="1200" b="1"/>
            </a:lvl5pPr>
            <a:lvl6pPr marL="1714957" indent="0">
              <a:buNone/>
              <a:defRPr sz="1200" b="1"/>
            </a:lvl6pPr>
            <a:lvl7pPr marL="2057949" indent="0">
              <a:buNone/>
              <a:defRPr sz="1200" b="1"/>
            </a:lvl7pPr>
            <a:lvl8pPr marL="2400940" indent="0">
              <a:buNone/>
              <a:defRPr sz="1200" b="1"/>
            </a:lvl8pPr>
            <a:lvl9pPr marL="2743932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91" indent="0">
              <a:buNone/>
              <a:defRPr sz="1500" b="1"/>
            </a:lvl2pPr>
            <a:lvl3pPr marL="685983" indent="0">
              <a:buNone/>
              <a:defRPr sz="1350" b="1"/>
            </a:lvl3pPr>
            <a:lvl4pPr marL="1028974" indent="0">
              <a:buNone/>
              <a:defRPr sz="1200" b="1"/>
            </a:lvl4pPr>
            <a:lvl5pPr marL="1371966" indent="0">
              <a:buNone/>
              <a:defRPr sz="1200" b="1"/>
            </a:lvl5pPr>
            <a:lvl6pPr marL="1714957" indent="0">
              <a:buNone/>
              <a:defRPr sz="1200" b="1"/>
            </a:lvl6pPr>
            <a:lvl7pPr marL="2057949" indent="0">
              <a:buNone/>
              <a:defRPr sz="1200" b="1"/>
            </a:lvl7pPr>
            <a:lvl8pPr marL="2400940" indent="0">
              <a:buNone/>
              <a:defRPr sz="1200" b="1"/>
            </a:lvl8pPr>
            <a:lvl9pPr marL="2743932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6356356"/>
            <a:ext cx="2133600" cy="365125"/>
          </a:xfrm>
          <a:prstGeom prst="rect">
            <a:avLst/>
          </a:prstGeom>
        </p:spPr>
        <p:txBody>
          <a:bodyPr/>
          <a:lstStyle/>
          <a:p>
            <a:fld id="{B86A9B72-EFE5-0C44-9856-127B83BB47D0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6356356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1F1ED6-03CA-FF41-BAAB-392506A14B1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13644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6356356"/>
            <a:ext cx="2133600" cy="365125"/>
          </a:xfrm>
          <a:prstGeom prst="rect">
            <a:avLst/>
          </a:prstGeom>
        </p:spPr>
        <p:txBody>
          <a:bodyPr/>
          <a:lstStyle/>
          <a:p>
            <a:fld id="{B86A9B72-EFE5-0C44-9856-127B83BB47D0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6356356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1F1ED6-03CA-FF41-BAAB-392506A14B1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3456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6356356"/>
            <a:ext cx="2133600" cy="365125"/>
          </a:xfrm>
          <a:prstGeom prst="rect">
            <a:avLst/>
          </a:prstGeom>
        </p:spPr>
        <p:txBody>
          <a:bodyPr/>
          <a:lstStyle/>
          <a:p>
            <a:fld id="{B86A9B72-EFE5-0C44-9856-127B83BB47D0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6356356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1F1ED6-03CA-FF41-BAAB-392506A14B1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5196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3" y="273050"/>
            <a:ext cx="3008313" cy="1162050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6"/>
            <a:ext cx="5111750" cy="5853113"/>
          </a:xfrm>
        </p:spPr>
        <p:txBody>
          <a:bodyPr/>
          <a:lstStyle>
            <a:lvl1pPr>
              <a:defRPr sz="2401"/>
            </a:lvl1pPr>
            <a:lvl2pPr>
              <a:defRPr sz="2101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3" y="1435103"/>
            <a:ext cx="3008313" cy="4691063"/>
          </a:xfrm>
        </p:spPr>
        <p:txBody>
          <a:bodyPr/>
          <a:lstStyle>
            <a:lvl1pPr marL="0" indent="0">
              <a:buNone/>
              <a:defRPr sz="1050"/>
            </a:lvl1pPr>
            <a:lvl2pPr marL="342991" indent="0">
              <a:buNone/>
              <a:defRPr sz="900"/>
            </a:lvl2pPr>
            <a:lvl3pPr marL="685983" indent="0">
              <a:buNone/>
              <a:defRPr sz="750"/>
            </a:lvl3pPr>
            <a:lvl4pPr marL="1028974" indent="0">
              <a:buNone/>
              <a:defRPr sz="675"/>
            </a:lvl4pPr>
            <a:lvl5pPr marL="1371966" indent="0">
              <a:buNone/>
              <a:defRPr sz="675"/>
            </a:lvl5pPr>
            <a:lvl6pPr marL="1714957" indent="0">
              <a:buNone/>
              <a:defRPr sz="675"/>
            </a:lvl6pPr>
            <a:lvl7pPr marL="2057949" indent="0">
              <a:buNone/>
              <a:defRPr sz="675"/>
            </a:lvl7pPr>
            <a:lvl8pPr marL="2400940" indent="0">
              <a:buNone/>
              <a:defRPr sz="675"/>
            </a:lvl8pPr>
            <a:lvl9pPr marL="2743932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356356"/>
            <a:ext cx="2133600" cy="365125"/>
          </a:xfrm>
          <a:prstGeom prst="rect">
            <a:avLst/>
          </a:prstGeom>
        </p:spPr>
        <p:txBody>
          <a:bodyPr/>
          <a:lstStyle/>
          <a:p>
            <a:fld id="{B86A9B72-EFE5-0C44-9856-127B83BB47D0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356356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1F1ED6-03CA-FF41-BAAB-392506A14B1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6660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2401"/>
            </a:lvl1pPr>
            <a:lvl2pPr marL="342991" indent="0">
              <a:buNone/>
              <a:defRPr sz="2101"/>
            </a:lvl2pPr>
            <a:lvl3pPr marL="685983" indent="0">
              <a:buNone/>
              <a:defRPr sz="1800"/>
            </a:lvl3pPr>
            <a:lvl4pPr marL="1028974" indent="0">
              <a:buNone/>
              <a:defRPr sz="1500"/>
            </a:lvl4pPr>
            <a:lvl5pPr marL="1371966" indent="0">
              <a:buNone/>
              <a:defRPr sz="1500"/>
            </a:lvl5pPr>
            <a:lvl6pPr marL="1714957" indent="0">
              <a:buNone/>
              <a:defRPr sz="1500"/>
            </a:lvl6pPr>
            <a:lvl7pPr marL="2057949" indent="0">
              <a:buNone/>
              <a:defRPr sz="1500"/>
            </a:lvl7pPr>
            <a:lvl8pPr marL="2400940" indent="0">
              <a:buNone/>
              <a:defRPr sz="1500"/>
            </a:lvl8pPr>
            <a:lvl9pPr marL="2743932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050"/>
            </a:lvl1pPr>
            <a:lvl2pPr marL="342991" indent="0">
              <a:buNone/>
              <a:defRPr sz="900"/>
            </a:lvl2pPr>
            <a:lvl3pPr marL="685983" indent="0">
              <a:buNone/>
              <a:defRPr sz="750"/>
            </a:lvl3pPr>
            <a:lvl4pPr marL="1028974" indent="0">
              <a:buNone/>
              <a:defRPr sz="675"/>
            </a:lvl4pPr>
            <a:lvl5pPr marL="1371966" indent="0">
              <a:buNone/>
              <a:defRPr sz="675"/>
            </a:lvl5pPr>
            <a:lvl6pPr marL="1714957" indent="0">
              <a:buNone/>
              <a:defRPr sz="675"/>
            </a:lvl6pPr>
            <a:lvl7pPr marL="2057949" indent="0">
              <a:buNone/>
              <a:defRPr sz="675"/>
            </a:lvl7pPr>
            <a:lvl8pPr marL="2400940" indent="0">
              <a:buNone/>
              <a:defRPr sz="675"/>
            </a:lvl8pPr>
            <a:lvl9pPr marL="2743932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356356"/>
            <a:ext cx="2133600" cy="365125"/>
          </a:xfrm>
          <a:prstGeom prst="rect">
            <a:avLst/>
          </a:prstGeom>
        </p:spPr>
        <p:txBody>
          <a:bodyPr/>
          <a:lstStyle/>
          <a:p>
            <a:fld id="{B86A9B72-EFE5-0C44-9856-127B83BB47D0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356356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1F1ED6-03CA-FF41-BAAB-392506A14B1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79054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6"/>
            <a:ext cx="2133600" cy="365125"/>
          </a:xfrm>
          <a:prstGeom prst="rect">
            <a:avLst/>
          </a:prstGeom>
        </p:spPr>
        <p:txBody>
          <a:bodyPr/>
          <a:lstStyle/>
          <a:p>
            <a:fld id="{B86A9B72-EFE5-0C44-9856-127B83BB47D0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6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1F1ED6-03CA-FF41-BAAB-392506A14B1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37669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44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44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6"/>
            <a:ext cx="2133600" cy="365125"/>
          </a:xfrm>
          <a:prstGeom prst="rect">
            <a:avLst/>
          </a:prstGeom>
        </p:spPr>
        <p:txBody>
          <a:bodyPr/>
          <a:lstStyle/>
          <a:p>
            <a:fld id="{B86A9B72-EFE5-0C44-9856-127B83BB47D0}" type="datetimeFigureOut">
              <a:rPr lang="en-US" smtClean="0"/>
              <a:pPr/>
              <a:t>11/11/25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6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1F1ED6-03CA-FF41-BAAB-392506A14B1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53784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13" Type="http://schemas.openxmlformats.org/officeDocument/2006/relationships/slideLayout" Target="../slideLayouts/slideLayout23.xml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slideLayout" Target="../slideLayouts/slideLayout22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/>
          <p:nvPr/>
        </p:nvSpPr>
        <p:spPr>
          <a:xfrm>
            <a:off x="-1" y="6049340"/>
            <a:ext cx="9157815" cy="808661"/>
          </a:xfrm>
          <a:prstGeom prst="rect">
            <a:avLst/>
          </a:prstGeom>
          <a:solidFill>
            <a:srgbClr val="041E42"/>
          </a:solidFill>
          <a:ln>
            <a:solidFill>
              <a:srgbClr val="003A79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3" name="Picture 4" descr="Picture 4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31904" y="6371261"/>
            <a:ext cx="3067998" cy="223848"/>
          </a:xfrm>
          <a:prstGeom prst="rect">
            <a:avLst/>
          </a:prstGeom>
          <a:ln w="12700">
            <a:miter lim="400000"/>
          </a:ln>
        </p:spPr>
      </p:pic>
      <p:sp>
        <p:nvSpPr>
          <p:cNvPr id="4" name="Rectangle 6"/>
          <p:cNvSpPr/>
          <p:nvPr/>
        </p:nvSpPr>
        <p:spPr>
          <a:xfrm>
            <a:off x="-1" y="5956648"/>
            <a:ext cx="9144001" cy="92700"/>
          </a:xfrm>
          <a:prstGeom prst="rect">
            <a:avLst/>
          </a:prstGeom>
          <a:solidFill>
            <a:srgbClr val="BBBCBC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" name="Title Text"/>
          <p:cNvSpPr txBox="1">
            <a:spLocks noGrp="1"/>
          </p:cNvSpPr>
          <p:nvPr>
            <p:ph type="title"/>
          </p:nvPr>
        </p:nvSpPr>
        <p:spPr>
          <a:xfrm>
            <a:off x="213474" y="341767"/>
            <a:ext cx="8686428" cy="8789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Title Text</a:t>
            </a:r>
          </a:p>
        </p:txBody>
      </p:sp>
      <p:sp>
        <p:nvSpPr>
          <p:cNvPr id="6" name="Body Level One…"/>
          <p:cNvSpPr txBox="1">
            <a:spLocks noGrp="1"/>
          </p:cNvSpPr>
          <p:nvPr>
            <p:ph type="body" idx="1"/>
          </p:nvPr>
        </p:nvSpPr>
        <p:spPr>
          <a:xfrm>
            <a:off x="213474" y="1338867"/>
            <a:ext cx="8686428" cy="426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553200" y="6259832"/>
            <a:ext cx="203020" cy="19303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>
              <a:defRPr sz="700">
                <a:solidFill>
                  <a:srgbClr val="FFFFFF"/>
                </a:solidFill>
                <a:latin typeface="55 Helvetica Roman"/>
                <a:ea typeface="55 Helvetica Roman"/>
                <a:cs typeface="55 Helvetica Roman"/>
                <a:sym typeface="55 Helvetica Roman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ransition spd="med"/>
  <p:txStyles>
    <p:titleStyle>
      <a:lvl1pPr marL="0" marR="0" indent="0" algn="l" defTabSz="34299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700" b="1" i="0" u="none" strike="noStrike" cap="none" spc="0" baseline="0">
          <a:solidFill>
            <a:srgbClr val="002D50"/>
          </a:solidFill>
          <a:uFillTx/>
          <a:latin typeface="Helvetica Neue"/>
          <a:ea typeface="Helvetica Neue"/>
          <a:cs typeface="Helvetica Neue"/>
          <a:sym typeface="Helvetica Neue"/>
        </a:defRPr>
      </a:lvl1pPr>
      <a:lvl2pPr marL="0" marR="0" indent="0" algn="l" defTabSz="34299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700" b="1" i="0" u="none" strike="noStrike" cap="none" spc="0" baseline="0">
          <a:solidFill>
            <a:srgbClr val="002D50"/>
          </a:solidFill>
          <a:uFillTx/>
          <a:latin typeface="Helvetica Neue"/>
          <a:ea typeface="Helvetica Neue"/>
          <a:cs typeface="Helvetica Neue"/>
          <a:sym typeface="Helvetica Neue"/>
        </a:defRPr>
      </a:lvl2pPr>
      <a:lvl3pPr marL="0" marR="0" indent="0" algn="l" defTabSz="34299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700" b="1" i="0" u="none" strike="noStrike" cap="none" spc="0" baseline="0">
          <a:solidFill>
            <a:srgbClr val="002D50"/>
          </a:solidFill>
          <a:uFillTx/>
          <a:latin typeface="Helvetica Neue"/>
          <a:ea typeface="Helvetica Neue"/>
          <a:cs typeface="Helvetica Neue"/>
          <a:sym typeface="Helvetica Neue"/>
        </a:defRPr>
      </a:lvl3pPr>
      <a:lvl4pPr marL="0" marR="0" indent="0" algn="l" defTabSz="34299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700" b="1" i="0" u="none" strike="noStrike" cap="none" spc="0" baseline="0">
          <a:solidFill>
            <a:srgbClr val="002D50"/>
          </a:solidFill>
          <a:uFillTx/>
          <a:latin typeface="Helvetica Neue"/>
          <a:ea typeface="Helvetica Neue"/>
          <a:cs typeface="Helvetica Neue"/>
          <a:sym typeface="Helvetica Neue"/>
        </a:defRPr>
      </a:lvl4pPr>
      <a:lvl5pPr marL="0" marR="0" indent="0" algn="l" defTabSz="34299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700" b="1" i="0" u="none" strike="noStrike" cap="none" spc="0" baseline="0">
          <a:solidFill>
            <a:srgbClr val="002D50"/>
          </a:solidFill>
          <a:uFillTx/>
          <a:latin typeface="Helvetica Neue"/>
          <a:ea typeface="Helvetica Neue"/>
          <a:cs typeface="Helvetica Neue"/>
          <a:sym typeface="Helvetica Neue"/>
        </a:defRPr>
      </a:lvl5pPr>
      <a:lvl6pPr marL="0" marR="0" indent="0" algn="l" defTabSz="34299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700" b="1" i="0" u="none" strike="noStrike" cap="none" spc="0" baseline="0">
          <a:solidFill>
            <a:srgbClr val="002D50"/>
          </a:solidFill>
          <a:uFillTx/>
          <a:latin typeface="Helvetica Neue"/>
          <a:ea typeface="Helvetica Neue"/>
          <a:cs typeface="Helvetica Neue"/>
          <a:sym typeface="Helvetica Neue"/>
        </a:defRPr>
      </a:lvl6pPr>
      <a:lvl7pPr marL="0" marR="0" indent="0" algn="l" defTabSz="34299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700" b="1" i="0" u="none" strike="noStrike" cap="none" spc="0" baseline="0">
          <a:solidFill>
            <a:srgbClr val="002D50"/>
          </a:solidFill>
          <a:uFillTx/>
          <a:latin typeface="Helvetica Neue"/>
          <a:ea typeface="Helvetica Neue"/>
          <a:cs typeface="Helvetica Neue"/>
          <a:sym typeface="Helvetica Neue"/>
        </a:defRPr>
      </a:lvl7pPr>
      <a:lvl8pPr marL="0" marR="0" indent="0" algn="l" defTabSz="34299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700" b="1" i="0" u="none" strike="noStrike" cap="none" spc="0" baseline="0">
          <a:solidFill>
            <a:srgbClr val="002D50"/>
          </a:solidFill>
          <a:uFillTx/>
          <a:latin typeface="Helvetica Neue"/>
          <a:ea typeface="Helvetica Neue"/>
          <a:cs typeface="Helvetica Neue"/>
          <a:sym typeface="Helvetica Neue"/>
        </a:defRPr>
      </a:lvl8pPr>
      <a:lvl9pPr marL="0" marR="0" indent="0" algn="l" defTabSz="34299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700" b="1" i="0" u="none" strike="noStrike" cap="none" spc="0" baseline="0">
          <a:solidFill>
            <a:srgbClr val="002D50"/>
          </a:solidFill>
          <a:uFillTx/>
          <a:latin typeface="Helvetica Neue"/>
          <a:ea typeface="Helvetica Neue"/>
          <a:cs typeface="Helvetica Neue"/>
          <a:sym typeface="Helvetica Neue"/>
        </a:defRPr>
      </a:lvl9pPr>
    </p:titleStyle>
    <p:bodyStyle>
      <a:lvl1pPr marL="257242" marR="0" indent="-257242" algn="l" defTabSz="342991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•"/>
        <a:tabLst/>
        <a:defRPr sz="2400" b="0" i="0" u="none" strike="noStrike" cap="none" spc="0" baseline="0">
          <a:solidFill>
            <a:srgbClr val="000000"/>
          </a:solidFill>
          <a:uFillTx/>
          <a:latin typeface="Adobe Caslon Pro"/>
          <a:ea typeface="Adobe Caslon Pro"/>
          <a:cs typeface="Adobe Caslon Pro"/>
          <a:sym typeface="Adobe Caslon Pro"/>
        </a:defRPr>
      </a:lvl1pPr>
      <a:lvl2pPr marL="587984" marR="0" indent="-244994" algn="l" defTabSz="342991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–"/>
        <a:tabLst/>
        <a:defRPr sz="2400" b="0" i="0" u="none" strike="noStrike" cap="none" spc="0" baseline="0">
          <a:solidFill>
            <a:srgbClr val="000000"/>
          </a:solidFill>
          <a:uFillTx/>
          <a:latin typeface="Adobe Caslon Pro"/>
          <a:ea typeface="Adobe Caslon Pro"/>
          <a:cs typeface="Adobe Caslon Pro"/>
          <a:sym typeface="Adobe Caslon Pro"/>
        </a:defRPr>
      </a:lvl2pPr>
      <a:lvl3pPr marL="914643" marR="0" indent="-228659" algn="l" defTabSz="342991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•"/>
        <a:tabLst/>
        <a:defRPr sz="2400" b="0" i="0" u="none" strike="noStrike" cap="none" spc="0" baseline="0">
          <a:solidFill>
            <a:srgbClr val="000000"/>
          </a:solidFill>
          <a:uFillTx/>
          <a:latin typeface="Adobe Caslon Pro"/>
          <a:ea typeface="Adobe Caslon Pro"/>
          <a:cs typeface="Adobe Caslon Pro"/>
          <a:sym typeface="Adobe Caslon Pro"/>
        </a:defRPr>
      </a:lvl3pPr>
      <a:lvl4pPr marL="1303365" marR="0" indent="-274391" algn="l" defTabSz="342991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–"/>
        <a:tabLst/>
        <a:defRPr sz="2400" b="0" i="0" u="none" strike="noStrike" cap="none" spc="0" baseline="0">
          <a:solidFill>
            <a:srgbClr val="000000"/>
          </a:solidFill>
          <a:uFillTx/>
          <a:latin typeface="Adobe Caslon Pro"/>
          <a:ea typeface="Adobe Caslon Pro"/>
          <a:cs typeface="Adobe Caslon Pro"/>
          <a:sym typeface="Adobe Caslon Pro"/>
        </a:defRPr>
      </a:lvl4pPr>
      <a:lvl5pPr marL="1646358" marR="0" indent="-274391" algn="l" defTabSz="342991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»"/>
        <a:tabLst/>
        <a:defRPr sz="2400" b="0" i="0" u="none" strike="noStrike" cap="none" spc="0" baseline="0">
          <a:solidFill>
            <a:srgbClr val="000000"/>
          </a:solidFill>
          <a:uFillTx/>
          <a:latin typeface="Adobe Caslon Pro"/>
          <a:ea typeface="Adobe Caslon Pro"/>
          <a:cs typeface="Adobe Caslon Pro"/>
          <a:sym typeface="Adobe Caslon Pro"/>
        </a:defRPr>
      </a:lvl5pPr>
      <a:lvl6pPr marL="1989350" marR="0" indent="-274391" algn="l" defTabSz="342991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•"/>
        <a:tabLst/>
        <a:defRPr sz="2400" b="0" i="0" u="none" strike="noStrike" cap="none" spc="0" baseline="0">
          <a:solidFill>
            <a:srgbClr val="000000"/>
          </a:solidFill>
          <a:uFillTx/>
          <a:latin typeface="Adobe Caslon Pro"/>
          <a:ea typeface="Adobe Caslon Pro"/>
          <a:cs typeface="Adobe Caslon Pro"/>
          <a:sym typeface="Adobe Caslon Pro"/>
        </a:defRPr>
      </a:lvl6pPr>
      <a:lvl7pPr marL="2332340" marR="0" indent="-274391" algn="l" defTabSz="342991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•"/>
        <a:tabLst/>
        <a:defRPr sz="2400" b="0" i="0" u="none" strike="noStrike" cap="none" spc="0" baseline="0">
          <a:solidFill>
            <a:srgbClr val="000000"/>
          </a:solidFill>
          <a:uFillTx/>
          <a:latin typeface="Adobe Caslon Pro"/>
          <a:ea typeface="Adobe Caslon Pro"/>
          <a:cs typeface="Adobe Caslon Pro"/>
          <a:sym typeface="Adobe Caslon Pro"/>
        </a:defRPr>
      </a:lvl7pPr>
      <a:lvl8pPr marL="2675333" marR="0" indent="-274391" algn="l" defTabSz="342991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•"/>
        <a:tabLst/>
        <a:defRPr sz="2400" b="0" i="0" u="none" strike="noStrike" cap="none" spc="0" baseline="0">
          <a:solidFill>
            <a:srgbClr val="000000"/>
          </a:solidFill>
          <a:uFillTx/>
          <a:latin typeface="Adobe Caslon Pro"/>
          <a:ea typeface="Adobe Caslon Pro"/>
          <a:cs typeface="Adobe Caslon Pro"/>
          <a:sym typeface="Adobe Caslon Pro"/>
        </a:defRPr>
      </a:lvl8pPr>
      <a:lvl9pPr marL="3018322" marR="0" indent="-274391" algn="l" defTabSz="342991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•"/>
        <a:tabLst/>
        <a:defRPr sz="2400" b="0" i="0" u="none" strike="noStrike" cap="none" spc="0" baseline="0">
          <a:solidFill>
            <a:srgbClr val="000000"/>
          </a:solidFill>
          <a:uFillTx/>
          <a:latin typeface="Adobe Caslon Pro"/>
          <a:ea typeface="Adobe Caslon Pro"/>
          <a:cs typeface="Adobe Caslon Pro"/>
          <a:sym typeface="Adobe Caslon Pro"/>
        </a:defRPr>
      </a:lvl9pPr>
    </p:bodyStyle>
    <p:otherStyle>
      <a:lvl1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55 Helvetica Roman"/>
        </a:defRPr>
      </a:lvl1pPr>
      <a:lvl2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55 Helvetica Roman"/>
        </a:defRPr>
      </a:lvl2pPr>
      <a:lvl3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55 Helvetica Roman"/>
        </a:defRPr>
      </a:lvl3pPr>
      <a:lvl4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55 Helvetica Roman"/>
        </a:defRPr>
      </a:lvl4pPr>
      <a:lvl5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55 Helvetica Roman"/>
        </a:defRPr>
      </a:lvl5pPr>
      <a:lvl6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55 Helvetica Roman"/>
        </a:defRPr>
      </a:lvl6pPr>
      <a:lvl7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55 Helvetica Roman"/>
        </a:defRPr>
      </a:lvl7pPr>
      <a:lvl8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55 Helvetica Roman"/>
        </a:defRPr>
      </a:lvl8pPr>
      <a:lvl9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55 Helvetica Roman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-1" y="6049342"/>
            <a:ext cx="9157815" cy="808658"/>
          </a:xfrm>
          <a:prstGeom prst="rect">
            <a:avLst/>
          </a:prstGeom>
          <a:solidFill>
            <a:srgbClr val="041E4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13474" y="341769"/>
            <a:ext cx="8686426" cy="878966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3474" y="1338867"/>
            <a:ext cx="8686426" cy="4262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27896" y="6070861"/>
            <a:ext cx="3930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/>
                </a:solidFill>
                <a:latin typeface="55 Helvetica Roman"/>
                <a:cs typeface="55 Helvetica Roman"/>
              </a:defRPr>
            </a:lvl1pPr>
          </a:lstStyle>
          <a:p>
            <a:fld id="{A11F1ED6-03CA-FF41-BAAB-392506A14B1E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1905" y="6371261"/>
            <a:ext cx="3067995" cy="223845"/>
          </a:xfrm>
          <a:prstGeom prst="rect">
            <a:avLst/>
          </a:prstGeom>
        </p:spPr>
      </p:pic>
      <p:sp>
        <p:nvSpPr>
          <p:cNvPr id="7" name="Rectangle 6"/>
          <p:cNvSpPr/>
          <p:nvPr userDrawn="1"/>
        </p:nvSpPr>
        <p:spPr>
          <a:xfrm>
            <a:off x="-1" y="5956648"/>
            <a:ext cx="9144001" cy="92697"/>
          </a:xfrm>
          <a:prstGeom prst="rect">
            <a:avLst/>
          </a:prstGeom>
          <a:solidFill>
            <a:srgbClr val="BBBC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2103240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</p:sldLayoutIdLst>
  <p:txStyles>
    <p:titleStyle>
      <a:lvl1pPr algn="l" defTabSz="342991" rtl="0" eaLnBrk="1" latinLnBrk="0" hangingPunct="1">
        <a:spcBef>
          <a:spcPct val="0"/>
        </a:spcBef>
        <a:buNone/>
        <a:defRPr sz="2701" b="1" i="0" kern="1200">
          <a:solidFill>
            <a:srgbClr val="002D50"/>
          </a:solidFill>
          <a:latin typeface="Helvetica Neue"/>
          <a:ea typeface="+mj-ea"/>
          <a:cs typeface="Helvetica Neue"/>
        </a:defRPr>
      </a:lvl1pPr>
    </p:titleStyle>
    <p:bodyStyle>
      <a:lvl1pPr marL="257244" indent="-257244" algn="l" defTabSz="342991" rtl="0" eaLnBrk="1" latinLnBrk="0" hangingPunct="1">
        <a:spcBef>
          <a:spcPct val="20000"/>
        </a:spcBef>
        <a:buFont typeface="Arial"/>
        <a:buChar char="•"/>
        <a:defRPr sz="2401" b="0" i="0" kern="1200">
          <a:solidFill>
            <a:schemeClr val="tx1"/>
          </a:solidFill>
          <a:latin typeface="Adobe Caslon Pro"/>
          <a:ea typeface="+mn-ea"/>
          <a:cs typeface="Adobe Caslon Pro"/>
        </a:defRPr>
      </a:lvl1pPr>
      <a:lvl2pPr marL="557361" indent="-214370" algn="l" defTabSz="342991" rtl="0" eaLnBrk="1" latinLnBrk="0" hangingPunct="1">
        <a:spcBef>
          <a:spcPct val="20000"/>
        </a:spcBef>
        <a:buFont typeface="Arial"/>
        <a:buChar char="–"/>
        <a:defRPr sz="2101" b="0" i="0" kern="1200">
          <a:solidFill>
            <a:schemeClr val="tx1"/>
          </a:solidFill>
          <a:latin typeface="Adobe Caslon Pro"/>
          <a:ea typeface="+mn-ea"/>
          <a:cs typeface="Adobe Caslon Pro"/>
        </a:defRPr>
      </a:lvl2pPr>
      <a:lvl3pPr marL="857479" indent="-171496" algn="l" defTabSz="342991" rtl="0" eaLnBrk="1" latinLnBrk="0" hangingPunct="1">
        <a:spcBef>
          <a:spcPct val="20000"/>
        </a:spcBef>
        <a:buFont typeface="Arial"/>
        <a:buChar char="•"/>
        <a:defRPr sz="1800" b="0" i="0" kern="1200">
          <a:solidFill>
            <a:schemeClr val="tx1"/>
          </a:solidFill>
          <a:latin typeface="Adobe Caslon Pro"/>
          <a:ea typeface="+mn-ea"/>
          <a:cs typeface="Adobe Caslon Pro"/>
        </a:defRPr>
      </a:lvl3pPr>
      <a:lvl4pPr marL="1200470" indent="-171496" algn="l" defTabSz="342991" rtl="0" eaLnBrk="1" latinLnBrk="0" hangingPunct="1">
        <a:spcBef>
          <a:spcPct val="20000"/>
        </a:spcBef>
        <a:buFont typeface="Arial"/>
        <a:buChar char="–"/>
        <a:defRPr sz="1500" b="0" i="0" kern="1200">
          <a:solidFill>
            <a:schemeClr val="tx1"/>
          </a:solidFill>
          <a:latin typeface="Adobe Caslon Pro"/>
          <a:ea typeface="+mn-ea"/>
          <a:cs typeface="Adobe Caslon Pro"/>
        </a:defRPr>
      </a:lvl4pPr>
      <a:lvl5pPr marL="1543461" indent="-171496" algn="l" defTabSz="342991" rtl="0" eaLnBrk="1" latinLnBrk="0" hangingPunct="1">
        <a:spcBef>
          <a:spcPct val="20000"/>
        </a:spcBef>
        <a:buFont typeface="Arial"/>
        <a:buChar char="»"/>
        <a:defRPr sz="1500" b="0" i="0" kern="1200">
          <a:solidFill>
            <a:schemeClr val="tx1"/>
          </a:solidFill>
          <a:latin typeface="Adobe Caslon Pro"/>
          <a:ea typeface="+mn-ea"/>
          <a:cs typeface="Adobe Caslon Pro"/>
        </a:defRPr>
      </a:lvl5pPr>
      <a:lvl6pPr marL="1886453" indent="-171496" algn="l" defTabSz="342991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9444" indent="-171496" algn="l" defTabSz="342991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2436" indent="-171496" algn="l" defTabSz="342991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5427" indent="-171496" algn="l" defTabSz="342991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91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91" algn="l" defTabSz="342991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983" algn="l" defTabSz="342991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974" algn="l" defTabSz="342991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966" algn="l" defTabSz="342991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957" algn="l" defTabSz="342991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949" algn="l" defTabSz="342991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940" algn="l" defTabSz="342991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932" algn="l" defTabSz="342991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Rectangle 4"/>
          <p:cNvSpPr/>
          <p:nvPr/>
        </p:nvSpPr>
        <p:spPr>
          <a:xfrm>
            <a:off x="2" y="0"/>
            <a:ext cx="9151874" cy="6858000"/>
          </a:xfrm>
          <a:prstGeom prst="rect">
            <a:avLst/>
          </a:prstGeom>
          <a:solidFill>
            <a:srgbClr val="011B3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3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6" name="Title 5"/>
          <p:cNvSpPr txBox="1">
            <a:spLocks noGrp="1"/>
          </p:cNvSpPr>
          <p:nvPr>
            <p:ph type="ctrTitle"/>
          </p:nvPr>
        </p:nvSpPr>
        <p:spPr>
          <a:xfrm>
            <a:off x="626683" y="1502819"/>
            <a:ext cx="8184810" cy="978699"/>
          </a:xfrm>
          <a:prstGeom prst="rect">
            <a:avLst/>
          </a:prstGeom>
        </p:spPr>
        <p:txBody>
          <a:bodyPr/>
          <a:lstStyle>
            <a:lvl1pPr>
              <a:defRPr sz="4000">
                <a:solidFill>
                  <a:srgbClr val="BBBCBC"/>
                </a:solidFill>
              </a:defRPr>
            </a:lvl1pPr>
          </a:lstStyle>
          <a:p>
            <a:r>
              <a:t>Yelp Dataset Sentiment Analysis</a:t>
            </a:r>
          </a:p>
        </p:txBody>
      </p:sp>
      <p:sp>
        <p:nvSpPr>
          <p:cNvPr id="127" name="Subtitle 6"/>
          <p:cNvSpPr txBox="1">
            <a:spLocks noGrp="1"/>
          </p:cNvSpPr>
          <p:nvPr>
            <p:ph type="subTitle" sz="quarter" idx="1"/>
          </p:nvPr>
        </p:nvSpPr>
        <p:spPr>
          <a:xfrm>
            <a:off x="626683" y="2397727"/>
            <a:ext cx="3558234" cy="547976"/>
          </a:xfrm>
          <a:prstGeom prst="rect">
            <a:avLst/>
          </a:prstGeom>
        </p:spPr>
        <p:txBody>
          <a:bodyPr/>
          <a:lstStyle>
            <a:lvl1pPr>
              <a:spcBef>
                <a:spcPts val="400"/>
              </a:spcBef>
              <a:defRPr sz="1800" b="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Phase 2: Project Plan</a:t>
            </a:r>
          </a:p>
        </p:txBody>
      </p:sp>
      <p:pic>
        <p:nvPicPr>
          <p:cNvPr id="128" name="Picture 1" descr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8898" y="4690386"/>
            <a:ext cx="2016791" cy="1422959"/>
          </a:xfrm>
          <a:prstGeom prst="rect">
            <a:avLst/>
          </a:prstGeom>
          <a:ln w="12700">
            <a:miter lim="400000"/>
          </a:ln>
        </p:spPr>
      </p:pic>
      <p:sp>
        <p:nvSpPr>
          <p:cNvPr id="129" name="Subtitle 6"/>
          <p:cNvSpPr txBox="1"/>
          <p:nvPr/>
        </p:nvSpPr>
        <p:spPr>
          <a:xfrm>
            <a:off x="672403" y="4372202"/>
            <a:ext cx="4131252" cy="14229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pPr defTabSz="342991">
              <a:lnSpc>
                <a:spcPct val="80000"/>
              </a:lnSpc>
              <a:spcBef>
                <a:spcPts val="200"/>
              </a:spcBef>
              <a:defRPr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Cole Hanrahan and Julia Sober</a:t>
            </a:r>
          </a:p>
          <a:p>
            <a:pPr defTabSz="342991">
              <a:lnSpc>
                <a:spcPct val="80000"/>
              </a:lnSpc>
              <a:spcBef>
                <a:spcPts val="200"/>
              </a:spcBef>
              <a:defRPr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COSC 5540</a:t>
            </a:r>
            <a:r>
              <a:rPr b="1">
                <a:latin typeface="Helvetica Neue"/>
                <a:ea typeface="Helvetica Neue"/>
                <a:cs typeface="Helvetica Neue"/>
                <a:sym typeface="Helvetica Neue"/>
              </a:rPr>
              <a:t> — </a:t>
            </a:r>
            <a:r>
              <a:t>Text Mining &amp; Analysis</a:t>
            </a:r>
            <a:endParaRPr b="1">
              <a:latin typeface="Helvetica Neue"/>
              <a:ea typeface="Helvetica Neue"/>
              <a:cs typeface="Helvetica Neue"/>
              <a:sym typeface="Helvetica Neue"/>
            </a:endParaRPr>
          </a:p>
          <a:p>
            <a:pPr defTabSz="342991">
              <a:lnSpc>
                <a:spcPct val="80000"/>
              </a:lnSpc>
              <a:spcBef>
                <a:spcPts val="200"/>
              </a:spcBef>
              <a:defRPr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Fall 2025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roject Motivation and Goal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Project Motivation and Goals</a:t>
            </a:r>
          </a:p>
        </p:txBody>
      </p:sp>
      <p:sp>
        <p:nvSpPr>
          <p:cNvPr id="132" name="Star ratings on Yelp reviews are widely used but can be subjective and inconsistent.…"/>
          <p:cNvSpPr txBox="1">
            <a:spLocks noGrp="1"/>
          </p:cNvSpPr>
          <p:nvPr>
            <p:ph type="body" idx="1"/>
          </p:nvPr>
        </p:nvSpPr>
        <p:spPr>
          <a:xfrm>
            <a:off x="213474" y="1256420"/>
            <a:ext cx="8239262" cy="4345159"/>
          </a:xfrm>
          <a:prstGeom prst="rect">
            <a:avLst/>
          </a:prstGeom>
        </p:spPr>
        <p:txBody>
          <a:bodyPr/>
          <a:lstStyle/>
          <a:p>
            <a:pPr marL="216084" indent="-216084" defTabSz="288111">
              <a:spcBef>
                <a:spcPts val="400"/>
              </a:spcBef>
              <a:defRPr sz="2000"/>
            </a:pPr>
            <a:r>
              <a:t>Star ratings on Yelp reviews are widely used but can be subjective and inconsistent. </a:t>
            </a:r>
          </a:p>
          <a:p>
            <a:pPr marL="216084" indent="-216084" defTabSz="288111">
              <a:spcBef>
                <a:spcPts val="400"/>
              </a:spcBef>
              <a:defRPr sz="2000"/>
            </a:pPr>
            <a:r>
              <a:t>Predicting ratings from review text can help users gauge sentiment efficiently, businesses pinpoint improvement areas, and researchers better understand satisfaction drivers.</a:t>
            </a:r>
          </a:p>
          <a:p>
            <a:pPr marL="216084" indent="-216084" defTabSz="288111">
              <a:spcBef>
                <a:spcPts val="400"/>
              </a:spcBef>
              <a:defRPr sz="2000" b="1"/>
            </a:pPr>
            <a:r>
              <a:t>We are building on prior work in text-based sentiment and rating prediction, aiming to improve model performance and address gaps in contextual understanding and sentiment analysis.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Insights from Literature Review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Insights from Literature Review</a:t>
            </a:r>
          </a:p>
        </p:txBody>
      </p:sp>
      <p:sp>
        <p:nvSpPr>
          <p:cNvPr id="135" name="Sentiment classification (positive vs. negative) achieves high accuracy (around 90%), but predicting specific star ratings (1–5) is much harder, with accuracy between 60–65%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216084" indent="-216084" defTabSz="288111">
              <a:spcBef>
                <a:spcPts val="400"/>
              </a:spcBef>
              <a:defRPr sz="2000"/>
            </a:pPr>
            <a:r>
              <a:t>Sentiment classification (positive vs. negative) achieves high accuracy (around 90%), but predicting specific star ratings (1–5) is much harder, with accuracy between 60–65%.</a:t>
            </a:r>
          </a:p>
          <a:p>
            <a:pPr marL="216084" indent="-216084" defTabSz="288111">
              <a:spcBef>
                <a:spcPts val="400"/>
              </a:spcBef>
              <a:defRPr sz="2000"/>
            </a:pPr>
            <a:r>
              <a:t>Best traditional features are TF-IDF n-grams, and strong classical models include logistic regression and SVM.</a:t>
            </a:r>
          </a:p>
          <a:p>
            <a:pPr marL="216084" indent="-216084" defTabSz="288111">
              <a:spcBef>
                <a:spcPts val="400"/>
              </a:spcBef>
              <a:defRPr sz="2000"/>
            </a:pPr>
            <a:r>
              <a:t>Deep models like CNNs and BERT offer nuanced understanding but struggle particularly with middle (2–3 star) reviews due to ambiguity and class imbalance. </a:t>
            </a:r>
          </a:p>
          <a:p>
            <a:pPr marL="216084" indent="-216084" defTabSz="288111">
              <a:spcBef>
                <a:spcPts val="400"/>
              </a:spcBef>
              <a:defRPr sz="2000"/>
            </a:pPr>
            <a:r>
              <a:rPr b="1"/>
              <a:t>Key gaps:</a:t>
            </a:r>
            <a:r>
              <a:t> limited context understanding, dominance of 4/5-star reviews, and need for better model explainability.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Data Preparation"/>
          <p:cNvSpPr txBox="1">
            <a:spLocks noGrp="1"/>
          </p:cNvSpPr>
          <p:nvPr>
            <p:ph type="title"/>
          </p:nvPr>
        </p:nvSpPr>
        <p:spPr>
          <a:xfrm>
            <a:off x="213474" y="341767"/>
            <a:ext cx="8686428" cy="878970"/>
          </a:xfrm>
          <a:prstGeom prst="rect">
            <a:avLst/>
          </a:prstGeom>
        </p:spPr>
        <p:txBody>
          <a:bodyPr/>
          <a:lstStyle/>
          <a:p>
            <a:r>
              <a:t>Data Preparation and Baselines</a:t>
            </a:r>
          </a:p>
        </p:txBody>
      </p:sp>
      <p:sp>
        <p:nvSpPr>
          <p:cNvPr id="138" name="Dataset: Yelp Open Dataset (subset: specific state restaurant reviews).…"/>
          <p:cNvSpPr txBox="1">
            <a:spLocks noGrp="1"/>
          </p:cNvSpPr>
          <p:nvPr>
            <p:ph type="body" idx="1"/>
          </p:nvPr>
        </p:nvSpPr>
        <p:spPr>
          <a:xfrm>
            <a:off x="213473" y="1338867"/>
            <a:ext cx="8686429" cy="4262713"/>
          </a:xfrm>
          <a:prstGeom prst="rect">
            <a:avLst/>
          </a:prstGeom>
        </p:spPr>
        <p:txBody>
          <a:bodyPr/>
          <a:lstStyle/>
          <a:p>
            <a:pPr marL="488948" indent="-322324" defTabSz="322410">
              <a:lnSpc>
                <a:spcPct val="90000"/>
              </a:lnSpc>
              <a:spcBef>
                <a:spcPts val="400"/>
              </a:spcBef>
              <a:defRPr sz="2200"/>
            </a:pPr>
            <a:r>
              <a:t>Filtered Yelp restaurant reviews, normalized text (lowercasing, punctuation and stopword removal), and derived auxiliary features like review length.</a:t>
            </a:r>
          </a:p>
          <a:p>
            <a:pPr marL="488948" indent="-322324" defTabSz="322410">
              <a:lnSpc>
                <a:spcPct val="90000"/>
              </a:lnSpc>
              <a:spcBef>
                <a:spcPts val="400"/>
              </a:spcBef>
              <a:defRPr sz="2200"/>
            </a:pPr>
            <a:r>
              <a:t>Output: cleaned, balanced dataset ready for modeling and performance benchmarking.</a:t>
            </a:r>
          </a:p>
          <a:p>
            <a:pPr marL="488948" indent="-322324" defTabSz="322410">
              <a:lnSpc>
                <a:spcPct val="90000"/>
              </a:lnSpc>
              <a:spcBef>
                <a:spcPts val="400"/>
              </a:spcBef>
              <a:defRPr sz="2200"/>
            </a:pPr>
            <a:r>
              <a:t>Built baselines with TF-IDF features and classic models (Logistic Regression, Naive Bayes, SVM, Random Forest, Ordinal Logistic Regression).</a:t>
            </a:r>
          </a:p>
          <a:p>
            <a:pPr marL="799844" lvl="1" indent="-322324" defTabSz="322410">
              <a:lnSpc>
                <a:spcPct val="90000"/>
              </a:lnSpc>
              <a:spcBef>
                <a:spcPts val="400"/>
              </a:spcBef>
              <a:buChar char="•"/>
              <a:defRPr sz="2200"/>
            </a:pPr>
            <a:r>
              <a:t>“Binary” = positive/negative/neutral</a:t>
            </a:r>
          </a:p>
          <a:p>
            <a:pPr marL="799844" lvl="1" indent="-322324" defTabSz="322410">
              <a:lnSpc>
                <a:spcPct val="90000"/>
              </a:lnSpc>
              <a:spcBef>
                <a:spcPts val="400"/>
              </a:spcBef>
              <a:buChar char="•"/>
              <a:defRPr sz="2200"/>
            </a:pPr>
            <a:r>
              <a:t>1-5 RRP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Baseline Results (subsample n=500,000)…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Baseline Results </a:t>
            </a:r>
            <a:r>
              <a:rPr sz="1500"/>
              <a:t>(subsample n=500,000)</a:t>
            </a:r>
          </a:p>
          <a:p>
            <a:pPr>
              <a:defRPr sz="1600"/>
            </a:pPr>
            <a:r>
              <a:t>Features = Unigram + Bigram + TF_IDF w/ max_features = 10,000</a:t>
            </a:r>
          </a:p>
        </p:txBody>
      </p:sp>
      <p:graphicFrame>
        <p:nvGraphicFramePr>
          <p:cNvPr id="141" name="Table 2"/>
          <p:cNvGraphicFramePr/>
          <p:nvPr/>
        </p:nvGraphicFramePr>
        <p:xfrm>
          <a:off x="250233" y="1118449"/>
          <a:ext cx="8625610" cy="4475701"/>
        </p:xfrm>
        <a:graphic>
          <a:graphicData uri="http://schemas.openxmlformats.org/drawingml/2006/table">
            <a:tbl>
              <a:tblPr firstRow="1" bandRow="1">
                <a:tableStyleId>{4C3C2611-4C71-4FC5-86AE-919BDF0F9419}</a:tableStyleId>
              </a:tblPr>
              <a:tblGrid>
                <a:gridCol w="26645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5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16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112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2101"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 b="0">
                          <a:solidFill>
                            <a:srgbClr val="000000"/>
                          </a:solidFill>
                        </a:defRPr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Model</a:t>
                      </a:r>
                    </a:p>
                  </a:txBody>
                  <a:tcPr marL="0" marR="0" marT="0" marB="0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 b="0">
                          <a:solidFill>
                            <a:srgbClr val="000000"/>
                          </a:solidFill>
                        </a:defRPr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Classification Type</a:t>
                      </a:r>
                    </a:p>
                  </a:txBody>
                  <a:tcPr marL="0" marR="0" marT="0" marB="0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 b="0">
                          <a:solidFill>
                            <a:srgbClr val="000000"/>
                          </a:solidFill>
                        </a:defRPr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Accuracy (%)</a:t>
                      </a:r>
                    </a:p>
                  </a:txBody>
                  <a:tcPr marL="0" marR="0" marT="0" marB="0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 b="0">
                          <a:solidFill>
                            <a:srgbClr val="000000"/>
                          </a:solidFill>
                        </a:defRPr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Macro-F1</a:t>
                      </a:r>
                    </a:p>
                  </a:txBody>
                  <a:tcPr marL="0" marR="0" marT="0" marB="0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844"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 b="1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Logistic Regression</a:t>
                      </a:r>
                    </a:p>
                  </a:txBody>
                  <a:tcPr marL="0" marR="0" marT="0" marB="0" anchor="ctr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1-5 RRP</a:t>
                      </a:r>
                    </a:p>
                  </a:txBody>
                  <a:tcPr marL="0" marR="0" marT="0" marB="0" anchor="ctr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 b="1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67.66</a:t>
                      </a:r>
                    </a:p>
                  </a:txBody>
                  <a:tcPr marL="0" marR="0" marT="0" marB="0" anchor="ctr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0.5969</a:t>
                      </a:r>
                    </a:p>
                  </a:txBody>
                  <a:tcPr marL="0" marR="0" marT="0" marB="0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559"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 b="1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Naive Bayes</a:t>
                      </a:r>
                    </a:p>
                  </a:txBody>
                  <a:tcPr marL="0" marR="0" marT="0" marB="0" anchor="ctr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1-5 RRP</a:t>
                      </a:r>
                    </a:p>
                  </a:txBody>
                  <a:tcPr marL="0" marR="0" marT="0" marB="0" anchor="ctr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64.15</a:t>
                      </a:r>
                    </a:p>
                  </a:txBody>
                  <a:tcPr marL="0" marR="0" marT="0" marB="0" anchor="ctr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0.5187</a:t>
                      </a:r>
                    </a:p>
                  </a:txBody>
                  <a:tcPr marL="0" marR="0" marT="0" marB="0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559"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 b="1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SVM</a:t>
                      </a:r>
                    </a:p>
                  </a:txBody>
                  <a:tcPr marL="0" marR="0" marT="0" marB="0" anchor="ctr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1-5 RRP</a:t>
                      </a:r>
                    </a:p>
                  </a:txBody>
                  <a:tcPr marL="0" marR="0" marT="0" marB="0" anchor="ctr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44.70</a:t>
                      </a:r>
                    </a:p>
                  </a:txBody>
                  <a:tcPr marL="0" marR="0" marT="0" marB="0" anchor="ctr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0.4147</a:t>
                      </a:r>
                    </a:p>
                  </a:txBody>
                  <a:tcPr marL="0" marR="0" marT="0" marB="0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559"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 b="1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Random Forest</a:t>
                      </a:r>
                    </a:p>
                  </a:txBody>
                  <a:tcPr marL="0" marR="0" marT="0" marB="0" anchor="ctr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1-5 RRP</a:t>
                      </a:r>
                    </a:p>
                  </a:txBody>
                  <a:tcPr marL="0" marR="0" marT="0" marB="0" anchor="ctr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51.96</a:t>
                      </a:r>
                    </a:p>
                  </a:txBody>
                  <a:tcPr marL="0" marR="0" marT="0" marB="0" anchor="ctr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0.2869</a:t>
                      </a:r>
                    </a:p>
                  </a:txBody>
                  <a:tcPr marL="0" marR="0" marT="0" marB="0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844"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 b="1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Ordinal Logistic Regression</a:t>
                      </a:r>
                    </a:p>
                  </a:txBody>
                  <a:tcPr marL="0" marR="0" marT="0" marB="0" anchor="ctr" horzOverflow="overflow">
                    <a:lnB w="38100" cap="rnd">
                      <a:solidFill>
                        <a:schemeClr val="accent1">
                          <a:lumOff val="-4862"/>
                        </a:schemeClr>
                      </a:solidFill>
                      <a:custDash>
                        <a:ds d="100000" sp="200000"/>
                      </a:custDash>
                    </a:lnB>
                  </a:tcPr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1-5 RRP</a:t>
                      </a:r>
                    </a:p>
                  </a:txBody>
                  <a:tcPr marL="0" marR="0" marT="0" marB="0" anchor="ctr" horzOverflow="overflow">
                    <a:lnB w="38100" cap="rnd">
                      <a:solidFill>
                        <a:schemeClr val="accent1">
                          <a:lumOff val="-4862"/>
                        </a:schemeClr>
                      </a:solidFill>
                      <a:custDash>
                        <a:ds d="100000" sp="200000"/>
                      </a:custDash>
                    </a:lnB>
                  </a:tcPr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60.92</a:t>
                      </a:r>
                    </a:p>
                  </a:txBody>
                  <a:tcPr marL="0" marR="0" marT="0" marB="0" anchor="ctr" horzOverflow="overflow">
                    <a:lnB w="38100" cap="rnd">
                      <a:solidFill>
                        <a:schemeClr val="accent1">
                          <a:lumOff val="-4862"/>
                        </a:schemeClr>
                      </a:solidFill>
                      <a:custDash>
                        <a:ds d="100000" sp="200000"/>
                      </a:custDash>
                    </a:lnB>
                  </a:tcPr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0.5268</a:t>
                      </a:r>
                    </a:p>
                  </a:txBody>
                  <a:tcPr marL="0" marR="0" marT="0" marB="0" anchor="ctr" horzOverflow="overflow">
                    <a:lnB w="38100" cap="rnd">
                      <a:solidFill>
                        <a:schemeClr val="accent1">
                          <a:lumOff val="-4862"/>
                        </a:schemeClr>
                      </a:solidFill>
                      <a:custDash>
                        <a:ds d="100000" sp="200000"/>
                      </a:custDash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6957"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 b="1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Logistic Regression</a:t>
                      </a:r>
                    </a:p>
                  </a:txBody>
                  <a:tcPr marL="0" marR="0" marT="0" marB="0" anchor="ctr" horzOverflow="overflow">
                    <a:lnT w="38100" cap="rnd">
                      <a:solidFill>
                        <a:schemeClr val="accent1">
                          <a:lumOff val="-4862"/>
                        </a:schemeClr>
                      </a:solidFill>
                      <a:custDash>
                        <a:ds d="100000" sp="200000"/>
                      </a:custDash>
                    </a:lnT>
                  </a:tcPr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Pos. / Neu. / Neg.</a:t>
                      </a:r>
                    </a:p>
                  </a:txBody>
                  <a:tcPr marL="0" marR="0" marT="0" marB="0" anchor="ctr" horzOverflow="overflow">
                    <a:lnT w="38100" cap="rnd">
                      <a:solidFill>
                        <a:schemeClr val="accent1">
                          <a:lumOff val="-4862"/>
                        </a:schemeClr>
                      </a:solidFill>
                      <a:custDash>
                        <a:ds d="100000" sp="200000"/>
                      </a:custDash>
                    </a:lnT>
                  </a:tcPr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 b="1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87.43</a:t>
                      </a:r>
                    </a:p>
                  </a:txBody>
                  <a:tcPr marL="0" marR="0" marT="0" marB="0" anchor="ctr" horzOverflow="overflow">
                    <a:lnT w="38100" cap="rnd">
                      <a:solidFill>
                        <a:schemeClr val="accent1">
                          <a:lumOff val="-4862"/>
                        </a:schemeClr>
                      </a:solidFill>
                      <a:custDash>
                        <a:ds d="100000" sp="200000"/>
                      </a:custDash>
                    </a:lnT>
                  </a:tcPr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0.7398</a:t>
                      </a:r>
                    </a:p>
                  </a:txBody>
                  <a:tcPr marL="0" marR="0" marT="0" marB="0" anchor="ctr" horzOverflow="overflow">
                    <a:lnT w="38100" cap="rnd">
                      <a:solidFill>
                        <a:schemeClr val="accent1">
                          <a:lumOff val="-4862"/>
                        </a:schemeClr>
                      </a:solidFill>
                      <a:custDash>
                        <a:ds d="100000" sp="200000"/>
                      </a:custDash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4668"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 b="1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Naive Bayes</a:t>
                      </a:r>
                    </a:p>
                  </a:txBody>
                  <a:tcPr marL="0" marR="0" marT="0" marB="0" anchor="ctr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Pos. / Neu. / Neg.</a:t>
                      </a:r>
                    </a:p>
                  </a:txBody>
                  <a:tcPr marL="0" marR="0" marT="0" marB="0" anchor="ctr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84.45</a:t>
                      </a:r>
                    </a:p>
                  </a:txBody>
                  <a:tcPr marL="0" marR="0" marT="0" marB="0" anchor="ctr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0.6494</a:t>
                      </a:r>
                    </a:p>
                  </a:txBody>
                  <a:tcPr marL="0" marR="0" marT="0" marB="0" anchor="ctr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4668"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 b="1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SVM</a:t>
                      </a:r>
                    </a:p>
                  </a:txBody>
                  <a:tcPr marL="0" marR="0" marT="0" marB="0" anchor="ctr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Pos. / Neu. / Neg.</a:t>
                      </a:r>
                    </a:p>
                  </a:txBody>
                  <a:tcPr marL="0" marR="0" marT="0" marB="0" anchor="ctr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60.63</a:t>
                      </a:r>
                    </a:p>
                  </a:txBody>
                  <a:tcPr marL="0" marR="0" marT="0" marB="0" anchor="ctr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0.5081</a:t>
                      </a:r>
                    </a:p>
                  </a:txBody>
                  <a:tcPr marL="0" marR="0" marT="0" marB="0" anchor="ctr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4668"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 b="1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Random Forest</a:t>
                      </a:r>
                    </a:p>
                  </a:txBody>
                  <a:tcPr marL="0" marR="0" marT="0" marB="0" anchor="ctr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Pos. / Neu. / Neg.</a:t>
                      </a:r>
                    </a:p>
                  </a:txBody>
                  <a:tcPr marL="0" marR="0" marT="0" marB="0" anchor="ctr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75.83</a:t>
                      </a:r>
                    </a:p>
                  </a:txBody>
                  <a:tcPr marL="0" marR="0" marT="0" marB="0" anchor="ctr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0.4622</a:t>
                      </a:r>
                    </a:p>
                  </a:txBody>
                  <a:tcPr marL="0" marR="0" marT="0" marB="0" anchor="ctr" horzOverflow="overflow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54668"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 b="1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Ordinal Logistic Regression</a:t>
                      </a:r>
                    </a:p>
                  </a:txBody>
                  <a:tcPr marL="0" marR="0" marT="0" marB="0" anchor="ctr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Pos. / Neu. / Neg.</a:t>
                      </a:r>
                    </a:p>
                  </a:txBody>
                  <a:tcPr marL="0" marR="0" marT="0" marB="0" anchor="ctr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85.66</a:t>
                      </a:r>
                    </a:p>
                  </a:txBody>
                  <a:tcPr marL="0" marR="0" marT="0" marB="0" anchor="ctr" horzOverflow="overflow"/>
                </a:tc>
                <a:tc>
                  <a:txBody>
                    <a:bodyPr/>
                    <a:lstStyle/>
                    <a:p>
                      <a:pPr algn="ctr" defTabSz="342991">
                        <a:spcBef>
                          <a:spcPts val="200"/>
                        </a:spcBef>
                        <a:defRPr sz="1800"/>
                      </a:pPr>
                      <a:r>
                        <a:rPr sz="1500">
                          <a:latin typeface="Adobe Caslon Pro"/>
                          <a:ea typeface="Adobe Caslon Pro"/>
                          <a:cs typeface="Adobe Caslon Pro"/>
                          <a:sym typeface="Adobe Caslon Pro"/>
                        </a:rPr>
                        <a:t>0.7133</a:t>
                      </a:r>
                    </a:p>
                  </a:txBody>
                  <a:tcPr marL="0" marR="0" marT="0" marB="0" anchor="ctr" horzOverflow="overflow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What We Notice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What We Noticed</a:t>
            </a:r>
          </a:p>
        </p:txBody>
      </p:sp>
      <p:sp>
        <p:nvSpPr>
          <p:cNvPr id="144" name="The Pattern: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241807" indent="-241807" defTabSz="322411">
              <a:spcBef>
                <a:spcPts val="400"/>
              </a:spcBef>
              <a:defRPr sz="2256"/>
            </a:pPr>
            <a:r>
              <a:t>The Pattern:</a:t>
            </a:r>
          </a:p>
          <a:p>
            <a:pPr marL="564218" lvl="1" indent="-241807" defTabSz="322411">
              <a:spcBef>
                <a:spcPts val="400"/>
              </a:spcBef>
              <a:buChar char="•"/>
              <a:defRPr sz="2256"/>
            </a:pPr>
            <a:r>
              <a:rPr b="1"/>
              <a:t>Positive vs Negative</a:t>
            </a:r>
            <a:r>
              <a:t> reviews are </a:t>
            </a:r>
            <a:r>
              <a:rPr i="1"/>
              <a:t>very easy</a:t>
            </a:r>
            <a:r>
              <a:t> to separate (97% accuracy when we took out 3 star ratings). </a:t>
            </a:r>
          </a:p>
          <a:p>
            <a:pPr marL="564218" lvl="1" indent="-241807" defTabSz="322411">
              <a:spcBef>
                <a:spcPts val="400"/>
              </a:spcBef>
              <a:buChar char="•"/>
              <a:defRPr sz="2256"/>
            </a:pPr>
            <a:r>
              <a:rPr b="1"/>
              <a:t>Neutral (3-star)</a:t>
            </a:r>
            <a:r>
              <a:t> reviews are </a:t>
            </a:r>
            <a:r>
              <a:rPr i="1"/>
              <a:t>ambiguous</a:t>
            </a:r>
            <a:r>
              <a:t> — they overlap lexically and sentiment-wise with both extremes. </a:t>
            </a:r>
          </a:p>
          <a:p>
            <a:pPr marL="564218" lvl="1" indent="-241807" defTabSz="322411">
              <a:spcBef>
                <a:spcPts val="400"/>
              </a:spcBef>
              <a:buChar char="•"/>
              <a:defRPr sz="2256"/>
            </a:pPr>
            <a:r>
              <a:t>The multi-class (1–5) setup suffers because 3-star reviews blur the boundaries. </a:t>
            </a:r>
          </a:p>
          <a:p>
            <a:pPr marL="241807" indent="-241807" defTabSz="322411">
              <a:spcBef>
                <a:spcPts val="400"/>
              </a:spcBef>
              <a:defRPr sz="2256"/>
            </a:pPr>
            <a:r>
              <a:t>The model can almost perfectly identify polarity, but it struggles to map polarity → precise star rating. </a:t>
            </a:r>
          </a:p>
          <a:p>
            <a:pPr marL="241807" indent="-241807" defTabSz="322411">
              <a:spcBef>
                <a:spcPts val="400"/>
              </a:spcBef>
              <a:defRPr sz="2256"/>
            </a:pPr>
            <a:r>
              <a:t>This means the information bottleneck isn’t “sentiment detection” — it’s “rating calibration.”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Experimental Test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Experimental Tests</a:t>
            </a:r>
          </a:p>
        </p:txBody>
      </p:sp>
      <p:sp>
        <p:nvSpPr>
          <p:cNvPr id="147" name="Layered/Hierarchical classifier…"/>
          <p:cNvSpPr txBox="1">
            <a:spLocks noGrp="1"/>
          </p:cNvSpPr>
          <p:nvPr>
            <p:ph type="body" idx="1"/>
          </p:nvPr>
        </p:nvSpPr>
        <p:spPr>
          <a:xfrm>
            <a:off x="213474" y="940454"/>
            <a:ext cx="5457999" cy="4661125"/>
          </a:xfrm>
          <a:prstGeom prst="rect">
            <a:avLst/>
          </a:prstGeom>
        </p:spPr>
        <p:txBody>
          <a:bodyPr/>
          <a:lstStyle/>
          <a:p>
            <a:pPr marL="179671" indent="-179671" defTabSz="192074">
              <a:spcBef>
                <a:spcPts val="200"/>
              </a:spcBef>
              <a:buFontTx/>
              <a:buAutoNum type="arabicPeriod"/>
              <a:defRPr sz="1344" b="1"/>
            </a:pPr>
            <a:r>
              <a:t>Layered/Hierarchical classifier</a:t>
            </a:r>
          </a:p>
          <a:p>
            <a:pPr marL="348113" lvl="1" indent="-134753" defTabSz="192074">
              <a:spcBef>
                <a:spcPts val="200"/>
              </a:spcBef>
              <a:buFontTx/>
              <a:buChar char="•"/>
              <a:defRPr sz="1344"/>
            </a:pPr>
            <a:r>
              <a:t>TF-IDF + n-grams with Logistic Regression</a:t>
            </a:r>
          </a:p>
          <a:p>
            <a:pPr marL="336129" lvl="1" indent="-144055" defTabSz="192074">
              <a:spcBef>
                <a:spcPts val="200"/>
              </a:spcBef>
              <a:buChar char="•"/>
              <a:defRPr sz="1344"/>
            </a:pPr>
            <a:r>
              <a:t>Stage 1: Sentiment classification (negative/neutral/positive)</a:t>
            </a:r>
          </a:p>
          <a:p>
            <a:pPr marL="336129" lvl="1" indent="-144055" defTabSz="192074">
              <a:spcBef>
                <a:spcPts val="200"/>
              </a:spcBef>
              <a:buChar char="•"/>
              <a:defRPr sz="1344"/>
            </a:pPr>
            <a:r>
              <a:t>Stage 2a: Negative reviews → 1 vs 2 stars</a:t>
            </a:r>
          </a:p>
          <a:p>
            <a:pPr marL="336129" lvl="1" indent="-144055" defTabSz="192074">
              <a:spcBef>
                <a:spcPts val="200"/>
              </a:spcBef>
              <a:buChar char="•"/>
              <a:defRPr sz="1344"/>
            </a:pPr>
            <a:r>
              <a:t>Stage 2b: Positive reviews → 4 vs 5 stars</a:t>
            </a:r>
          </a:p>
          <a:p>
            <a:pPr marL="336129" lvl="1" indent="-144055" defTabSz="192074">
              <a:spcBef>
                <a:spcPts val="200"/>
              </a:spcBef>
              <a:buChar char="•"/>
              <a:defRPr sz="1344"/>
            </a:pPr>
            <a:r>
              <a:t>Neutral reviews → automatically assigned 3 stars</a:t>
            </a:r>
          </a:p>
          <a:p>
            <a:pPr marL="336129" lvl="1" indent="-144055" defTabSz="192074">
              <a:spcBef>
                <a:spcPts val="200"/>
              </a:spcBef>
              <a:buChar char="•"/>
              <a:defRPr sz="1344"/>
            </a:pPr>
            <a:r>
              <a:t>Slightly better than baseline in some classes, worse in others, but limited improvement overall (&lt; 0.02%)</a:t>
            </a:r>
          </a:p>
          <a:p>
            <a:pPr marL="179671" indent="-179671" defTabSz="192074">
              <a:spcBef>
                <a:spcPts val="200"/>
              </a:spcBef>
              <a:buFontTx/>
              <a:buAutoNum type="arabicPeriod"/>
              <a:defRPr sz="1344" b="1"/>
            </a:pPr>
            <a:r>
              <a:t>Layered classifier with soft probabilities</a:t>
            </a:r>
          </a:p>
          <a:p>
            <a:pPr marL="348113" lvl="1" indent="-134753" defTabSz="192074">
              <a:spcBef>
                <a:spcPts val="200"/>
              </a:spcBef>
              <a:buFontTx/>
              <a:buChar char="•"/>
              <a:defRPr sz="1344"/>
            </a:pPr>
            <a:r>
              <a:t>Passing probabilities from layer 1 classifier </a:t>
            </a:r>
          </a:p>
          <a:p>
            <a:pPr marL="348113" lvl="1" indent="-134753" defTabSz="192074">
              <a:spcBef>
                <a:spcPts val="200"/>
              </a:spcBef>
              <a:buFontTx/>
              <a:buChar char="•"/>
              <a:defRPr sz="1344"/>
            </a:pPr>
            <a:r>
              <a:t>Used pre-trained sentence embeddings (s-BERT) instead of TF-IDF</a:t>
            </a:r>
          </a:p>
          <a:p>
            <a:pPr marL="348113" lvl="1" indent="-134753" defTabSz="192074">
              <a:spcBef>
                <a:spcPts val="200"/>
              </a:spcBef>
              <a:buFontTx/>
              <a:buChar char="•"/>
              <a:defRPr sz="1344"/>
            </a:pPr>
            <a:r>
              <a:t>Worse accuracy for binary (layer 1) classifier than baseline</a:t>
            </a:r>
          </a:p>
          <a:p>
            <a:pPr marL="348113" lvl="1" indent="-134753" defTabSz="192074">
              <a:spcBef>
                <a:spcPts val="200"/>
              </a:spcBef>
              <a:buFontTx/>
              <a:buChar char="•"/>
              <a:defRPr sz="1344"/>
            </a:pPr>
            <a:r>
              <a:t>Layer 2 classifier ended up predicting dominant class (5-star) for every rating</a:t>
            </a:r>
          </a:p>
          <a:p>
            <a:pPr marL="179671" indent="-179671" defTabSz="192074">
              <a:spcBef>
                <a:spcPts val="200"/>
              </a:spcBef>
              <a:buFontTx/>
              <a:buAutoNum type="arabicPeriod"/>
              <a:defRPr sz="1344" b="1"/>
            </a:pPr>
            <a:r>
              <a:t>Simple MLP with sBERT</a:t>
            </a:r>
          </a:p>
          <a:p>
            <a:pPr marL="348113" lvl="1" indent="-134753" defTabSz="192074">
              <a:spcBef>
                <a:spcPts val="200"/>
              </a:spcBef>
              <a:buFontTx/>
              <a:buChar char="•"/>
              <a:defRPr sz="1344"/>
            </a:pPr>
            <a:r>
              <a:t>Adam optimizer, 100 epochs, 1 hidden layer (128), ReLU activation, batch size = 64 </a:t>
            </a:r>
          </a:p>
          <a:p>
            <a:pPr marL="348113" lvl="1" indent="-134753" defTabSz="192074">
              <a:spcBef>
                <a:spcPts val="200"/>
              </a:spcBef>
              <a:buFontTx/>
              <a:buChar char="•"/>
              <a:defRPr sz="1344"/>
            </a:pPr>
            <a:r>
              <a:t>62% test accuracy</a:t>
            </a:r>
          </a:p>
        </p:txBody>
      </p:sp>
      <p:pic>
        <p:nvPicPr>
          <p:cNvPr id="148" name="Screenshot 2025-11-07 at 11.38.22 AM.png" descr="Screenshot 2025-11-07 at 11.38.22 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0589" y="242378"/>
            <a:ext cx="2390628" cy="3330941"/>
          </a:xfrm>
          <a:prstGeom prst="rect">
            <a:avLst/>
          </a:prstGeom>
          <a:ln w="12700">
            <a:miter lim="400000"/>
          </a:ln>
        </p:spPr>
      </p:pic>
      <p:pic>
        <p:nvPicPr>
          <p:cNvPr id="149" name="Screenshot 2025-11-09 at 2.17.41 PM.png" descr="Screenshot 2025-11-09 at 2.17.41 P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7613" y="3716442"/>
            <a:ext cx="3296579" cy="209708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Our Proposa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Our Proposal</a:t>
            </a:r>
          </a:p>
        </p:txBody>
      </p:sp>
      <p:sp>
        <p:nvSpPr>
          <p:cNvPr id="152" name="Best test accuracies: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Best test accuracies:</a:t>
            </a:r>
          </a:p>
          <a:p>
            <a:pPr marL="600232" lvl="1" indent="-257242">
              <a:buChar char="•"/>
            </a:pPr>
            <a:r>
              <a:t>Logistic Regression (Classifier) w/ TF-IDF &amp; n-grams =&gt; 67%</a:t>
            </a:r>
          </a:p>
          <a:p>
            <a:pPr marL="600232" lvl="1" indent="-257242">
              <a:buChar char="•"/>
            </a:pPr>
            <a:r>
              <a:t>Linear Regression (Regressor) w/ TF-IDF &amp; n-grams =&gt; 68% (rounding up to nearest star)</a:t>
            </a:r>
          </a:p>
          <a:p>
            <a:r>
              <a:t>These accuracies are already 5-7 percentage points better than all of the papers we read (we trained on more data than papers).</a:t>
            </a:r>
          </a:p>
          <a:p>
            <a:r>
              <a:t>We can potentially improve these results even more with hyperparameter tuning.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roject Statu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Project Status</a:t>
            </a:r>
          </a:p>
        </p:txBody>
      </p:sp>
      <p:sp>
        <p:nvSpPr>
          <p:cNvPr id="155" name="Already Completed…"/>
          <p:cNvSpPr txBox="1">
            <a:spLocks noGrp="1"/>
          </p:cNvSpPr>
          <p:nvPr>
            <p:ph type="body" sz="quarter" idx="1"/>
          </p:nvPr>
        </p:nvSpPr>
        <p:spPr>
          <a:xfrm>
            <a:off x="416857" y="1074551"/>
            <a:ext cx="2513069" cy="4708898"/>
          </a:xfrm>
          <a:prstGeom prst="rect">
            <a:avLst/>
          </a:prstGeom>
        </p:spPr>
        <p:txBody>
          <a:bodyPr/>
          <a:lstStyle/>
          <a:p>
            <a:pPr marL="0" indent="0" algn="ctr" defTabSz="209224">
              <a:spcBef>
                <a:spcPts val="300"/>
              </a:spcBef>
              <a:buSzTx/>
              <a:buFontTx/>
              <a:buNone/>
              <a:defRPr sz="1830" b="1" u="sng"/>
            </a:pPr>
            <a:r>
              <a:t>Already Completed</a:t>
            </a:r>
          </a:p>
          <a:p>
            <a:pPr marL="156917" indent="-156917" defTabSz="209224">
              <a:spcBef>
                <a:spcPts val="300"/>
              </a:spcBef>
              <a:defRPr sz="1525"/>
            </a:pPr>
            <a:r>
              <a:t>Data collection/wrangling</a:t>
            </a:r>
          </a:p>
          <a:p>
            <a:pPr marL="156917" indent="-156917" defTabSz="209224">
              <a:spcBef>
                <a:spcPts val="300"/>
              </a:spcBef>
              <a:defRPr sz="1525"/>
            </a:pPr>
            <a:r>
              <a:t>Preprocessing</a:t>
            </a:r>
          </a:p>
          <a:p>
            <a:pPr marL="156917" indent="-156917" defTabSz="209224">
              <a:spcBef>
                <a:spcPts val="300"/>
              </a:spcBef>
              <a:defRPr sz="1525"/>
            </a:pPr>
            <a:r>
              <a:t>Model pipelines built + tested:</a:t>
            </a:r>
          </a:p>
          <a:p>
            <a:pPr marL="366141" lvl="1" indent="-156917" defTabSz="209224">
              <a:spcBef>
                <a:spcPts val="300"/>
              </a:spcBef>
              <a:buChar char="•"/>
              <a:defRPr sz="1525"/>
            </a:pPr>
            <a:r>
              <a:t>Baselines with TF-IDF</a:t>
            </a:r>
          </a:p>
          <a:p>
            <a:pPr marL="366141" lvl="1" indent="-156917" defTabSz="209224">
              <a:spcBef>
                <a:spcPts val="300"/>
              </a:spcBef>
              <a:buChar char="•"/>
              <a:defRPr sz="1525"/>
            </a:pPr>
            <a:r>
              <a:t>Baselines with embeddings</a:t>
            </a:r>
          </a:p>
          <a:p>
            <a:pPr marL="366141" lvl="1" indent="-156917" defTabSz="209224">
              <a:spcBef>
                <a:spcPts val="300"/>
              </a:spcBef>
              <a:buChar char="•"/>
              <a:defRPr sz="1525"/>
            </a:pPr>
            <a:r>
              <a:t>Layered classifier with TF-IDF</a:t>
            </a:r>
          </a:p>
          <a:p>
            <a:pPr marL="366141" lvl="1" indent="-156917" defTabSz="209224">
              <a:spcBef>
                <a:spcPts val="300"/>
              </a:spcBef>
              <a:buChar char="•"/>
              <a:defRPr sz="1525"/>
            </a:pPr>
            <a:r>
              <a:t>Layered classifier with embeddings + soft routing (probability-based)</a:t>
            </a:r>
          </a:p>
          <a:p>
            <a:pPr marL="366141" lvl="1" indent="-156917" defTabSz="209224">
              <a:spcBef>
                <a:spcPts val="300"/>
              </a:spcBef>
              <a:buChar char="•"/>
              <a:defRPr sz="1525"/>
            </a:pPr>
            <a:r>
              <a:t>Simple MLP + BERT (2 layers) </a:t>
            </a:r>
          </a:p>
          <a:p>
            <a:pPr marL="366141" lvl="1" indent="-156917" defTabSz="209224">
              <a:spcBef>
                <a:spcPts val="300"/>
              </a:spcBef>
              <a:buChar char="•"/>
              <a:defRPr sz="1525"/>
            </a:pPr>
            <a:r>
              <a:t>Regressors</a:t>
            </a:r>
          </a:p>
        </p:txBody>
      </p:sp>
      <p:sp>
        <p:nvSpPr>
          <p:cNvPr id="156" name="In Progress…"/>
          <p:cNvSpPr txBox="1"/>
          <p:nvPr/>
        </p:nvSpPr>
        <p:spPr>
          <a:xfrm>
            <a:off x="3389450" y="1100418"/>
            <a:ext cx="2513069" cy="45343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pPr algn="ctr" defTabSz="342991">
              <a:spcBef>
                <a:spcPts val="500"/>
              </a:spcBef>
              <a:defRPr b="1" u="sng">
                <a:latin typeface="Adobe Caslon Pro"/>
                <a:ea typeface="Adobe Caslon Pro"/>
                <a:cs typeface="Adobe Caslon Pro"/>
                <a:sym typeface="Adobe Caslon Pro"/>
              </a:defRPr>
            </a:pPr>
            <a:r>
              <a:t>In Progress</a:t>
            </a:r>
          </a:p>
          <a:p>
            <a:pPr marL="257241" indent="-257241" defTabSz="342991">
              <a:spcBef>
                <a:spcPts val="500"/>
              </a:spcBef>
              <a:buSzPct val="100000"/>
              <a:buFont typeface="Arial"/>
              <a:buChar char="•"/>
              <a:defRPr>
                <a:latin typeface="Adobe Caslon Pro"/>
                <a:ea typeface="Adobe Caslon Pro"/>
                <a:cs typeface="Adobe Caslon Pro"/>
                <a:sym typeface="Adobe Caslon Pro"/>
              </a:defRPr>
            </a:pPr>
            <a:r>
              <a:t>Evaluation &amp; comparison across all models </a:t>
            </a:r>
          </a:p>
          <a:p>
            <a:pPr marL="257241" indent="-257241" defTabSz="342991">
              <a:spcBef>
                <a:spcPts val="500"/>
              </a:spcBef>
              <a:buSzPct val="100000"/>
              <a:buFont typeface="Arial"/>
              <a:buChar char="•"/>
              <a:defRPr>
                <a:latin typeface="Adobe Caslon Pro"/>
                <a:ea typeface="Adobe Caslon Pro"/>
                <a:cs typeface="Adobe Caslon Pro"/>
                <a:sym typeface="Adobe Caslon Pro"/>
              </a:defRPr>
            </a:pPr>
            <a:r>
              <a:t>Hyperparameter tuning and model adjustments</a:t>
            </a:r>
          </a:p>
          <a:p>
            <a:pPr marL="257241" indent="-257241" defTabSz="342991">
              <a:spcBef>
                <a:spcPts val="500"/>
              </a:spcBef>
              <a:buSzPct val="100000"/>
              <a:buFont typeface="Arial"/>
              <a:buChar char="•"/>
              <a:defRPr>
                <a:latin typeface="Adobe Caslon Pro"/>
                <a:ea typeface="Adobe Caslon Pro"/>
                <a:cs typeface="Adobe Caslon Pro"/>
                <a:sym typeface="Adobe Caslon Pro"/>
              </a:defRPr>
            </a:pPr>
            <a:r>
              <a:t>Visualization of results (confusion matrices, metric tables)</a:t>
            </a:r>
          </a:p>
          <a:p>
            <a:pPr marL="257241" indent="-257241" defTabSz="342991">
              <a:spcBef>
                <a:spcPts val="500"/>
              </a:spcBef>
              <a:buSzPct val="100000"/>
              <a:buFont typeface="Arial"/>
              <a:buChar char="•"/>
              <a:defRPr>
                <a:latin typeface="Adobe Caslon Pro"/>
                <a:ea typeface="Adobe Caslon Pro"/>
                <a:cs typeface="Adobe Caslon Pro"/>
                <a:sym typeface="Adobe Caslon Pro"/>
              </a:defRPr>
            </a:pPr>
            <a:r>
              <a:t>Try additional extracted features</a:t>
            </a:r>
          </a:p>
        </p:txBody>
      </p:sp>
      <p:sp>
        <p:nvSpPr>
          <p:cNvPr id="157" name="Not Started…"/>
          <p:cNvSpPr txBox="1"/>
          <p:nvPr/>
        </p:nvSpPr>
        <p:spPr>
          <a:xfrm>
            <a:off x="6183450" y="1074551"/>
            <a:ext cx="2513069" cy="456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pPr algn="ctr" defTabSz="342991">
              <a:spcBef>
                <a:spcPts val="500"/>
              </a:spcBef>
              <a:defRPr b="1" u="sng">
                <a:latin typeface="Adobe Caslon Pro"/>
                <a:ea typeface="Adobe Caslon Pro"/>
                <a:cs typeface="Adobe Caslon Pro"/>
                <a:sym typeface="Adobe Caslon Pro"/>
              </a:defRPr>
            </a:pPr>
            <a:r>
              <a:t>Not Started</a:t>
            </a:r>
          </a:p>
          <a:p>
            <a:pPr marL="257241" indent="-257241" defTabSz="342991">
              <a:spcBef>
                <a:spcPts val="500"/>
              </a:spcBef>
              <a:buSzPct val="100000"/>
              <a:buFont typeface="Arial"/>
              <a:buChar char="•"/>
              <a:defRPr>
                <a:latin typeface="Adobe Caslon Pro"/>
                <a:ea typeface="Adobe Caslon Pro"/>
                <a:cs typeface="Adobe Caslon Pro"/>
                <a:sym typeface="Adobe Caslon Pro"/>
              </a:defRPr>
            </a:pPr>
            <a:r>
              <a:t>Report + presentation slides</a:t>
            </a:r>
          </a:p>
          <a:p>
            <a:pPr marL="257241" indent="-257241" defTabSz="342991">
              <a:spcBef>
                <a:spcPts val="500"/>
              </a:spcBef>
              <a:buSzPct val="100000"/>
              <a:buFont typeface="Arial"/>
              <a:buChar char="•"/>
              <a:defRPr>
                <a:latin typeface="Adobe Caslon Pro"/>
                <a:ea typeface="Adobe Caslon Pro"/>
                <a:cs typeface="Adobe Caslon Pro"/>
                <a:sym typeface="Adobe Caslon Pro"/>
              </a:defRPr>
            </a:pPr>
            <a:r>
              <a:t>Additional analysis:</a:t>
            </a:r>
          </a:p>
          <a:p>
            <a:pPr marL="600231" lvl="1" indent="-257241" defTabSz="342991">
              <a:spcBef>
                <a:spcPts val="500"/>
              </a:spcBef>
              <a:buSzPct val="100000"/>
              <a:buFont typeface="Arial"/>
              <a:buChar char="•"/>
              <a:defRPr>
                <a:latin typeface="Adobe Caslon Pro"/>
                <a:ea typeface="Adobe Caslon Pro"/>
                <a:cs typeface="Adobe Caslon Pro"/>
                <a:sym typeface="Adobe Caslon Pro"/>
              </a:defRPr>
            </a:pPr>
            <a:r>
              <a:t>Per-class performance</a:t>
            </a:r>
          </a:p>
          <a:p>
            <a:pPr marL="600231" lvl="1" indent="-257241" defTabSz="342991">
              <a:spcBef>
                <a:spcPts val="500"/>
              </a:spcBef>
              <a:buSzPct val="100000"/>
              <a:buFont typeface="Arial"/>
              <a:buChar char="•"/>
              <a:defRPr>
                <a:latin typeface="Adobe Caslon Pro"/>
                <a:ea typeface="Adobe Caslon Pro"/>
                <a:cs typeface="Adobe Caslon Pro"/>
                <a:sym typeface="Adobe Caslon Pro"/>
              </a:defRPr>
            </a:pPr>
            <a:r>
              <a:t>Error analysis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9D681D7-869E-FCBC-7D23-F3984F0E40F4}"/>
              </a:ext>
            </a:extLst>
          </p:cNvPr>
          <p:cNvSpPr/>
          <p:nvPr/>
        </p:nvSpPr>
        <p:spPr>
          <a:xfrm>
            <a:off x="237726" y="985350"/>
            <a:ext cx="1481345" cy="21031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Calibri"/>
              </a:rPr>
              <a:t>Phase 1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7E6BF0A-EBC2-1174-0A67-67E5EDC4655C}"/>
              </a:ext>
            </a:extLst>
          </p:cNvPr>
          <p:cNvSpPr>
            <a:spLocks/>
          </p:cNvSpPr>
          <p:nvPr/>
        </p:nvSpPr>
        <p:spPr>
          <a:xfrm>
            <a:off x="1719072" y="1628834"/>
            <a:ext cx="3411037" cy="210312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Calibri"/>
              </a:rPr>
              <a:t>Phase 2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F65D074-A9A2-EBDC-683C-FE59D2685106}"/>
              </a:ext>
            </a:extLst>
          </p:cNvPr>
          <p:cNvGraphicFramePr>
            <a:graphicFrameLocks noGrp="1"/>
          </p:cNvGraphicFramePr>
          <p:nvPr/>
        </p:nvGraphicFramePr>
        <p:xfrm>
          <a:off x="182879" y="1222434"/>
          <a:ext cx="1536192" cy="406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36192">
                  <a:extLst>
                    <a:ext uri="{9D8B030D-6E8A-4147-A177-3AD203B41FA5}">
                      <a16:colId xmlns:a16="http://schemas.microsoft.com/office/drawing/2014/main" val="4197775163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Literature Review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4434827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Data Gathering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416704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BE4C652-48FD-2900-A39B-01A450161DA6}"/>
              </a:ext>
            </a:extLst>
          </p:cNvPr>
          <p:cNvGraphicFramePr>
            <a:graphicFrameLocks noGrp="1"/>
          </p:cNvGraphicFramePr>
          <p:nvPr/>
        </p:nvGraphicFramePr>
        <p:xfrm>
          <a:off x="1719071" y="1940925"/>
          <a:ext cx="3455470" cy="170737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8030">
                  <a:extLst>
                    <a:ext uri="{9D8B030D-6E8A-4147-A177-3AD203B41FA5}">
                      <a16:colId xmlns:a16="http://schemas.microsoft.com/office/drawing/2014/main" val="4216950065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3469262939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4158817740"/>
                    </a:ext>
                  </a:extLst>
                </a:gridCol>
              </a:tblGrid>
              <a:tr h="20497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1" i="1" u="none" strike="noStrike" dirty="0">
                          <a:effectLst/>
                        </a:rPr>
                        <a:t>Data Cleaning</a:t>
                      </a:r>
                      <a:endParaRPr lang="en-US" sz="1050" b="1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758" marR="5758" marT="5758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1" i="1" u="none" strike="noStrike" dirty="0">
                          <a:effectLst/>
                        </a:rPr>
                        <a:t>Preprocessing</a:t>
                      </a:r>
                      <a:endParaRPr lang="en-US" sz="1050" b="1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758" marR="5758" marT="5758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1" i="1" u="none" strike="noStrike" dirty="0">
                          <a:effectLst/>
                        </a:rPr>
                        <a:t>Feature Extraction</a:t>
                      </a:r>
                      <a:endParaRPr lang="en-US" sz="1050" b="1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758" marR="5758" marT="5758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5690827"/>
                  </a:ext>
                </a:extLst>
              </a:tr>
              <a:tr h="20497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Json to csv files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758" marR="5758" marT="5758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Lowercasing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758" marR="5758" marT="5758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TF-IDF features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758" marR="5758" marT="5758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7300680"/>
                  </a:ext>
                </a:extLst>
              </a:tr>
              <a:tr h="1929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Restaurant reviews only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758" marR="5758" marT="5758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Negation Handling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758" marR="5758" marT="5758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Unigrams + bigrams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758" marR="5758" marT="5758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0037886"/>
                  </a:ext>
                </a:extLst>
              </a:tr>
              <a:tr h="40994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State specific data frames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758" marR="5758" marT="5758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Removing stopwords, punctuations, urls, numbers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758" marR="5758" marT="5758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 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758" marR="5758" marT="5758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4538927"/>
                  </a:ext>
                </a:extLst>
              </a:tr>
              <a:tr h="40994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 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758" marR="5758" marT="5758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Extract review length, capitalizations, exclamation points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758" marR="5758" marT="5758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 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758" marR="5758" marT="5758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6604283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EF3FF25-2929-62CE-56F9-D9B592AC4FD9}"/>
              </a:ext>
            </a:extLst>
          </p:cNvPr>
          <p:cNvGraphicFramePr>
            <a:graphicFrameLocks noGrp="1"/>
          </p:cNvGraphicFramePr>
          <p:nvPr/>
        </p:nvGraphicFramePr>
        <p:xfrm>
          <a:off x="5248262" y="3429000"/>
          <a:ext cx="3712857" cy="210293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0590">
                  <a:extLst>
                    <a:ext uri="{9D8B030D-6E8A-4147-A177-3AD203B41FA5}">
                      <a16:colId xmlns:a16="http://schemas.microsoft.com/office/drawing/2014/main" val="597394430"/>
                    </a:ext>
                  </a:extLst>
                </a:gridCol>
                <a:gridCol w="1350413">
                  <a:extLst>
                    <a:ext uri="{9D8B030D-6E8A-4147-A177-3AD203B41FA5}">
                      <a16:colId xmlns:a16="http://schemas.microsoft.com/office/drawing/2014/main" val="1963156475"/>
                    </a:ext>
                  </a:extLst>
                </a:gridCol>
                <a:gridCol w="1221854">
                  <a:extLst>
                    <a:ext uri="{9D8B030D-6E8A-4147-A177-3AD203B41FA5}">
                      <a16:colId xmlns:a16="http://schemas.microsoft.com/office/drawing/2014/main" val="2282731380"/>
                    </a:ext>
                  </a:extLst>
                </a:gridCol>
              </a:tblGrid>
              <a:tr h="169332">
                <a:tc>
                  <a:txBody>
                    <a:bodyPr/>
                    <a:lstStyle/>
                    <a:p>
                      <a:pPr marL="0" algn="l" defTabSz="342991" rtl="0" eaLnBrk="1" fontAlgn="b" latinLnBrk="0" hangingPunct="1">
                        <a:buNone/>
                      </a:pPr>
                      <a:r>
                        <a:rPr lang="en-US" sz="1100" b="1" i="1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Baseline Modeling</a:t>
                      </a:r>
                    </a:p>
                  </a:txBody>
                  <a:tcPr marL="6995" marR="6995" marT="699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342991" rtl="0" eaLnBrk="1" fontAlgn="b" latinLnBrk="0" hangingPunct="1">
                        <a:buNone/>
                      </a:pPr>
                      <a:r>
                        <a:rPr lang="en-US" sz="1100" b="1" i="1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Advanced Modeling</a:t>
                      </a:r>
                    </a:p>
                  </a:txBody>
                  <a:tcPr marL="6995" marR="6995" marT="699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342991" rtl="0" eaLnBrk="1" fontAlgn="b" latinLnBrk="0" hangingPunct="1">
                        <a:buNone/>
                      </a:pPr>
                      <a:r>
                        <a:rPr lang="en-US" sz="1100" b="1" i="1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Final Evaluations</a:t>
                      </a:r>
                    </a:p>
                  </a:txBody>
                  <a:tcPr marL="6995" marR="6995" marT="6995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5153012"/>
                  </a:ext>
                </a:extLst>
              </a:tr>
              <a:tr h="16933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Linear Regression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995" marR="6995" marT="699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Layered classifier </a:t>
                      </a:r>
                    </a:p>
                    <a:p>
                      <a:pPr algn="l" fontAlgn="b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+ soft routing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995" marR="6995" marT="699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Error Analysis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995" marR="6995" marT="699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894389"/>
                  </a:ext>
                </a:extLst>
              </a:tr>
              <a:tr h="31273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Logistic Regression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995" marR="6995" marT="699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Simple MLP + BERT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995" marR="6995" marT="699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Per class performance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995" marR="6995" marT="699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0406692"/>
                  </a:ext>
                </a:extLst>
              </a:tr>
              <a:tr h="31273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Naïve Bayes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995" marR="6995" marT="699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Multi-Task BERT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995" marR="6995" marT="699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Evaluation &amp; Comparison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995" marR="6995" marT="699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6742243"/>
                  </a:ext>
                </a:extLst>
              </a:tr>
              <a:tr h="46513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SVM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995" marR="6995" marT="699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995" marR="6995" marT="699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Confusion matrices &amp; metric tables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995" marR="6995" marT="699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2508743"/>
                  </a:ext>
                </a:extLst>
              </a:tr>
              <a:tr h="16933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Random Forest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995" marR="6995" marT="699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 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995" marR="6995" marT="699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 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995" marR="6995" marT="699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5883914"/>
                  </a:ext>
                </a:extLst>
              </a:tr>
              <a:tr h="31273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Ordinal Logistic Regression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995" marR="6995" marT="699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42991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u="none" strike="noStrike" dirty="0">
                          <a:effectLst/>
                        </a:rPr>
                        <a:t>Hyperparameter tuning and model adjustments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995" marR="6995" marT="699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u="none" strike="noStrike" dirty="0">
                          <a:effectLst/>
                        </a:rPr>
                        <a:t> 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995" marR="6995" marT="699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5206265"/>
                  </a:ext>
                </a:extLst>
              </a:tr>
            </a:tbl>
          </a:graphicData>
        </a:graphic>
      </p:graphicFrame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DD0CFA3-8CC5-40F3-7012-7744D4C5F9F6}"/>
              </a:ext>
            </a:extLst>
          </p:cNvPr>
          <p:cNvSpPr/>
          <p:nvPr/>
        </p:nvSpPr>
        <p:spPr>
          <a:xfrm>
            <a:off x="5248261" y="3074380"/>
            <a:ext cx="3712857" cy="212134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Calibri"/>
              </a:rPr>
              <a:t>Phase 3</a:t>
            </a:r>
          </a:p>
        </p:txBody>
      </p:sp>
      <p:sp>
        <p:nvSpPr>
          <p:cNvPr id="19" name="Left Brace 18">
            <a:extLst>
              <a:ext uri="{FF2B5EF4-FFF2-40B4-BE49-F238E27FC236}">
                <a16:creationId xmlns:a16="http://schemas.microsoft.com/office/drawing/2014/main" id="{A51D47AB-9793-942E-B619-D4B7944F1D8F}"/>
              </a:ext>
            </a:extLst>
          </p:cNvPr>
          <p:cNvSpPr/>
          <p:nvPr/>
        </p:nvSpPr>
        <p:spPr>
          <a:xfrm rot="16200000">
            <a:off x="891531" y="1369526"/>
            <a:ext cx="82296" cy="731520"/>
          </a:xfrm>
          <a:prstGeom prst="leftBrace">
            <a:avLst/>
          </a:prstGeom>
          <a:ln>
            <a:solidFill>
              <a:srgbClr val="84E8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  <a:sym typeface="Calibri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D7C3440-6B69-F464-ABEE-B4D6C2426811}"/>
              </a:ext>
            </a:extLst>
          </p:cNvPr>
          <p:cNvSpPr txBox="1"/>
          <p:nvPr/>
        </p:nvSpPr>
        <p:spPr>
          <a:xfrm>
            <a:off x="507483" y="1810120"/>
            <a:ext cx="8503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j-ea"/>
                <a:cs typeface="+mj-cs"/>
                <a:sym typeface="Calibri"/>
              </a:rPr>
              <a:t>Cole &amp; Julia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611B654-C4E6-617D-2EB1-A706B138D083}"/>
              </a:ext>
            </a:extLst>
          </p:cNvPr>
          <p:cNvSpPr txBox="1"/>
          <p:nvPr/>
        </p:nvSpPr>
        <p:spPr>
          <a:xfrm>
            <a:off x="2966747" y="1164854"/>
            <a:ext cx="8503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j-ea"/>
                <a:cs typeface="+mj-cs"/>
                <a:sym typeface="Calibri"/>
              </a:rPr>
              <a:t>Cole &amp; Julia</a:t>
            </a:r>
          </a:p>
        </p:txBody>
      </p:sp>
      <p:sp>
        <p:nvSpPr>
          <p:cNvPr id="22" name="Left Brace 21">
            <a:extLst>
              <a:ext uri="{FF2B5EF4-FFF2-40B4-BE49-F238E27FC236}">
                <a16:creationId xmlns:a16="http://schemas.microsoft.com/office/drawing/2014/main" id="{214A77EA-BA86-C2EB-D16F-D381DD82821D}"/>
              </a:ext>
            </a:extLst>
          </p:cNvPr>
          <p:cNvSpPr/>
          <p:nvPr/>
        </p:nvSpPr>
        <p:spPr>
          <a:xfrm rot="5400000">
            <a:off x="3336119" y="-26143"/>
            <a:ext cx="111648" cy="2994749"/>
          </a:xfrm>
          <a:prstGeom prst="leftBrace">
            <a:avLst/>
          </a:prstGeom>
          <a:ln>
            <a:solidFill>
              <a:srgbClr val="FF85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  <a:sym typeface="Calibri"/>
            </a:endParaRPr>
          </a:p>
        </p:txBody>
      </p:sp>
      <p:sp>
        <p:nvSpPr>
          <p:cNvPr id="23" name="Right Arrow 22">
            <a:extLst>
              <a:ext uri="{FF2B5EF4-FFF2-40B4-BE49-F238E27FC236}">
                <a16:creationId xmlns:a16="http://schemas.microsoft.com/office/drawing/2014/main" id="{8E7D1679-02AF-A881-9BF6-D8E1B9D51592}"/>
              </a:ext>
            </a:extLst>
          </p:cNvPr>
          <p:cNvSpPr/>
          <p:nvPr/>
        </p:nvSpPr>
        <p:spPr>
          <a:xfrm>
            <a:off x="237727" y="118101"/>
            <a:ext cx="8723392" cy="521108"/>
          </a:xfrm>
          <a:prstGeom prst="rightArrow">
            <a:avLst/>
          </a:prstGeom>
          <a:solidFill>
            <a:srgbClr val="041E42"/>
          </a:solidFill>
          <a:ln>
            <a:solidFill>
              <a:srgbClr val="04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Calibri"/>
              </a:rPr>
              <a:t>Project Roadmap</a:t>
            </a:r>
          </a:p>
        </p:txBody>
      </p:sp>
      <p:sp>
        <p:nvSpPr>
          <p:cNvPr id="24" name="Left Brace 23">
            <a:extLst>
              <a:ext uri="{FF2B5EF4-FFF2-40B4-BE49-F238E27FC236}">
                <a16:creationId xmlns:a16="http://schemas.microsoft.com/office/drawing/2014/main" id="{31DFC95A-843E-B399-D67C-A25677896CF8}"/>
              </a:ext>
            </a:extLst>
          </p:cNvPr>
          <p:cNvSpPr/>
          <p:nvPr/>
        </p:nvSpPr>
        <p:spPr>
          <a:xfrm rot="10800000" flipH="1">
            <a:off x="5027646" y="3680047"/>
            <a:ext cx="146895" cy="492064"/>
          </a:xfrm>
          <a:prstGeom prst="leftBrace">
            <a:avLst/>
          </a:prstGeom>
          <a:ln>
            <a:solidFill>
              <a:srgbClr val="B0E2A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  <a:sym typeface="Calibri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A4AE576-36F7-E05B-0FE5-5BB8F128AF6B}"/>
              </a:ext>
            </a:extLst>
          </p:cNvPr>
          <p:cNvSpPr txBox="1"/>
          <p:nvPr/>
        </p:nvSpPr>
        <p:spPr>
          <a:xfrm>
            <a:off x="4573674" y="3795274"/>
            <a:ext cx="431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j-ea"/>
                <a:cs typeface="+mj-cs"/>
                <a:sym typeface="Calibri"/>
              </a:rPr>
              <a:t>Cole</a:t>
            </a:r>
          </a:p>
        </p:txBody>
      </p:sp>
      <p:sp>
        <p:nvSpPr>
          <p:cNvPr id="28" name="Left Brace 27">
            <a:extLst>
              <a:ext uri="{FF2B5EF4-FFF2-40B4-BE49-F238E27FC236}">
                <a16:creationId xmlns:a16="http://schemas.microsoft.com/office/drawing/2014/main" id="{3DB227CE-1DB0-CA51-2338-2DF9FB9AF3AD}"/>
              </a:ext>
            </a:extLst>
          </p:cNvPr>
          <p:cNvSpPr/>
          <p:nvPr/>
        </p:nvSpPr>
        <p:spPr>
          <a:xfrm rot="10800000" flipH="1">
            <a:off x="5072077" y="4326223"/>
            <a:ext cx="102464" cy="1205715"/>
          </a:xfrm>
          <a:prstGeom prst="leftBrace">
            <a:avLst/>
          </a:prstGeom>
          <a:ln>
            <a:solidFill>
              <a:srgbClr val="B0E2A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  <a:sym typeface="Calibri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12EBA27-1868-8984-9CEE-81C75310D488}"/>
              </a:ext>
            </a:extLst>
          </p:cNvPr>
          <p:cNvSpPr txBox="1"/>
          <p:nvPr/>
        </p:nvSpPr>
        <p:spPr>
          <a:xfrm>
            <a:off x="4571999" y="4798275"/>
            <a:ext cx="45292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j-ea"/>
                <a:cs typeface="+mj-cs"/>
                <a:sym typeface="Calibri"/>
              </a:rPr>
              <a:t>Julia</a:t>
            </a:r>
          </a:p>
        </p:txBody>
      </p:sp>
      <p:sp>
        <p:nvSpPr>
          <p:cNvPr id="30" name="Left Brace 29">
            <a:extLst>
              <a:ext uri="{FF2B5EF4-FFF2-40B4-BE49-F238E27FC236}">
                <a16:creationId xmlns:a16="http://schemas.microsoft.com/office/drawing/2014/main" id="{843BAB5E-C985-18C9-061C-DF68F80E1DDE}"/>
              </a:ext>
            </a:extLst>
          </p:cNvPr>
          <p:cNvSpPr/>
          <p:nvPr/>
        </p:nvSpPr>
        <p:spPr>
          <a:xfrm rot="5400000" flipH="1">
            <a:off x="6903859" y="4027564"/>
            <a:ext cx="60427" cy="1064632"/>
          </a:xfrm>
          <a:prstGeom prst="leftBrace">
            <a:avLst/>
          </a:prstGeom>
          <a:ln>
            <a:solidFill>
              <a:srgbClr val="B0E2A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  <a:sym typeface="Calibri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789910D-DE90-7D81-6659-7785A21E8C5A}"/>
              </a:ext>
            </a:extLst>
          </p:cNvPr>
          <p:cNvSpPr txBox="1"/>
          <p:nvPr/>
        </p:nvSpPr>
        <p:spPr>
          <a:xfrm>
            <a:off x="6687960" y="4590094"/>
            <a:ext cx="45292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j-ea"/>
                <a:cs typeface="+mj-cs"/>
                <a:sym typeface="Calibri"/>
              </a:rPr>
              <a:t>Julia</a:t>
            </a:r>
          </a:p>
        </p:txBody>
      </p:sp>
      <p:sp>
        <p:nvSpPr>
          <p:cNvPr id="32" name="Left Brace 31">
            <a:extLst>
              <a:ext uri="{FF2B5EF4-FFF2-40B4-BE49-F238E27FC236}">
                <a16:creationId xmlns:a16="http://schemas.microsoft.com/office/drawing/2014/main" id="{BDFC2C9A-38D1-CC4E-5A40-A1EBA5C57DBB}"/>
              </a:ext>
            </a:extLst>
          </p:cNvPr>
          <p:cNvSpPr/>
          <p:nvPr/>
        </p:nvSpPr>
        <p:spPr>
          <a:xfrm rot="5400000" flipH="1">
            <a:off x="8233725" y="4529869"/>
            <a:ext cx="124964" cy="1036016"/>
          </a:xfrm>
          <a:prstGeom prst="leftBrace">
            <a:avLst/>
          </a:prstGeom>
          <a:ln>
            <a:solidFill>
              <a:srgbClr val="B0E2A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  <a:sym typeface="Calibri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57F74A5-EB67-DA50-3E15-BACED5CB9FE5}"/>
              </a:ext>
            </a:extLst>
          </p:cNvPr>
          <p:cNvSpPr txBox="1"/>
          <p:nvPr/>
        </p:nvSpPr>
        <p:spPr>
          <a:xfrm>
            <a:off x="6806877" y="5660486"/>
            <a:ext cx="431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j-ea"/>
                <a:cs typeface="+mj-cs"/>
                <a:sym typeface="Calibri"/>
              </a:rPr>
              <a:t>Cole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A266CEF-00F2-0224-7CBA-DF499BBF05B7}"/>
              </a:ext>
            </a:extLst>
          </p:cNvPr>
          <p:cNvSpPr txBox="1"/>
          <p:nvPr/>
        </p:nvSpPr>
        <p:spPr>
          <a:xfrm>
            <a:off x="7871011" y="5110359"/>
            <a:ext cx="8503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j-ea"/>
                <a:cs typeface="+mj-cs"/>
                <a:sym typeface="Calibri"/>
              </a:rPr>
              <a:t>Cole &amp; Julia</a:t>
            </a:r>
          </a:p>
        </p:txBody>
      </p:sp>
      <p:sp>
        <p:nvSpPr>
          <p:cNvPr id="35" name="Left Brace 34">
            <a:extLst>
              <a:ext uri="{FF2B5EF4-FFF2-40B4-BE49-F238E27FC236}">
                <a16:creationId xmlns:a16="http://schemas.microsoft.com/office/drawing/2014/main" id="{6880760B-6ED6-FD9E-2E14-96FC968330B5}"/>
              </a:ext>
            </a:extLst>
          </p:cNvPr>
          <p:cNvSpPr/>
          <p:nvPr/>
        </p:nvSpPr>
        <p:spPr>
          <a:xfrm rot="5400000" flipH="1">
            <a:off x="6983581" y="5083547"/>
            <a:ext cx="77618" cy="1025330"/>
          </a:xfrm>
          <a:prstGeom prst="leftBrace">
            <a:avLst/>
          </a:prstGeom>
          <a:ln>
            <a:solidFill>
              <a:srgbClr val="B0E2A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  <a:sym typeface="Calibri"/>
            </a:endParaRPr>
          </a:p>
        </p:txBody>
      </p:sp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0D462D65-6DBA-D783-9BBB-709B3A7369D8}"/>
              </a:ext>
            </a:extLst>
          </p:cNvPr>
          <p:cNvGraphicFramePr>
            <a:graphicFrameLocks noGrp="1"/>
          </p:cNvGraphicFramePr>
          <p:nvPr/>
        </p:nvGraphicFramePr>
        <p:xfrm>
          <a:off x="237726" y="553871"/>
          <a:ext cx="8723393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9189">
                  <a:extLst>
                    <a:ext uri="{9D8B030D-6E8A-4147-A177-3AD203B41FA5}">
                      <a16:colId xmlns:a16="http://schemas.microsoft.com/office/drawing/2014/main" val="1235071908"/>
                    </a:ext>
                  </a:extLst>
                </a:gridCol>
                <a:gridCol w="3437793">
                  <a:extLst>
                    <a:ext uri="{9D8B030D-6E8A-4147-A177-3AD203B41FA5}">
                      <a16:colId xmlns:a16="http://schemas.microsoft.com/office/drawing/2014/main" val="2971560222"/>
                    </a:ext>
                  </a:extLst>
                </a:gridCol>
                <a:gridCol w="1222130">
                  <a:extLst>
                    <a:ext uri="{9D8B030D-6E8A-4147-A177-3AD203B41FA5}">
                      <a16:colId xmlns:a16="http://schemas.microsoft.com/office/drawing/2014/main" val="2579210275"/>
                    </a:ext>
                  </a:extLst>
                </a:gridCol>
                <a:gridCol w="2604281">
                  <a:extLst>
                    <a:ext uri="{9D8B030D-6E8A-4147-A177-3AD203B41FA5}">
                      <a16:colId xmlns:a16="http://schemas.microsoft.com/office/drawing/2014/main" val="3403075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9/16 – 10/03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10/04 - 10/31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11/01 – 11/10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11/11 – 12/08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9400582"/>
                  </a:ext>
                </a:extLst>
              </a:tr>
            </a:tbl>
          </a:graphicData>
        </a:graphic>
      </p:graphicFrame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5CB012A-36EC-3854-6C20-2ECEBF88AF1A}"/>
              </a:ext>
            </a:extLst>
          </p:cNvPr>
          <p:cNvCxnSpPr>
            <a:cxnSpLocks/>
          </p:cNvCxnSpPr>
          <p:nvPr/>
        </p:nvCxnSpPr>
        <p:spPr>
          <a:xfrm>
            <a:off x="6357325" y="553871"/>
            <a:ext cx="0" cy="5266637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1" name="5-Point Star 40">
            <a:extLst>
              <a:ext uri="{FF2B5EF4-FFF2-40B4-BE49-F238E27FC236}">
                <a16:creationId xmlns:a16="http://schemas.microsoft.com/office/drawing/2014/main" id="{22CAD724-4D47-B727-DF15-5E16A4B9C744}"/>
              </a:ext>
            </a:extLst>
          </p:cNvPr>
          <p:cNvSpPr/>
          <p:nvPr/>
        </p:nvSpPr>
        <p:spPr>
          <a:xfrm>
            <a:off x="6237646" y="2719760"/>
            <a:ext cx="239358" cy="212134"/>
          </a:xfrm>
          <a:prstGeom prst="star5">
            <a:avLst/>
          </a:prstGeom>
          <a:solidFill>
            <a:schemeClr val="accent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406941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3B7C"/>
      </a:accent1>
      <a:accent2>
        <a:srgbClr val="9CA09C"/>
      </a:accent2>
      <a:accent3>
        <a:srgbClr val="00A4CC"/>
      </a:accent3>
      <a:accent4>
        <a:srgbClr val="46A536"/>
      </a:accent4>
      <a:accent5>
        <a:srgbClr val="CD0032"/>
      </a:accent5>
      <a:accent6>
        <a:srgbClr val="580A1D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1_Office Theme">
  <a:themeElements>
    <a:clrScheme name="Georgetown University OA">
      <a:dk1>
        <a:sysClr val="windowText" lastClr="000000"/>
      </a:dk1>
      <a:lt1>
        <a:sysClr val="window" lastClr="FFFFFF"/>
      </a:lt1>
      <a:dk2>
        <a:srgbClr val="011B39"/>
      </a:dk2>
      <a:lt2>
        <a:srgbClr val="4A4C4D"/>
      </a:lt2>
      <a:accent1>
        <a:srgbClr val="003B7C"/>
      </a:accent1>
      <a:accent2>
        <a:srgbClr val="9CA09C"/>
      </a:accent2>
      <a:accent3>
        <a:srgbClr val="00A4CC"/>
      </a:accent3>
      <a:accent4>
        <a:srgbClr val="46A536"/>
      </a:accent4>
      <a:accent5>
        <a:srgbClr val="CD0032"/>
      </a:accent5>
      <a:accent6>
        <a:srgbClr val="580A1D"/>
      </a:accent6>
      <a:hlink>
        <a:srgbClr val="003D81"/>
      </a:hlink>
      <a:folHlink>
        <a:srgbClr val="00A4CC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3B7C"/>
      </a:accent1>
      <a:accent2>
        <a:srgbClr val="9CA09C"/>
      </a:accent2>
      <a:accent3>
        <a:srgbClr val="00A4CC"/>
      </a:accent3>
      <a:accent4>
        <a:srgbClr val="46A536"/>
      </a:accent4>
      <a:accent5>
        <a:srgbClr val="CD0032"/>
      </a:accent5>
      <a:accent6>
        <a:srgbClr val="580A1D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912</Words>
  <Application>Microsoft Macintosh PowerPoint</Application>
  <PresentationFormat>On-screen Show (4:3)</PresentationFormat>
  <Paragraphs>169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55 Helvetica Roman</vt:lpstr>
      <vt:lpstr>Adobe Caslon Pro</vt:lpstr>
      <vt:lpstr>Aptos Narrow</vt:lpstr>
      <vt:lpstr>Arial</vt:lpstr>
      <vt:lpstr>Calibri</vt:lpstr>
      <vt:lpstr>Helvetica Neue</vt:lpstr>
      <vt:lpstr>Office Theme</vt:lpstr>
      <vt:lpstr>1_Office Theme</vt:lpstr>
      <vt:lpstr>Yelp Dataset Sentiment Analysis</vt:lpstr>
      <vt:lpstr>Project Motivation and Goals</vt:lpstr>
      <vt:lpstr>Insights from Literature Review</vt:lpstr>
      <vt:lpstr>Data Preparation and Baselines</vt:lpstr>
      <vt:lpstr>Baseline Results (subsample n=500,000) Features = Unigram + Bigram + TF_IDF w/ max_features = 10,000</vt:lpstr>
      <vt:lpstr>What We Noticed</vt:lpstr>
      <vt:lpstr>Experimental Tests</vt:lpstr>
      <vt:lpstr>Our Proposal</vt:lpstr>
      <vt:lpstr>Project Status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Cole Hanrahan</cp:lastModifiedBy>
  <cp:revision>2</cp:revision>
  <dcterms:modified xsi:type="dcterms:W3CDTF">2025-11-12T01:09:02Z</dcterms:modified>
</cp:coreProperties>
</file>