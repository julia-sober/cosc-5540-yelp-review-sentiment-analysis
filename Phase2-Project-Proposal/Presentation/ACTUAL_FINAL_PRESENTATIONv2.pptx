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 b="def" i="def"/>
      <a:tcStyle>
        <a:tcBdr/>
        <a:fill>
          <a:solidFill>
            <a:srgbClr val="E6E7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 b="def" i="def"/>
      <a:tcStyle>
        <a:tcBdr/>
        <a:fill>
          <a:solidFill>
            <a:srgbClr val="E6E7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C"/>
          </a:solidFill>
        </a:fill>
      </a:tcStyle>
    </a:wholeTbl>
    <a:band2H>
      <a:tcTxStyle b="def" i="def"/>
      <a:tcStyle>
        <a:tcBdr/>
        <a:fill>
          <a:solidFill>
            <a:srgbClr val="E6F0F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ACB"/>
          </a:solidFill>
        </a:fill>
      </a:tcStyle>
    </a:wholeTbl>
    <a:band2H>
      <a:tcTxStyle b="def" i="def"/>
      <a:tcStyle>
        <a:tcBdr/>
        <a:fill>
          <a:solidFill>
            <a:srgbClr val="E9E6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6" name="Shape 25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/>
          <p:nvPr>
            <p:ph type="title"/>
          </p:nvPr>
        </p:nvSpPr>
        <p:spPr>
          <a:xfrm>
            <a:off x="427893" y="530103"/>
            <a:ext cx="5267658" cy="173195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sz="quarter" idx="1"/>
          </p:nvPr>
        </p:nvSpPr>
        <p:spPr>
          <a:xfrm>
            <a:off x="427896" y="2479367"/>
            <a:ext cx="5267655" cy="97861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427896" y="621069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3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5" name="Title Text"/>
          <p:cNvSpPr txBox="1"/>
          <p:nvPr>
            <p:ph type="title"/>
          </p:nvPr>
        </p:nvSpPr>
        <p:spPr>
          <a:xfrm>
            <a:off x="722312" y="4406905"/>
            <a:ext cx="7772401" cy="1362080"/>
          </a:xfrm>
          <a:prstGeom prst="rect">
            <a:avLst/>
          </a:prstGeom>
        </p:spPr>
        <p:txBody>
          <a:bodyPr/>
          <a:lstStyle>
            <a:lvl1pPr>
              <a:defRPr cap="all" sz="3000"/>
            </a:lvl1pPr>
          </a:lstStyle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/>
          <p:nvPr>
            <p:ph type="sldNum" sz="quarter" idx="2"/>
          </p:nvPr>
        </p:nvSpPr>
        <p:spPr>
          <a:xfrm>
            <a:off x="6553200" y="6259832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4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5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5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6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6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7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80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8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90" name="Title Text"/>
          <p:cNvSpPr txBox="1"/>
          <p:nvPr>
            <p:ph type="title"/>
          </p:nvPr>
        </p:nvSpPr>
        <p:spPr>
          <a:xfrm>
            <a:off x="457203" y="273050"/>
            <a:ext cx="3008316" cy="1162050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91" name="Body Level One…"/>
          <p:cNvSpPr txBox="1"/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Text Placeholder 3"/>
          <p:cNvSpPr/>
          <p:nvPr>
            <p:ph type="body" sz="half" idx="21"/>
          </p:nvPr>
        </p:nvSpPr>
        <p:spPr>
          <a:xfrm>
            <a:off x="457201" y="1435103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0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03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104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5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0">
              <a:spcBef>
                <a:spcPts val="200"/>
              </a:spcBef>
              <a:buSzTx/>
              <a:buFontTx/>
              <a:buNone/>
              <a:defRPr sz="1000"/>
            </a:lvl2pPr>
            <a:lvl3pPr marL="0" indent="0">
              <a:spcBef>
                <a:spcPts val="200"/>
              </a:spcBef>
              <a:buSzTx/>
              <a:buFontTx/>
              <a:buNone/>
              <a:defRPr sz="1000"/>
            </a:lvl3pPr>
            <a:lvl4pPr marL="0" indent="0">
              <a:spcBef>
                <a:spcPts val="200"/>
              </a:spcBef>
              <a:buSzTx/>
              <a:buFontTx/>
              <a:buNone/>
              <a:defRPr sz="1000"/>
            </a:lvl4pPr>
            <a:lvl5pPr marL="0" indent="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xfrm>
            <a:off x="427896" y="6156905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1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1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7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1800"/>
            </a:lvl1pPr>
            <a:lvl2pPr marL="0" indent="0">
              <a:buSzTx/>
              <a:buFontTx/>
              <a:buNone/>
              <a:defRPr b="1" sz="1800"/>
            </a:lvl2pPr>
            <a:lvl3pPr marL="0" indent="0">
              <a:buSzTx/>
              <a:buFontTx/>
              <a:buNone/>
              <a:defRPr b="1" sz="1800"/>
            </a:lvl3pPr>
            <a:lvl4pPr marL="0" indent="0">
              <a:buSzTx/>
              <a:buFontTx/>
              <a:buNone/>
              <a:defRPr b="1" sz="1800"/>
            </a:lvl4pPr>
            <a:lvl5pPr marL="0" indent="0"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xfrm>
            <a:off x="6553200" y="6259832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2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29" name="Title Text"/>
          <p:cNvSpPr txBox="1"/>
          <p:nvPr>
            <p:ph type="title"/>
          </p:nvPr>
        </p:nvSpPr>
        <p:spPr>
          <a:xfrm>
            <a:off x="427893" y="530103"/>
            <a:ext cx="5267658" cy="1731953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quarter" idx="1"/>
          </p:nvPr>
        </p:nvSpPr>
        <p:spPr>
          <a:xfrm>
            <a:off x="427896" y="2479367"/>
            <a:ext cx="5267655" cy="978609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xfrm>
            <a:off x="427896" y="621069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3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41" name="Title Text"/>
          <p:cNvSpPr txBox="1"/>
          <p:nvPr>
            <p:ph type="title"/>
          </p:nvPr>
        </p:nvSpPr>
        <p:spPr>
          <a:xfrm>
            <a:off x="213474" y="341767"/>
            <a:ext cx="8686428" cy="87896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142" name="Body Level One…"/>
          <p:cNvSpPr txBox="1"/>
          <p:nvPr>
            <p:ph type="body" idx="1"/>
          </p:nvPr>
        </p:nvSpPr>
        <p:spPr>
          <a:xfrm>
            <a:off x="213474" y="1338867"/>
            <a:ext cx="8686428" cy="4262712"/>
          </a:xfrm>
          <a:prstGeom prst="rect">
            <a:avLst/>
          </a:prstGeom>
        </p:spPr>
        <p:txBody>
          <a:bodyPr lIns="45718" tIns="45718" rIns="45718" bIns="45718"/>
          <a:lstStyle>
            <a:lvl1pPr marL="257242" indent="-257242"/>
            <a:lvl2pPr marL="587984"/>
            <a:lvl3pPr marL="914643" indent="-228660"/>
            <a:lvl4pPr marL="1303366" indent="-274392"/>
            <a:lvl5pPr indent="-274392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/>
          <p:nvPr>
            <p:ph type="sldNum" sz="quarter" idx="2"/>
          </p:nvPr>
        </p:nvSpPr>
        <p:spPr>
          <a:xfrm>
            <a:off x="6553200" y="6259832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5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53" name="Title Text"/>
          <p:cNvSpPr txBox="1"/>
          <p:nvPr>
            <p:ph type="title"/>
          </p:nvPr>
        </p:nvSpPr>
        <p:spPr>
          <a:xfrm>
            <a:off x="722312" y="4406905"/>
            <a:ext cx="7772401" cy="1362077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 cap="all" sz="3000"/>
            </a:lvl1pPr>
          </a:lstStyle>
          <a:p>
            <a:pPr/>
            <a:r>
              <a:t>Title Text</a:t>
            </a:r>
          </a:p>
        </p:txBody>
      </p:sp>
      <p:sp>
        <p:nvSpPr>
          <p:cNvPr id="154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lIns="45718" tIns="45718" rIns="45718" bIns="45718"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6553200" y="6259832"/>
            <a:ext cx="203020" cy="1930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6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65" name="Title Text"/>
          <p:cNvSpPr txBox="1"/>
          <p:nvPr>
            <p:ph type="title"/>
          </p:nvPr>
        </p:nvSpPr>
        <p:spPr>
          <a:xfrm>
            <a:off x="213474" y="341767"/>
            <a:ext cx="8686428" cy="87896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7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76" name="Title Text"/>
          <p:cNvSpPr txBox="1"/>
          <p:nvPr>
            <p:ph type="title"/>
          </p:nvPr>
        </p:nvSpPr>
        <p:spPr>
          <a:xfrm>
            <a:off x="213474" y="341767"/>
            <a:ext cx="8686428" cy="87896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177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8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87" name="Title Text"/>
          <p:cNvSpPr txBox="1"/>
          <p:nvPr>
            <p:ph type="title"/>
          </p:nvPr>
        </p:nvSpPr>
        <p:spPr>
          <a:xfrm>
            <a:off x="213474" y="341767"/>
            <a:ext cx="8686428" cy="87896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188" name="Body Level One…"/>
          <p:cNvSpPr txBox="1"/>
          <p:nvPr>
            <p:ph type="body" sz="half" idx="1"/>
          </p:nvPr>
        </p:nvSpPr>
        <p:spPr>
          <a:xfrm>
            <a:off x="457200" y="1600206"/>
            <a:ext cx="4038600" cy="4525963"/>
          </a:xfrm>
          <a:prstGeom prst="rect">
            <a:avLst/>
          </a:prstGeom>
        </p:spPr>
        <p:txBody>
          <a:bodyPr lIns="45718" tIns="45718" rIns="45718" bIns="45718"/>
          <a:lstStyle>
            <a:lvl1pPr marL="257242" indent="-257242">
              <a:defRPr sz="2100"/>
            </a:lvl1pPr>
            <a:lvl2pPr marL="593088" indent="-250098">
              <a:defRPr sz="2100"/>
            </a:lvl2pPr>
            <a:lvl3pPr marL="926077" indent="-240093">
              <a:defRPr sz="2100"/>
            </a:lvl3pPr>
            <a:lvl4pPr marL="1306006" indent="-277032">
              <a:defRPr sz="2100"/>
            </a:lvl4pPr>
            <a:lvl5pPr marL="1648997" indent="-277032"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9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19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99" name="Title Text"/>
          <p:cNvSpPr txBox="1"/>
          <p:nvPr>
            <p:ph type="title"/>
          </p:nvPr>
        </p:nvSpPr>
        <p:spPr>
          <a:xfrm>
            <a:off x="213474" y="341767"/>
            <a:ext cx="8686428" cy="87896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200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lIns="45718" tIns="45718" rIns="45718" bIns="45718" anchor="b"/>
          <a:lstStyle>
            <a:lvl1pPr marL="0" indent="0">
              <a:spcBef>
                <a:spcPts val="400"/>
              </a:spcBef>
              <a:buSzTx/>
              <a:buFontTx/>
              <a:buNone/>
              <a:defRPr b="1" sz="1800"/>
            </a:lvl1pPr>
            <a:lvl2pPr marL="0" indent="0">
              <a:spcBef>
                <a:spcPts val="400"/>
              </a:spcBef>
              <a:buSzTx/>
              <a:buFontTx/>
              <a:buNone/>
              <a:defRPr b="1" sz="1800"/>
            </a:lvl2pPr>
            <a:lvl3pPr marL="0" indent="0">
              <a:spcBef>
                <a:spcPts val="400"/>
              </a:spcBef>
              <a:buSzTx/>
              <a:buFontTx/>
              <a:buNone/>
              <a:defRPr b="1" sz="1800"/>
            </a:lvl3pPr>
            <a:lvl4pPr marL="0" indent="0">
              <a:spcBef>
                <a:spcPts val="400"/>
              </a:spcBef>
              <a:buSzTx/>
              <a:buFontTx/>
              <a:buNone/>
              <a:defRPr b="1" sz="1800"/>
            </a:lvl4pPr>
            <a:lvl5pPr marL="0" indent="0">
              <a:spcBef>
                <a:spcPts val="400"/>
              </a:spcBef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1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lIns="45718" tIns="45718" rIns="45718" bIns="45718" anchor="b"/>
          <a:lstStyle/>
          <a:p>
            <a:pPr/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210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12" name="Title Text"/>
          <p:cNvSpPr txBox="1"/>
          <p:nvPr>
            <p:ph type="title"/>
          </p:nvPr>
        </p:nvSpPr>
        <p:spPr>
          <a:xfrm>
            <a:off x="213474" y="341767"/>
            <a:ext cx="8686428" cy="87896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213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22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23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33" name="Title Text"/>
          <p:cNvSpPr txBox="1"/>
          <p:nvPr>
            <p:ph type="title"/>
          </p:nvPr>
        </p:nvSpPr>
        <p:spPr>
          <a:xfrm>
            <a:off x="457203" y="273050"/>
            <a:ext cx="3008315" cy="1162050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234" name="Body Level One…"/>
          <p:cNvSpPr txBox="1"/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</p:spPr>
        <p:txBody>
          <a:bodyPr lIns="45718" tIns="45718" rIns="45718" bIns="45718"/>
          <a:lstStyle>
            <a:lvl1pPr marL="257242" indent="-257242"/>
            <a:lvl2pPr marL="587984"/>
            <a:lvl3pPr marL="914643" indent="-228660"/>
            <a:lvl4pPr marL="1303366" indent="-274392"/>
            <a:lvl5pPr indent="-274392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5" name="Text Placeholder 3"/>
          <p:cNvSpPr/>
          <p:nvPr>
            <p:ph type="body" sz="half" idx="21"/>
          </p:nvPr>
        </p:nvSpPr>
        <p:spPr>
          <a:xfrm>
            <a:off x="457201" y="1435103"/>
            <a:ext cx="3008317" cy="4691063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24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46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247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8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0">
              <a:spcBef>
                <a:spcPts val="200"/>
              </a:spcBef>
              <a:buSzTx/>
              <a:buFontTx/>
              <a:buNone/>
              <a:defRPr sz="1000"/>
            </a:lvl2pPr>
            <a:lvl3pPr marL="0" indent="0">
              <a:spcBef>
                <a:spcPts val="200"/>
              </a:spcBef>
              <a:buSzTx/>
              <a:buFontTx/>
              <a:buNone/>
              <a:defRPr sz="1000"/>
            </a:lvl3pPr>
            <a:lvl4pPr marL="0" indent="0">
              <a:spcBef>
                <a:spcPts val="200"/>
              </a:spcBef>
              <a:buSzTx/>
              <a:buFontTx/>
              <a:buNone/>
              <a:defRPr sz="1000"/>
            </a:lvl4pPr>
            <a:lvl5pPr marL="0" indent="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9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-1" y="6049340"/>
            <a:ext cx="9157815" cy="808663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8000" cy="22385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6"/>
          <p:cNvSpPr/>
          <p:nvPr/>
        </p:nvSpPr>
        <p:spPr>
          <a:xfrm>
            <a:off x="-1" y="5956648"/>
            <a:ext cx="9144001" cy="92702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213474" y="1338867"/>
            <a:ext cx="8686428" cy="426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6553200" y="6259832"/>
            <a:ext cx="203020" cy="1930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55 Helvetica Roman"/>
                <a:ea typeface="55 Helvetica Roman"/>
                <a:cs typeface="55 Helvetica Roman"/>
                <a:sym typeface="55 Helvetica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transition xmlns:p14="http://schemas.microsoft.com/office/powerpoint/2010/main" spd="med" advClick="1"/>
  <p:txStyles>
    <p:titleStyle>
      <a:lvl1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257242" marR="0" indent="-25724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1pPr>
      <a:lvl2pPr marL="587984" marR="0" indent="-244994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2pPr>
      <a:lvl3pPr marL="914643" marR="0" indent="-228659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3pPr>
      <a:lvl4pPr marL="1303365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4pPr>
      <a:lvl5pPr marL="1646358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5pPr>
      <a:lvl6pPr marL="1989350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6pPr>
      <a:lvl7pPr marL="2332340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7pPr>
      <a:lvl8pPr marL="2675333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8pPr>
      <a:lvl9pPr marL="3018320" marR="0" indent="-27439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4"/>
          <p:cNvSpPr/>
          <p:nvPr/>
        </p:nvSpPr>
        <p:spPr>
          <a:xfrm>
            <a:off x="2" y="0"/>
            <a:ext cx="9151874" cy="6858000"/>
          </a:xfrm>
          <a:prstGeom prst="rect">
            <a:avLst/>
          </a:prstGeom>
          <a:solidFill>
            <a:srgbClr val="011B3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259" name="Title 5"/>
          <p:cNvSpPr txBox="1"/>
          <p:nvPr>
            <p:ph type="ctrTitle"/>
          </p:nvPr>
        </p:nvSpPr>
        <p:spPr>
          <a:xfrm>
            <a:off x="626683" y="1502819"/>
            <a:ext cx="8184809" cy="978701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BBBCBC"/>
                </a:solidFill>
              </a:defRPr>
            </a:lvl1pPr>
          </a:lstStyle>
          <a:p>
            <a:pPr/>
            <a:r>
              <a:t>Yelp Dataset Sentiment Analysis</a:t>
            </a:r>
          </a:p>
        </p:txBody>
      </p:sp>
      <p:sp>
        <p:nvSpPr>
          <p:cNvPr id="260" name="Subtitle 6"/>
          <p:cNvSpPr txBox="1"/>
          <p:nvPr>
            <p:ph type="subTitle" sz="quarter" idx="1"/>
          </p:nvPr>
        </p:nvSpPr>
        <p:spPr>
          <a:xfrm>
            <a:off x="626683" y="2397727"/>
            <a:ext cx="3558235" cy="547978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b="0" sz="1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Phase 2: Project Plan</a:t>
            </a:r>
          </a:p>
        </p:txBody>
      </p:sp>
      <p:pic>
        <p:nvPicPr>
          <p:cNvPr id="26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68898" y="4690386"/>
            <a:ext cx="2016793" cy="14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Subtitle 6"/>
          <p:cNvSpPr txBox="1"/>
          <p:nvPr/>
        </p:nvSpPr>
        <p:spPr>
          <a:xfrm>
            <a:off x="672401" y="4372202"/>
            <a:ext cx="4131255" cy="1422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Cole Hanrahan and Julia Sober</a:t>
            </a: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COSC 5540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 — </a:t>
            </a:r>
            <a:r>
              <a:t>Text Mining &amp; Analysis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Fall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roject Motivation and Goals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</p:spPr>
        <p:txBody>
          <a:bodyPr/>
          <a:lstStyle/>
          <a:p>
            <a:pPr/>
            <a:r>
              <a:t>Project Motivation and Goals</a:t>
            </a:r>
          </a:p>
        </p:txBody>
      </p:sp>
      <p:sp>
        <p:nvSpPr>
          <p:cNvPr id="265" name="Star ratings on Yelp reviews are widely used but can be subjective and inconsistent.…"/>
          <p:cNvSpPr txBox="1"/>
          <p:nvPr>
            <p:ph type="body" idx="1"/>
          </p:nvPr>
        </p:nvSpPr>
        <p:spPr>
          <a:xfrm>
            <a:off x="213473" y="1256420"/>
            <a:ext cx="8239264" cy="4345159"/>
          </a:xfrm>
          <a:prstGeom prst="rect">
            <a:avLst/>
          </a:prstGeom>
        </p:spPr>
        <p:txBody>
          <a:bodyPr/>
          <a:lstStyle/>
          <a:p>
            <a:pPr marL="216084" indent="-216084" defTabSz="288110">
              <a:spcBef>
                <a:spcPts val="400"/>
              </a:spcBef>
              <a:defRPr sz="2000"/>
            </a:pPr>
            <a:r>
              <a:t>Star ratings on Yelp reviews are widely used but can be subjective and inconsistent. </a:t>
            </a:r>
          </a:p>
          <a:p>
            <a:pPr marL="216084" indent="-216084" defTabSz="288110">
              <a:spcBef>
                <a:spcPts val="400"/>
              </a:spcBef>
              <a:defRPr sz="2000"/>
            </a:pPr>
            <a:r>
              <a:t>Predicting ratings from review text can help users gauge sentiment efficiently, businesses pinpoint improvement areas, and researchers better understand satisfaction drivers.</a:t>
            </a:r>
          </a:p>
          <a:p>
            <a:pPr marL="216084" indent="-216084" defTabSz="288110">
              <a:spcBef>
                <a:spcPts val="400"/>
              </a:spcBef>
              <a:defRPr b="1" sz="2000"/>
            </a:pPr>
            <a:r>
              <a:t>We are building on prior work in text-based sentiment and rating prediction, aiming to improve model performance and address gaps in contextual understanding and sentiment analysis.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Insights from Literature Review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</p:spPr>
        <p:txBody>
          <a:bodyPr/>
          <a:lstStyle/>
          <a:p>
            <a:pPr/>
            <a:r>
              <a:t>Insights from Literature Review</a:t>
            </a:r>
          </a:p>
        </p:txBody>
      </p:sp>
      <p:sp>
        <p:nvSpPr>
          <p:cNvPr id="268" name="Sentiment classification (positive vs. negative) achieves high accuracy (around 90%), but predicting specific star ratings (1–5) is much harder, with accuracy between 60–65%.…"/>
          <p:cNvSpPr txBox="1"/>
          <p:nvPr>
            <p:ph type="body" idx="1"/>
          </p:nvPr>
        </p:nvSpPr>
        <p:spPr>
          <a:xfrm>
            <a:off x="213474" y="1338867"/>
            <a:ext cx="8686428" cy="4262713"/>
          </a:xfrm>
          <a:prstGeom prst="rect">
            <a:avLst/>
          </a:prstGeom>
        </p:spPr>
        <p:txBody>
          <a:bodyPr/>
          <a:lstStyle/>
          <a:p>
            <a:pPr marL="216084" indent="-216084" defTabSz="288110">
              <a:spcBef>
                <a:spcPts val="400"/>
              </a:spcBef>
              <a:defRPr sz="2000"/>
            </a:pPr>
            <a:r>
              <a:t>Sentiment classification (positive vs. negative) achieves high accuracy (around 90%), but predicting specific star ratings (1–5) is much harder, with accuracy between 60–65%.</a:t>
            </a:r>
          </a:p>
          <a:p>
            <a:pPr marL="216084" indent="-216084" defTabSz="288110">
              <a:spcBef>
                <a:spcPts val="400"/>
              </a:spcBef>
              <a:defRPr sz="2000"/>
            </a:pPr>
            <a:r>
              <a:t>Best traditional features are TF-IDF n-grams, and strong classical models include logistic regression and SVM.</a:t>
            </a:r>
          </a:p>
          <a:p>
            <a:pPr marL="216084" indent="-216084" defTabSz="288110">
              <a:spcBef>
                <a:spcPts val="400"/>
              </a:spcBef>
              <a:defRPr sz="2000"/>
            </a:pPr>
            <a:r>
              <a:t>Deep models like CNNs and BERT offer nuanced understanding but struggle particularly with middle (2–3 star) reviews due to ambiguity and class imbalance. </a:t>
            </a:r>
          </a:p>
          <a:p>
            <a:pPr marL="216084" indent="-216084" defTabSz="288110">
              <a:spcBef>
                <a:spcPts val="400"/>
              </a:spcBef>
              <a:defRPr b="1" sz="2000"/>
            </a:pPr>
            <a:r>
              <a:t>Key gaps:</a:t>
            </a:r>
            <a:r>
              <a:rPr b="0"/>
              <a:t> limited context understanding, dominance of 4/5-star reviews, and need for better model explainability.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Data Preparation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</p:spPr>
        <p:txBody>
          <a:bodyPr/>
          <a:lstStyle/>
          <a:p>
            <a:pPr/>
            <a:r>
              <a:t>Data Preparation and Baselines</a:t>
            </a:r>
          </a:p>
        </p:txBody>
      </p:sp>
      <p:sp>
        <p:nvSpPr>
          <p:cNvPr id="271" name="Dataset: Yelp Open Dataset (subset: specific state restaurant reviews).…"/>
          <p:cNvSpPr txBox="1"/>
          <p:nvPr>
            <p:ph type="body" idx="1"/>
          </p:nvPr>
        </p:nvSpPr>
        <p:spPr>
          <a:xfrm>
            <a:off x="213473" y="1338866"/>
            <a:ext cx="8686429" cy="4262716"/>
          </a:xfrm>
          <a:prstGeom prst="rect">
            <a:avLst/>
          </a:prstGeom>
        </p:spPr>
        <p:txBody>
          <a:bodyPr/>
          <a:lstStyle/>
          <a:p>
            <a:pPr marL="488948" indent="-322324" defTabSz="322409">
              <a:lnSpc>
                <a:spcPct val="90000"/>
              </a:lnSpc>
              <a:spcBef>
                <a:spcPts val="400"/>
              </a:spcBef>
              <a:defRPr sz="2200"/>
            </a:pPr>
            <a:r>
              <a:t>Filtered Yelp restaurant reviews, normalized text (lowercasing, punctuation and stopword removal), and derived auxiliary features like review length.</a:t>
            </a:r>
          </a:p>
          <a:p>
            <a:pPr marL="488948" indent="-322324" defTabSz="322409">
              <a:lnSpc>
                <a:spcPct val="90000"/>
              </a:lnSpc>
              <a:spcBef>
                <a:spcPts val="400"/>
              </a:spcBef>
              <a:defRPr sz="2200"/>
            </a:pPr>
            <a:r>
              <a:t>Output: cleaned, balanced dataset ready for modeling and performance benchmarking.</a:t>
            </a:r>
          </a:p>
          <a:p>
            <a:pPr marL="488948" indent="-322324" defTabSz="322409">
              <a:lnSpc>
                <a:spcPct val="90000"/>
              </a:lnSpc>
              <a:spcBef>
                <a:spcPts val="400"/>
              </a:spcBef>
              <a:defRPr sz="2200"/>
            </a:pPr>
            <a:r>
              <a:t>Built baselines with TF-IDF features and classic models (Logistic Regression, Naive Bayes, SVM, Random Forest, Ordinal Logistic Regression).</a:t>
            </a:r>
          </a:p>
          <a:p>
            <a:pPr lvl="1" marL="799844" indent="-322324" defTabSz="322409">
              <a:lnSpc>
                <a:spcPct val="90000"/>
              </a:lnSpc>
              <a:spcBef>
                <a:spcPts val="400"/>
              </a:spcBef>
              <a:buChar char="•"/>
              <a:defRPr sz="2200"/>
            </a:pPr>
            <a:r>
              <a:t>“Binary” = positive/negative/neutral</a:t>
            </a:r>
          </a:p>
          <a:p>
            <a:pPr lvl="1" marL="799844" indent="-322324" defTabSz="322409">
              <a:lnSpc>
                <a:spcPct val="90000"/>
              </a:lnSpc>
              <a:spcBef>
                <a:spcPts val="400"/>
              </a:spcBef>
              <a:buChar char="•"/>
              <a:defRPr sz="2200"/>
            </a:pPr>
            <a:r>
              <a:t>1-5 RRP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Baseline Results (subsample n=500,000)…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</p:spPr>
        <p:txBody>
          <a:bodyPr/>
          <a:lstStyle/>
          <a:p>
            <a:pPr/>
            <a:r>
              <a:t>Baseline Results </a:t>
            </a:r>
            <a:r>
              <a:rPr sz="1500"/>
              <a:t>(subsample n=500,000)</a:t>
            </a:r>
            <a:endParaRPr sz="1500"/>
          </a:p>
          <a:p>
            <a:pPr>
              <a:defRPr sz="1600"/>
            </a:pPr>
            <a:r>
              <a:t>Features = Unigram + Bigram + TF_IDF w/ max_features = 10,000</a:t>
            </a:r>
          </a:p>
        </p:txBody>
      </p:sp>
      <p:graphicFrame>
        <p:nvGraphicFramePr>
          <p:cNvPr id="274" name="Table 2"/>
          <p:cNvGraphicFramePr/>
          <p:nvPr/>
        </p:nvGraphicFramePr>
        <p:xfrm>
          <a:off x="250233" y="1118448"/>
          <a:ext cx="8612909" cy="462109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64599"/>
                <a:gridCol w="2745440"/>
                <a:gridCol w="1491620"/>
                <a:gridCol w="1711249"/>
              </a:tblGrid>
              <a:tr h="412101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Model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Classification Type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Accuracy (%)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Macro-F1</a:t>
                      </a:r>
                    </a:p>
                  </a:txBody>
                  <a:tcPr marL="0" marR="0" marT="0" marB="0" anchor="t" anchorCtr="0" horzOverflow="overflow"/>
                </a:tc>
              </a:tr>
              <a:tr h="390844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Logistic Regression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67.66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0.5969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Naive Bayes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64.15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0.5187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SVM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44.70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0.4147</a:t>
                      </a:r>
                    </a:p>
                  </a:txBody>
                  <a:tcPr marL="0" marR="0" marT="0" marB="0" anchor="ctr" anchorCtr="0" horzOverflow="overflow"/>
                </a:tc>
              </a:tr>
              <a:tr h="380559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Random Forest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51.96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0.2869</a:t>
                      </a:r>
                    </a:p>
                  </a:txBody>
                  <a:tcPr marL="0" marR="0" marT="0" marB="0" anchor="ctr" anchorCtr="0" horzOverflow="overflow"/>
                </a:tc>
              </a:tr>
              <a:tr h="390844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Ordinal Logistic Regression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1-5 RRP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60.92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0.5268</a:t>
                      </a:r>
                    </a:p>
                  </a:txBody>
                  <a:tcPr marL="0" marR="0" marT="0" marB="0" anchor="ctr" anchorCtr="0" horzOverflow="overflow">
                    <a:lnB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B>
                  </a:tcPr>
                </a:tc>
              </a:tr>
              <a:tr h="466957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Logistic Regression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87.43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0.7398</a:t>
                      </a:r>
                    </a:p>
                  </a:txBody>
                  <a:tcPr marL="0" marR="0" marT="0" marB="0" anchor="ctr" anchorCtr="0" horzOverflow="overflow">
                    <a:lnT w="38100" cap="rnd">
                      <a:solidFill>
                        <a:schemeClr val="accent1">
                          <a:lumOff val="-4862"/>
                        </a:schemeClr>
                      </a:solidFill>
                      <a:custDash>
                        <a:ds d="100000" sp="200000"/>
                      </a:custDash>
                    </a:lnT>
                  </a:tcPr>
                </a:tc>
              </a:tr>
              <a:tr h="454667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Naive Bayes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84.45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0.6494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7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SVM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60.63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0.5081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7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Random Forest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75.83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0.4622</a:t>
                      </a:r>
                    </a:p>
                  </a:txBody>
                  <a:tcPr marL="0" marR="0" marT="0" marB="0" anchor="ctr" anchorCtr="0" horzOverflow="overflow"/>
                </a:tc>
              </a:tr>
              <a:tr h="454667"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b="1"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Ordinal Logistic Regression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Pos. / Neu. / Neg.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85.66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342991">
                        <a:spcBef>
                          <a:spcPts val="200"/>
                        </a:spcBef>
                        <a:defRPr sz="1800"/>
                      </a:pPr>
                      <a:r>
                        <a:rPr sz="1500">
                          <a:latin typeface="Adobe Caslon Pro"/>
                          <a:ea typeface="Adobe Caslon Pro"/>
                          <a:cs typeface="Adobe Caslon Pro"/>
                          <a:sym typeface="Adobe Caslon Pro"/>
                        </a:rPr>
                        <a:t>0.7133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What We Noticed"/>
          <p:cNvSpPr txBox="1"/>
          <p:nvPr>
            <p:ph type="title"/>
          </p:nvPr>
        </p:nvSpPr>
        <p:spPr>
          <a:xfrm>
            <a:off x="213474" y="341767"/>
            <a:ext cx="8686428" cy="878970"/>
          </a:xfrm>
          <a:prstGeom prst="rect">
            <a:avLst/>
          </a:prstGeom>
        </p:spPr>
        <p:txBody>
          <a:bodyPr/>
          <a:lstStyle/>
          <a:p>
            <a:pPr/>
            <a:r>
              <a:t>What We Noticed (From Baselines)</a:t>
            </a:r>
          </a:p>
        </p:txBody>
      </p:sp>
      <p:sp>
        <p:nvSpPr>
          <p:cNvPr id="277" name="The Pattern:…"/>
          <p:cNvSpPr txBox="1"/>
          <p:nvPr>
            <p:ph type="body" idx="1"/>
          </p:nvPr>
        </p:nvSpPr>
        <p:spPr>
          <a:xfrm>
            <a:off x="213474" y="1338867"/>
            <a:ext cx="8686428" cy="4262713"/>
          </a:xfrm>
          <a:prstGeom prst="rect">
            <a:avLst/>
          </a:prstGeom>
        </p:spPr>
        <p:txBody>
          <a:bodyPr/>
          <a:lstStyle/>
          <a:p>
            <a:pPr marL="234551" indent="-234551" defTabSz="312737">
              <a:spcBef>
                <a:spcPts val="300"/>
              </a:spcBef>
              <a:defRPr b="1" sz="2134"/>
            </a:pPr>
            <a:r>
              <a:t>Positive/Negative/Neutral </a:t>
            </a:r>
            <a:r>
              <a:rPr b="0"/>
              <a:t>classification much easier than 1-5 RRP</a:t>
            </a:r>
            <a:endParaRPr b="0"/>
          </a:p>
          <a:p>
            <a:pPr lvl="1" marL="547290" indent="-234551" defTabSz="312737">
              <a:spcBef>
                <a:spcPts val="300"/>
              </a:spcBef>
              <a:buChar char="•"/>
              <a:defRPr b="1" sz="2134"/>
            </a:pPr>
            <a:r>
              <a:rPr b="0"/>
              <a:t>Approx. 20% higher accuracy (matches expectation from literature)</a:t>
            </a:r>
            <a:endParaRPr b="0"/>
          </a:p>
          <a:p>
            <a:pPr lvl="1" marL="547290" indent="-234551" defTabSz="312737">
              <a:spcBef>
                <a:spcPts val="300"/>
              </a:spcBef>
              <a:buChar char="•"/>
              <a:defRPr sz="2134"/>
            </a:pPr>
            <a:r>
              <a:t>The model can identify </a:t>
            </a:r>
            <a:r>
              <a:rPr b="1"/>
              <a:t>polarity</a:t>
            </a:r>
            <a:r>
              <a:t>, but it struggles to map </a:t>
            </a:r>
            <a:r>
              <a:rPr b="1"/>
              <a:t>polarity → precise star rating </a:t>
            </a:r>
            <a:r>
              <a:t>(problem isn’t sentiment detection, it’s rating calibration).</a:t>
            </a:r>
          </a:p>
          <a:p>
            <a:pPr marL="234551" indent="-234551" defTabSz="312737">
              <a:spcBef>
                <a:spcPts val="300"/>
              </a:spcBef>
              <a:defRPr b="1" sz="2134"/>
            </a:pPr>
            <a:r>
              <a:rPr b="0"/>
              <a:t>Positive vs negative</a:t>
            </a:r>
            <a:r>
              <a:rPr b="0"/>
              <a:t> reviews are </a:t>
            </a:r>
            <a:r>
              <a:rPr b="0" i="1"/>
              <a:t>very easy</a:t>
            </a:r>
            <a:r>
              <a:rPr b="0"/>
              <a:t> to separate (97% accuracy when we took out 3 star ratings)</a:t>
            </a:r>
            <a:endParaRPr b="0"/>
          </a:p>
          <a:p>
            <a:pPr marL="234551" indent="-234551" defTabSz="312737">
              <a:spcBef>
                <a:spcPts val="300"/>
              </a:spcBef>
              <a:defRPr sz="2134"/>
            </a:pPr>
            <a:r>
              <a:t>The multi-class (1–5) setup suffers because 3-star reviews </a:t>
            </a:r>
            <a:r>
              <a:rPr b="1"/>
              <a:t>blur the boundaries</a:t>
            </a:r>
            <a:r>
              <a:t>.</a:t>
            </a:r>
            <a:endParaRPr b="1"/>
          </a:p>
          <a:p>
            <a:pPr lvl="1" marL="547290" indent="-234551" defTabSz="312737">
              <a:spcBef>
                <a:spcPts val="300"/>
              </a:spcBef>
              <a:buChar char="•"/>
              <a:defRPr b="1" sz="2134"/>
            </a:pPr>
            <a:r>
              <a:t>Neutral (3-star)</a:t>
            </a:r>
            <a:r>
              <a:rPr b="0"/>
              <a:t> reviews are </a:t>
            </a:r>
            <a:r>
              <a:rPr i="1"/>
              <a:t>ambiguous</a:t>
            </a:r>
            <a:r>
              <a:rPr b="0"/>
              <a:t> — they overlap lexically and sentiment-wise with both extremes.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Idea: Layered Classifi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Idea: Layered Classifier</a:t>
            </a:r>
          </a:p>
        </p:txBody>
      </p:sp>
      <p:sp>
        <p:nvSpPr>
          <p:cNvPr id="280" name="TF-IDF with n-grams (1,2)…"/>
          <p:cNvSpPr txBox="1"/>
          <p:nvPr>
            <p:ph type="body" sz="half" idx="1"/>
          </p:nvPr>
        </p:nvSpPr>
        <p:spPr>
          <a:xfrm>
            <a:off x="2754203" y="1144510"/>
            <a:ext cx="3635594" cy="4457069"/>
          </a:xfrm>
          <a:prstGeom prst="rect">
            <a:avLst/>
          </a:prstGeom>
        </p:spPr>
        <p:txBody>
          <a:bodyPr/>
          <a:lstStyle/>
          <a:p>
            <a:pPr marL="187786" indent="-187786" defTabSz="250383">
              <a:spcBef>
                <a:spcPts val="300"/>
              </a:spcBef>
              <a:defRPr sz="1752"/>
            </a:pPr>
            <a:r>
              <a:rPr b="1"/>
              <a:t>TF-IDF</a:t>
            </a:r>
            <a:r>
              <a:t> with n-grams (1,2) </a:t>
            </a:r>
          </a:p>
          <a:p>
            <a:pPr marL="187786" indent="-187786" defTabSz="250383">
              <a:spcBef>
                <a:spcPts val="300"/>
              </a:spcBef>
              <a:defRPr sz="1752"/>
            </a:pPr>
            <a:r>
              <a:rPr b="1"/>
              <a:t>Logistic Regression</a:t>
            </a:r>
            <a:r>
              <a:t> at both levels</a:t>
            </a:r>
          </a:p>
          <a:p>
            <a:pPr marL="187786" indent="-187786" defTabSz="250383">
              <a:spcBef>
                <a:spcPts val="300"/>
              </a:spcBef>
              <a:defRPr sz="1752"/>
            </a:pPr>
            <a:r>
              <a:t>First iteration accuracy almost the exact same as baseline (Logistic Regression w/ TF-IDF)</a:t>
            </a:r>
          </a:p>
          <a:p>
            <a:pPr lvl="1" marL="438169" indent="-187786" defTabSz="250383">
              <a:spcBef>
                <a:spcPts val="300"/>
              </a:spcBef>
              <a:buChar char="•"/>
              <a:defRPr b="1" sz="1752"/>
            </a:pPr>
            <a:r>
              <a:t>Cascading errors for 3 star classification</a:t>
            </a:r>
          </a:p>
          <a:p>
            <a:pPr marL="187786" indent="-187786" defTabSz="250383">
              <a:spcBef>
                <a:spcPts val="300"/>
              </a:spcBef>
              <a:defRPr sz="1752"/>
            </a:pPr>
            <a:r>
              <a:t>Current iteration 1% better (than baseline LR), and we think can be improved further.</a:t>
            </a:r>
          </a:p>
          <a:p>
            <a:pPr lvl="1" marL="438169" indent="-187786" defTabSz="250383">
              <a:spcBef>
                <a:spcPts val="300"/>
              </a:spcBef>
              <a:buChar char="•"/>
              <a:defRPr sz="1752"/>
            </a:pPr>
            <a:r>
              <a:t>Hyperparameter tuning</a:t>
            </a:r>
          </a:p>
          <a:p>
            <a:pPr lvl="1" marL="438169" indent="-187786" defTabSz="250383">
              <a:spcBef>
                <a:spcPts val="300"/>
              </a:spcBef>
              <a:buChar char="•"/>
              <a:defRPr sz="1752"/>
            </a:pPr>
            <a:r>
              <a:t>Soft-er routing (probabilities)</a:t>
            </a:r>
          </a:p>
          <a:p>
            <a:pPr lvl="1" marL="438169" indent="-187786" defTabSz="250383">
              <a:spcBef>
                <a:spcPts val="300"/>
              </a:spcBef>
              <a:buChar char="•"/>
              <a:defRPr sz="1752"/>
            </a:pPr>
            <a:r>
              <a:t>Trying different models at layer 2 (i.e. regressor)</a:t>
            </a:r>
          </a:p>
        </p:txBody>
      </p:sp>
      <p:pic>
        <p:nvPicPr>
          <p:cNvPr id="281" name="Screenshot 2025-11-07 at 11.38.22 AM.png" descr="Screenshot 2025-11-07 at 11.38.22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492" y="1272326"/>
            <a:ext cx="2445936" cy="34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" name="Screenshot 2025-11-13 at 10.00.53 AM.png" descr="Screenshot 2025-11-13 at 10.00.5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39572" y="1096242"/>
            <a:ext cx="2445936" cy="3760169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First Test Iteration"/>
          <p:cNvSpPr txBox="1"/>
          <p:nvPr/>
        </p:nvSpPr>
        <p:spPr>
          <a:xfrm>
            <a:off x="617900" y="4731916"/>
            <a:ext cx="1527120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/>
            </a:lvl1pPr>
          </a:lstStyle>
          <a:p>
            <a:pPr/>
            <a:r>
              <a:t>First Test Iteration</a:t>
            </a:r>
          </a:p>
        </p:txBody>
      </p:sp>
      <p:sp>
        <p:nvSpPr>
          <p:cNvPr id="284" name="Current Architecture"/>
          <p:cNvSpPr txBox="1"/>
          <p:nvPr/>
        </p:nvSpPr>
        <p:spPr>
          <a:xfrm>
            <a:off x="6998980" y="4731916"/>
            <a:ext cx="1724224" cy="277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/>
            </a:lvl1pPr>
          </a:lstStyle>
          <a:p>
            <a:pPr/>
            <a:r>
              <a:t>Current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Rounded Rectangle 3"/>
          <p:cNvGrpSpPr/>
          <p:nvPr/>
        </p:nvGrpSpPr>
        <p:grpSpPr>
          <a:xfrm>
            <a:off x="237725" y="950105"/>
            <a:ext cx="1481348" cy="280798"/>
            <a:chOff x="0" y="0"/>
            <a:chExt cx="1481347" cy="280796"/>
          </a:xfrm>
        </p:grpSpPr>
        <p:sp>
          <p:nvSpPr>
            <p:cNvPr id="286" name="Rounded Rectangle"/>
            <p:cNvSpPr/>
            <p:nvPr/>
          </p:nvSpPr>
          <p:spPr>
            <a:xfrm>
              <a:off x="0" y="35243"/>
              <a:ext cx="1481348" cy="210315"/>
            </a:xfrm>
            <a:prstGeom prst="roundRect">
              <a:avLst>
                <a:gd name="adj" fmla="val 16667"/>
              </a:avLst>
            </a:prstGeom>
            <a:solidFill>
              <a:srgbClr val="85E7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287" name="Phase 1"/>
            <p:cNvSpPr txBox="1"/>
            <p:nvPr/>
          </p:nvSpPr>
          <p:spPr>
            <a:xfrm>
              <a:off x="55986" y="0"/>
              <a:ext cx="1369375" cy="2807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400"/>
              </a:lvl1pPr>
            </a:lstStyle>
            <a:p>
              <a:pPr/>
              <a:r>
                <a:t>Phase 1</a:t>
              </a:r>
            </a:p>
          </p:txBody>
        </p:sp>
      </p:grpSp>
      <p:grpSp>
        <p:nvGrpSpPr>
          <p:cNvPr id="291" name="Rounded Rectangle 4"/>
          <p:cNvGrpSpPr/>
          <p:nvPr/>
        </p:nvGrpSpPr>
        <p:grpSpPr>
          <a:xfrm>
            <a:off x="1719071" y="1593590"/>
            <a:ext cx="3411041" cy="280798"/>
            <a:chOff x="0" y="0"/>
            <a:chExt cx="3411039" cy="280796"/>
          </a:xfrm>
        </p:grpSpPr>
        <p:sp>
          <p:nvSpPr>
            <p:cNvPr id="289" name="Rounded Rectangle"/>
            <p:cNvSpPr/>
            <p:nvPr/>
          </p:nvSpPr>
          <p:spPr>
            <a:xfrm>
              <a:off x="-1" y="35243"/>
              <a:ext cx="3411040" cy="210315"/>
            </a:xfrm>
            <a:prstGeom prst="roundRect">
              <a:avLst>
                <a:gd name="adj" fmla="val 16667"/>
              </a:avLst>
            </a:prstGeom>
            <a:solidFill>
              <a:srgbClr val="FF85A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290" name="Phase 2"/>
            <p:cNvSpPr txBox="1"/>
            <p:nvPr/>
          </p:nvSpPr>
          <p:spPr>
            <a:xfrm>
              <a:off x="55985" y="0"/>
              <a:ext cx="3299067" cy="2807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400"/>
              </a:lvl1pPr>
            </a:lstStyle>
            <a:p>
              <a:pPr/>
              <a:r>
                <a:t>Phase 2</a:t>
              </a:r>
            </a:p>
          </p:txBody>
        </p:sp>
      </p:grpSp>
      <p:graphicFrame>
        <p:nvGraphicFramePr>
          <p:cNvPr id="292" name="Table 6"/>
          <p:cNvGraphicFramePr/>
          <p:nvPr/>
        </p:nvGraphicFramePr>
        <p:xfrm>
          <a:off x="182879" y="1222434"/>
          <a:ext cx="1536192" cy="40640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536192"/>
              </a:tblGrid>
              <a:tr h="203200">
                <a:tc>
                  <a:txBody>
                    <a:bodyPr/>
                    <a:lstStyle/>
                    <a:p>
                      <a:pPr algn="ctr"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Literature Review</a:t>
                      </a:r>
                    </a:p>
                  </a:txBody>
                  <a:tcPr marL="9525" marR="9525" marT="9525" marB="9525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Data Gathering</a:t>
                      </a:r>
                    </a:p>
                  </a:txBody>
                  <a:tcPr marL="9525" marR="9525" marT="9525" marB="9525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3" name="Table 7"/>
          <p:cNvGraphicFramePr/>
          <p:nvPr/>
        </p:nvGraphicFramePr>
        <p:xfrm>
          <a:off x="1719071" y="1940923"/>
          <a:ext cx="3455471" cy="142274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78030"/>
                <a:gridCol w="1280160"/>
                <a:gridCol w="1097280"/>
              </a:tblGrid>
              <a:tr h="204972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b="1" i="1"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Data Cleaning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b="1" i="1"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Preprocessing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b="1" i="1"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Feature Extraction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</a:tr>
              <a:tr h="204972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Json to csv files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Lowercasing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TF-IDF features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</a:tr>
              <a:tr h="192914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Restaurant reviews only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Negation Handling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Unigrams + bigrams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</a:tr>
              <a:tr h="409943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State specific data frames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Removing stopwords, punctuations, urls, numbers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</a:tr>
              <a:tr h="409943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Extract review length, capitalizations, exclamation points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5758" marR="5758" marT="5758" marB="5758" anchor="b" anchorCtr="0" horzOverflow="overflow">
                    <a:noFill/>
                  </a:tcPr>
                </a:tc>
              </a:tr>
            </a:tbl>
          </a:graphicData>
        </a:graphic>
      </p:graphicFrame>
      <p:graphicFrame>
        <p:nvGraphicFramePr>
          <p:cNvPr id="294" name="Table 8"/>
          <p:cNvGraphicFramePr/>
          <p:nvPr/>
        </p:nvGraphicFramePr>
        <p:xfrm>
          <a:off x="5248261" y="3429000"/>
          <a:ext cx="3712858" cy="191133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40590"/>
                <a:gridCol w="1350413"/>
                <a:gridCol w="1221854"/>
              </a:tblGrid>
              <a:tr h="169332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b="1" i="1" sz="11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Baseline Modeling</a:t>
                      </a:r>
                    </a:p>
                  </a:txBody>
                  <a:tcPr marL="6995" marR="6995" marT="6995" marB="6995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b="1" i="1" sz="11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Advanced Modeling</a:t>
                      </a:r>
                    </a:p>
                  </a:txBody>
                  <a:tcPr marL="6995" marR="6995" marT="6995" marB="6995" anchor="b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b="1" i="1" sz="11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Final Evaluations</a:t>
                      </a:r>
                    </a:p>
                  </a:txBody>
                  <a:tcPr marL="6995" marR="6995" marT="6995" marB="6995" anchor="b" anchorCtr="0" horzOverflow="overflow">
                    <a:noFill/>
                  </a:tcPr>
                </a:tc>
              </a:tr>
              <a:tr h="169332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Linear Regression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000"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r>
                        <a:t>Layered classifier </a:t>
                      </a:r>
                    </a:p>
                    <a:p>
                      <a:pPr defTabSz="342991">
                        <a:defRPr sz="1000"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r>
                        <a:t>+ soft routing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Error Analysis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</a:tr>
              <a:tr h="312734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Logistic Regression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Simple MLP + BERT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Per class performance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</a:tr>
              <a:tr h="312734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Naïve Bayes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Multi-Task BERT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Evaluation &amp; Comparison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</a:tr>
              <a:tr h="465131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SVM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"/>
                        </a:defRPr>
                      </a:pP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Confusion matrices &amp; metric tables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</a:tr>
              <a:tr h="169332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Random Forest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</a:tr>
              <a:tr h="312734"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Ordinal Logistic Regression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Hyperparameter tuning and model adjustments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sz="10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6995" marR="6995" marT="6995" marB="6995" anchor="ctr" anchorCtr="0" horzOverflow="overflow">
                    <a:noFill/>
                  </a:tcPr>
                </a:tc>
              </a:tr>
            </a:tbl>
          </a:graphicData>
        </a:graphic>
      </p:graphicFrame>
      <p:grpSp>
        <p:nvGrpSpPr>
          <p:cNvPr id="297" name="Rounded Rectangle 5"/>
          <p:cNvGrpSpPr/>
          <p:nvPr/>
        </p:nvGrpSpPr>
        <p:grpSpPr>
          <a:xfrm>
            <a:off x="5248261" y="3040046"/>
            <a:ext cx="3712859" cy="280798"/>
            <a:chOff x="0" y="0"/>
            <a:chExt cx="3712858" cy="280796"/>
          </a:xfrm>
        </p:grpSpPr>
        <p:sp>
          <p:nvSpPr>
            <p:cNvPr id="295" name="Rounded Rectangle"/>
            <p:cNvSpPr/>
            <p:nvPr/>
          </p:nvSpPr>
          <p:spPr>
            <a:xfrm>
              <a:off x="0" y="34332"/>
              <a:ext cx="3712859" cy="212137"/>
            </a:xfrm>
            <a:prstGeom prst="roundRect">
              <a:avLst>
                <a:gd name="adj" fmla="val 16667"/>
              </a:avLst>
            </a:prstGeom>
            <a:solidFill>
              <a:srgbClr val="B0E2A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296" name="Phase 3"/>
            <p:cNvSpPr txBox="1"/>
            <p:nvPr/>
          </p:nvSpPr>
          <p:spPr>
            <a:xfrm>
              <a:off x="56075" y="0"/>
              <a:ext cx="3600708" cy="2807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400"/>
              </a:lvl1pPr>
            </a:lstStyle>
            <a:p>
              <a:pPr/>
              <a:r>
                <a:t>Phase 3</a:t>
              </a:r>
            </a:p>
          </p:txBody>
        </p:sp>
      </p:grpSp>
      <p:sp>
        <p:nvSpPr>
          <p:cNvPr id="298" name="Left Brace 18"/>
          <p:cNvSpPr/>
          <p:nvPr/>
        </p:nvSpPr>
        <p:spPr>
          <a:xfrm rot="16200000">
            <a:off x="891531" y="1369525"/>
            <a:ext cx="82298" cy="7315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09"/>
                  <a:pt x="10800" y="21398"/>
                </a:cubicBezTo>
                <a:lnTo>
                  <a:pt x="10800" y="11003"/>
                </a:lnTo>
                <a:cubicBezTo>
                  <a:pt x="10800" y="10891"/>
                  <a:pt x="5965" y="10800"/>
                  <a:pt x="0" y="10800"/>
                </a:cubicBezTo>
                <a:cubicBezTo>
                  <a:pt x="5965" y="10800"/>
                  <a:pt x="10800" y="10709"/>
                  <a:pt x="10800" y="10597"/>
                </a:cubicBezTo>
                <a:lnTo>
                  <a:pt x="10800" y="202"/>
                </a:lnTo>
                <a:cubicBezTo>
                  <a:pt x="10800" y="91"/>
                  <a:pt x="15635" y="0"/>
                  <a:pt x="21600" y="0"/>
                </a:cubicBezTo>
              </a:path>
            </a:pathLst>
          </a:custGeom>
          <a:ln w="25400">
            <a:solidFill>
              <a:srgbClr val="84E8FF"/>
            </a:solidFill>
          </a:ln>
        </p:spPr>
        <p:txBody>
          <a:bodyPr lIns="45718" tIns="45718" rIns="45718" bIns="45718" anchor="ctr"/>
          <a:lstStyle/>
          <a:p>
            <a:pPr algn="ctr"/>
          </a:p>
        </p:txBody>
      </p:sp>
      <p:sp>
        <p:nvSpPr>
          <p:cNvPr id="299" name="TextBox 19"/>
          <p:cNvSpPr txBox="1"/>
          <p:nvPr/>
        </p:nvSpPr>
        <p:spPr>
          <a:xfrm>
            <a:off x="553201" y="1810119"/>
            <a:ext cx="758954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100"/>
            </a:lvl1pPr>
          </a:lstStyle>
          <a:p>
            <a:pPr/>
            <a:r>
              <a:t>Cole &amp; Julia</a:t>
            </a:r>
          </a:p>
        </p:txBody>
      </p:sp>
      <p:sp>
        <p:nvSpPr>
          <p:cNvPr id="300" name="TextBox 20"/>
          <p:cNvSpPr txBox="1"/>
          <p:nvPr/>
        </p:nvSpPr>
        <p:spPr>
          <a:xfrm>
            <a:off x="3012467" y="1164853"/>
            <a:ext cx="758954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100"/>
            </a:lvl1pPr>
          </a:lstStyle>
          <a:p>
            <a:pPr/>
            <a:r>
              <a:t>Cole &amp; Julia</a:t>
            </a:r>
          </a:p>
        </p:txBody>
      </p:sp>
      <p:sp>
        <p:nvSpPr>
          <p:cNvPr id="301" name="Left Brace 21"/>
          <p:cNvSpPr/>
          <p:nvPr/>
        </p:nvSpPr>
        <p:spPr>
          <a:xfrm rot="5400000">
            <a:off x="3336118" y="-26144"/>
            <a:ext cx="111650" cy="2994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70"/>
                  <a:pt x="10800" y="21533"/>
                </a:cubicBezTo>
                <a:lnTo>
                  <a:pt x="10800" y="10867"/>
                </a:lnTo>
                <a:cubicBezTo>
                  <a:pt x="10800" y="10830"/>
                  <a:pt x="5965" y="10800"/>
                  <a:pt x="0" y="10800"/>
                </a:cubicBezTo>
                <a:cubicBezTo>
                  <a:pt x="5965" y="10800"/>
                  <a:pt x="10800" y="10770"/>
                  <a:pt x="10800" y="10733"/>
                </a:cubicBezTo>
                <a:lnTo>
                  <a:pt x="10800" y="67"/>
                </a:lnTo>
                <a:cubicBezTo>
                  <a:pt x="10800" y="30"/>
                  <a:pt x="15635" y="0"/>
                  <a:pt x="21600" y="0"/>
                </a:cubicBezTo>
              </a:path>
            </a:pathLst>
          </a:custGeom>
          <a:ln w="25400">
            <a:solidFill>
              <a:srgbClr val="FF85A3"/>
            </a:solidFill>
          </a:ln>
        </p:spPr>
        <p:txBody>
          <a:bodyPr lIns="45718" tIns="45718" rIns="45718" bIns="45718" anchor="ctr"/>
          <a:lstStyle/>
          <a:p>
            <a:pPr algn="ctr"/>
          </a:p>
        </p:txBody>
      </p:sp>
      <p:grpSp>
        <p:nvGrpSpPr>
          <p:cNvPr id="304" name="Right Arrow 22"/>
          <p:cNvGrpSpPr/>
          <p:nvPr/>
        </p:nvGrpSpPr>
        <p:grpSpPr>
          <a:xfrm>
            <a:off x="237727" y="118101"/>
            <a:ext cx="8723395" cy="521110"/>
            <a:chOff x="0" y="0"/>
            <a:chExt cx="8723393" cy="521109"/>
          </a:xfrm>
        </p:grpSpPr>
        <p:sp>
          <p:nvSpPr>
            <p:cNvPr id="302" name="Arrow"/>
            <p:cNvSpPr/>
            <p:nvPr/>
          </p:nvSpPr>
          <p:spPr>
            <a:xfrm>
              <a:off x="0" y="0"/>
              <a:ext cx="8723395" cy="5211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41E42"/>
            </a:solidFill>
            <a:ln w="9525" cap="flat">
              <a:solidFill>
                <a:srgbClr val="041E4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3" name="Project Roadmap"/>
            <p:cNvSpPr txBox="1"/>
            <p:nvPr/>
          </p:nvSpPr>
          <p:spPr>
            <a:xfrm>
              <a:off x="50481" y="94010"/>
              <a:ext cx="8492154" cy="3330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Project Roadmap</a:t>
              </a:r>
            </a:p>
          </p:txBody>
        </p:sp>
      </p:grpSp>
      <p:sp>
        <p:nvSpPr>
          <p:cNvPr id="305" name="Left Brace 23"/>
          <p:cNvSpPr/>
          <p:nvPr/>
        </p:nvSpPr>
        <p:spPr>
          <a:xfrm flipH="1" rot="10800000">
            <a:off x="5027645" y="3680047"/>
            <a:ext cx="146898" cy="4920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359"/>
                  <a:pt x="10800" y="21063"/>
                </a:cubicBezTo>
                <a:lnTo>
                  <a:pt x="10800" y="11337"/>
                </a:lnTo>
                <a:cubicBezTo>
                  <a:pt x="10800" y="11041"/>
                  <a:pt x="5965" y="10800"/>
                  <a:pt x="0" y="10800"/>
                </a:cubicBezTo>
                <a:cubicBezTo>
                  <a:pt x="5965" y="10800"/>
                  <a:pt x="10800" y="10559"/>
                  <a:pt x="10800" y="10263"/>
                </a:cubicBezTo>
                <a:lnTo>
                  <a:pt x="10800" y="537"/>
                </a:lnTo>
                <a:cubicBezTo>
                  <a:pt x="10800" y="241"/>
                  <a:pt x="15635" y="0"/>
                  <a:pt x="21600" y="0"/>
                </a:cubicBezTo>
              </a:path>
            </a:pathLst>
          </a:custGeom>
          <a:ln w="25400">
            <a:solidFill>
              <a:srgbClr val="B0E2A7"/>
            </a:solidFill>
          </a:ln>
        </p:spPr>
        <p:txBody>
          <a:bodyPr lIns="45718" tIns="45718" rIns="45718" bIns="45718" anchor="ctr"/>
          <a:lstStyle/>
          <a:p>
            <a:pPr algn="ctr"/>
          </a:p>
        </p:txBody>
      </p:sp>
      <p:sp>
        <p:nvSpPr>
          <p:cNvPr id="306" name="TextBox 26"/>
          <p:cNvSpPr txBox="1"/>
          <p:nvPr/>
        </p:nvSpPr>
        <p:spPr>
          <a:xfrm>
            <a:off x="4619392" y="3795275"/>
            <a:ext cx="339588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100"/>
            </a:lvl1pPr>
          </a:lstStyle>
          <a:p>
            <a:pPr/>
            <a:r>
              <a:t>Cole</a:t>
            </a:r>
          </a:p>
        </p:txBody>
      </p:sp>
      <p:sp>
        <p:nvSpPr>
          <p:cNvPr id="307" name="Left Brace 27"/>
          <p:cNvSpPr/>
          <p:nvPr/>
        </p:nvSpPr>
        <p:spPr>
          <a:xfrm flipH="1" rot="10800000">
            <a:off x="5072076" y="4326223"/>
            <a:ext cx="102466" cy="12057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32"/>
                  <a:pt x="10800" y="21447"/>
                </a:cubicBezTo>
                <a:lnTo>
                  <a:pt x="10800" y="10953"/>
                </a:lnTo>
                <a:cubicBezTo>
                  <a:pt x="10800" y="10868"/>
                  <a:pt x="5965" y="10800"/>
                  <a:pt x="0" y="10800"/>
                </a:cubicBezTo>
                <a:cubicBezTo>
                  <a:pt x="5965" y="10800"/>
                  <a:pt x="10800" y="10732"/>
                  <a:pt x="10800" y="10647"/>
                </a:cubicBezTo>
                <a:lnTo>
                  <a:pt x="10800" y="153"/>
                </a:lnTo>
                <a:cubicBezTo>
                  <a:pt x="10800" y="68"/>
                  <a:pt x="15635" y="0"/>
                  <a:pt x="21600" y="0"/>
                </a:cubicBezTo>
              </a:path>
            </a:pathLst>
          </a:custGeom>
          <a:ln w="25400">
            <a:solidFill>
              <a:srgbClr val="B0E2A7"/>
            </a:solidFill>
          </a:ln>
        </p:spPr>
        <p:txBody>
          <a:bodyPr lIns="45718" tIns="45718" rIns="45718" bIns="45718" anchor="ctr"/>
          <a:lstStyle/>
          <a:p>
            <a:pPr algn="ctr"/>
          </a:p>
        </p:txBody>
      </p:sp>
      <p:sp>
        <p:nvSpPr>
          <p:cNvPr id="308" name="TextBox 28"/>
          <p:cNvSpPr txBox="1"/>
          <p:nvPr/>
        </p:nvSpPr>
        <p:spPr>
          <a:xfrm>
            <a:off x="4617718" y="4798275"/>
            <a:ext cx="361486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100"/>
            </a:lvl1pPr>
          </a:lstStyle>
          <a:p>
            <a:pPr/>
            <a:r>
              <a:t>Julia</a:t>
            </a:r>
          </a:p>
        </p:txBody>
      </p:sp>
      <p:sp>
        <p:nvSpPr>
          <p:cNvPr id="309" name="Left Brace 29"/>
          <p:cNvSpPr/>
          <p:nvPr/>
        </p:nvSpPr>
        <p:spPr>
          <a:xfrm flipH="1" rot="5400000">
            <a:off x="6903857" y="4027563"/>
            <a:ext cx="60430" cy="10646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54"/>
                  <a:pt x="10800" y="21498"/>
                </a:cubicBezTo>
                <a:lnTo>
                  <a:pt x="10800" y="10902"/>
                </a:lnTo>
                <a:cubicBezTo>
                  <a:pt x="10800" y="10846"/>
                  <a:pt x="5965" y="10800"/>
                  <a:pt x="0" y="10800"/>
                </a:cubicBezTo>
                <a:cubicBezTo>
                  <a:pt x="5965" y="10800"/>
                  <a:pt x="10800" y="10754"/>
                  <a:pt x="10800" y="10698"/>
                </a:cubicBezTo>
                <a:lnTo>
                  <a:pt x="10800" y="102"/>
                </a:lnTo>
                <a:cubicBezTo>
                  <a:pt x="10800" y="46"/>
                  <a:pt x="15635" y="0"/>
                  <a:pt x="21600" y="0"/>
                </a:cubicBezTo>
              </a:path>
            </a:pathLst>
          </a:custGeom>
          <a:ln w="25400">
            <a:solidFill>
              <a:srgbClr val="B0E2A7"/>
            </a:solidFill>
          </a:ln>
        </p:spPr>
        <p:txBody>
          <a:bodyPr lIns="45718" tIns="45718" rIns="45718" bIns="45718" anchor="ctr"/>
          <a:lstStyle/>
          <a:p>
            <a:pPr algn="ctr"/>
          </a:p>
        </p:txBody>
      </p:sp>
      <p:sp>
        <p:nvSpPr>
          <p:cNvPr id="310" name="TextBox 30"/>
          <p:cNvSpPr txBox="1"/>
          <p:nvPr/>
        </p:nvSpPr>
        <p:spPr>
          <a:xfrm>
            <a:off x="6733678" y="4590094"/>
            <a:ext cx="361486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100"/>
            </a:lvl1pPr>
          </a:lstStyle>
          <a:p>
            <a:pPr/>
            <a:r>
              <a:t>Julia</a:t>
            </a:r>
          </a:p>
        </p:txBody>
      </p:sp>
      <p:sp>
        <p:nvSpPr>
          <p:cNvPr id="311" name="Left Brace 31"/>
          <p:cNvSpPr/>
          <p:nvPr/>
        </p:nvSpPr>
        <p:spPr>
          <a:xfrm flipH="1" rot="5400000">
            <a:off x="8233725" y="4529868"/>
            <a:ext cx="124966" cy="10360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03"/>
                  <a:pt x="10800" y="21383"/>
                </a:cubicBezTo>
                <a:lnTo>
                  <a:pt x="10800" y="11017"/>
                </a:lnTo>
                <a:cubicBezTo>
                  <a:pt x="10800" y="10897"/>
                  <a:pt x="5965" y="10800"/>
                  <a:pt x="0" y="10800"/>
                </a:cubicBezTo>
                <a:cubicBezTo>
                  <a:pt x="5965" y="10800"/>
                  <a:pt x="10800" y="10703"/>
                  <a:pt x="10800" y="10583"/>
                </a:cubicBezTo>
                <a:lnTo>
                  <a:pt x="10800" y="217"/>
                </a:lnTo>
                <a:cubicBezTo>
                  <a:pt x="10800" y="97"/>
                  <a:pt x="15635" y="0"/>
                  <a:pt x="21600" y="0"/>
                </a:cubicBezTo>
              </a:path>
            </a:pathLst>
          </a:custGeom>
          <a:ln w="25400">
            <a:solidFill>
              <a:srgbClr val="B0E2A7"/>
            </a:solidFill>
          </a:ln>
        </p:spPr>
        <p:txBody>
          <a:bodyPr lIns="45718" tIns="45718" rIns="45718" bIns="45718" anchor="ctr"/>
          <a:lstStyle/>
          <a:p>
            <a:pPr algn="ctr"/>
          </a:p>
        </p:txBody>
      </p:sp>
      <p:sp>
        <p:nvSpPr>
          <p:cNvPr id="312" name="TextBox 32"/>
          <p:cNvSpPr txBox="1"/>
          <p:nvPr/>
        </p:nvSpPr>
        <p:spPr>
          <a:xfrm>
            <a:off x="6852595" y="5660486"/>
            <a:ext cx="339588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100"/>
            </a:lvl1pPr>
          </a:lstStyle>
          <a:p>
            <a:pPr/>
            <a:r>
              <a:t>Cole</a:t>
            </a:r>
          </a:p>
        </p:txBody>
      </p:sp>
      <p:sp>
        <p:nvSpPr>
          <p:cNvPr id="313" name="TextBox 33"/>
          <p:cNvSpPr txBox="1"/>
          <p:nvPr/>
        </p:nvSpPr>
        <p:spPr>
          <a:xfrm>
            <a:off x="7916730" y="5110358"/>
            <a:ext cx="758954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100"/>
            </a:lvl1pPr>
          </a:lstStyle>
          <a:p>
            <a:pPr/>
            <a:r>
              <a:t>Cole &amp; Julia</a:t>
            </a:r>
          </a:p>
        </p:txBody>
      </p:sp>
      <p:sp>
        <p:nvSpPr>
          <p:cNvPr id="314" name="Left Brace 34"/>
          <p:cNvSpPr/>
          <p:nvPr/>
        </p:nvSpPr>
        <p:spPr>
          <a:xfrm flipH="1" rot="5400000">
            <a:off x="6983580" y="5083547"/>
            <a:ext cx="77620" cy="10253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39"/>
                  <a:pt x="10800" y="21464"/>
                </a:cubicBezTo>
                <a:lnTo>
                  <a:pt x="10800" y="10936"/>
                </a:lnTo>
                <a:cubicBezTo>
                  <a:pt x="10800" y="10861"/>
                  <a:pt x="5965" y="10800"/>
                  <a:pt x="0" y="10800"/>
                </a:cubicBezTo>
                <a:cubicBezTo>
                  <a:pt x="5965" y="10800"/>
                  <a:pt x="10800" y="10739"/>
                  <a:pt x="10800" y="10664"/>
                </a:cubicBezTo>
                <a:lnTo>
                  <a:pt x="10800" y="136"/>
                </a:lnTo>
                <a:cubicBezTo>
                  <a:pt x="10800" y="61"/>
                  <a:pt x="15635" y="0"/>
                  <a:pt x="21600" y="0"/>
                </a:cubicBezTo>
              </a:path>
            </a:pathLst>
          </a:custGeom>
          <a:ln w="25400">
            <a:solidFill>
              <a:srgbClr val="B0E2A7"/>
            </a:solidFill>
          </a:ln>
        </p:spPr>
        <p:txBody>
          <a:bodyPr lIns="45718" tIns="45718" rIns="45718" bIns="45718" anchor="ctr"/>
          <a:lstStyle/>
          <a:p>
            <a:pPr algn="ctr"/>
          </a:p>
        </p:txBody>
      </p:sp>
      <p:graphicFrame>
        <p:nvGraphicFramePr>
          <p:cNvPr id="315" name="Table 35"/>
          <p:cNvGraphicFramePr/>
          <p:nvPr/>
        </p:nvGraphicFramePr>
        <p:xfrm>
          <a:off x="237725" y="553870"/>
          <a:ext cx="8723395" cy="3708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459189"/>
                <a:gridCol w="3437792"/>
                <a:gridCol w="1222130"/>
                <a:gridCol w="2604281"/>
              </a:tblGrid>
              <a:tr h="370840">
                <a:tc>
                  <a:txBody>
                    <a:bodyPr/>
                    <a:lstStyle/>
                    <a:p>
                      <a:pPr algn="ctr" defTabSz="342991">
                        <a:defRPr sz="1800"/>
                      </a:pPr>
                      <a:r>
                        <a:rPr b="1" sz="12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9/16 – 10/03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defRPr sz="1800"/>
                      </a:pPr>
                      <a:r>
                        <a:rPr b="1" sz="12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10/04 - 10/31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342991">
                        <a:defRPr sz="1800"/>
                      </a:pPr>
                      <a:r>
                        <a:rPr b="1" sz="12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11/01 – 11/10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342991">
                        <a:defRPr sz="1800"/>
                      </a:pPr>
                      <a:r>
                        <a:rPr b="1" sz="12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11/11 – 12/08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6" name="Straight Connector 38"/>
          <p:cNvSpPr/>
          <p:nvPr/>
        </p:nvSpPr>
        <p:spPr>
          <a:xfrm flipH="1">
            <a:off x="6357325" y="553870"/>
            <a:ext cx="1" cy="5266640"/>
          </a:xfrm>
          <a:prstGeom prst="line">
            <a:avLst/>
          </a:prstGeom>
          <a:ln w="19050">
            <a:solidFill>
              <a:schemeClr val="accent1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7" name="5-Point Star 40"/>
          <p:cNvSpPr/>
          <p:nvPr/>
        </p:nvSpPr>
        <p:spPr>
          <a:xfrm>
            <a:off x="6237646" y="2719758"/>
            <a:ext cx="239358" cy="212138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accent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