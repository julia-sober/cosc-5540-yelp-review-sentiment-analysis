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 b="def" i="def"/>
      <a:tcStyle>
        <a:tcBdr/>
        <a:fill>
          <a:solidFill>
            <a:srgbClr val="E6E7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C"/>
          </a:solidFill>
        </a:fill>
      </a:tcStyle>
    </a:wholeTbl>
    <a:band2H>
      <a:tcTxStyle b="def" i="def"/>
      <a:tcStyle>
        <a:tcBdr/>
        <a:fill>
          <a:solidFill>
            <a:srgbClr val="E6F0F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ACB"/>
          </a:solidFill>
        </a:fill>
      </a:tcStyle>
    </a:wholeTbl>
    <a:band2H>
      <a:tcTxStyle b="def" i="def"/>
      <a:tcStyle>
        <a:tcBdr/>
        <a:fill>
          <a:solidFill>
            <a:srgbClr val="E9E6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Shape 1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/>
          <p:nvPr>
            <p:ph type="title"/>
          </p:nvPr>
        </p:nvSpPr>
        <p:spPr>
          <a:xfrm>
            <a:off x="427893" y="530103"/>
            <a:ext cx="5267658" cy="17319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" name="Body Level One…"/>
          <p:cNvSpPr txBox="1"/>
          <p:nvPr>
            <p:ph type="body" sz="quarter" idx="1"/>
          </p:nvPr>
        </p:nvSpPr>
        <p:spPr>
          <a:xfrm>
            <a:off x="427896" y="2479367"/>
            <a:ext cx="5267655" cy="97860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buSzTx/>
              <a:buFontTx/>
              <a:buNone/>
              <a:defRPr b="1" sz="2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427896" y="6210694"/>
            <a:ext cx="203022" cy="1930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3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35" name="Title Text"/>
          <p:cNvSpPr txBox="1"/>
          <p:nvPr>
            <p:ph type="title"/>
          </p:nvPr>
        </p:nvSpPr>
        <p:spPr>
          <a:xfrm>
            <a:off x="722312" y="4406905"/>
            <a:ext cx="7772401" cy="1362077"/>
          </a:xfrm>
          <a:prstGeom prst="rect">
            <a:avLst/>
          </a:prstGeom>
        </p:spPr>
        <p:txBody>
          <a:bodyPr/>
          <a:lstStyle>
            <a:lvl1pPr>
              <a:defRPr cap="all" sz="3000"/>
            </a:lvl1pPr>
          </a:lstStyle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4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5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6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6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8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87" name="Title Text"/>
          <p:cNvSpPr txBox="1"/>
          <p:nvPr>
            <p:ph type="title"/>
          </p:nvPr>
        </p:nvSpPr>
        <p:spPr>
          <a:xfrm>
            <a:off x="457203" y="273050"/>
            <a:ext cx="3008315" cy="1162050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88" name="Body Level One…"/>
          <p:cNvSpPr txBox="1"/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Text Placeholder 3"/>
          <p:cNvSpPr/>
          <p:nvPr>
            <p:ph type="body" sz="half" idx="21"/>
          </p:nvPr>
        </p:nvSpPr>
        <p:spPr>
          <a:xfrm>
            <a:off x="457201" y="1435103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9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0">
              <a:spcBef>
                <a:spcPts val="200"/>
              </a:spcBef>
              <a:buSzTx/>
              <a:buFontTx/>
              <a:buNone/>
              <a:defRPr sz="1000"/>
            </a:lvl2pPr>
            <a:lvl3pPr marL="0" indent="0">
              <a:spcBef>
                <a:spcPts val="200"/>
              </a:spcBef>
              <a:buSzTx/>
              <a:buFontTx/>
              <a:buNone/>
              <a:defRPr sz="1000"/>
            </a:lvl3pPr>
            <a:lvl4pPr marL="0" indent="0">
              <a:spcBef>
                <a:spcPts val="200"/>
              </a:spcBef>
              <a:buSzTx/>
              <a:buFontTx/>
              <a:buNone/>
              <a:defRPr sz="1000"/>
            </a:lvl4pPr>
            <a:lvl5pPr marL="0" indent="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xfrm>
            <a:off x="427896" y="6156904"/>
            <a:ext cx="203022" cy="19303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1800"/>
            </a:lvl1pPr>
            <a:lvl2pPr marL="0" indent="342991">
              <a:buSzTx/>
              <a:buFontTx/>
              <a:buNone/>
              <a:defRPr b="1" sz="1800"/>
            </a:lvl2pPr>
            <a:lvl3pPr marL="0" indent="685982">
              <a:buSzTx/>
              <a:buFontTx/>
              <a:buNone/>
              <a:defRPr b="1" sz="1800"/>
            </a:lvl3pPr>
            <a:lvl4pPr marL="0" indent="1028974">
              <a:buSzTx/>
              <a:buFontTx/>
              <a:buNone/>
              <a:defRPr b="1" sz="1800"/>
            </a:lvl4pPr>
            <a:lvl5pPr marL="0" indent="1371965">
              <a:buSzTx/>
              <a:buFontTx/>
              <a:buNone/>
              <a:defRPr b="1"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1800"/>
            </a:pP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-1" y="6049340"/>
            <a:ext cx="9157815" cy="808660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pic>
        <p:nvPicPr>
          <p:cNvPr id="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1904" y="6371261"/>
            <a:ext cx="3067997" cy="22384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6"/>
          <p:cNvSpPr/>
          <p:nvPr/>
        </p:nvSpPr>
        <p:spPr>
          <a:xfrm>
            <a:off x="-1" y="5956648"/>
            <a:ext cx="9144001" cy="92699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213474" y="341767"/>
            <a:ext cx="8686428" cy="878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213474" y="1338867"/>
            <a:ext cx="8686428" cy="426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6553200" y="6259831"/>
            <a:ext cx="203022" cy="1930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55 Helvetica Roman"/>
                <a:ea typeface="55 Helvetica Roman"/>
                <a:cs typeface="55 Helvetica Roman"/>
                <a:sym typeface="55 Helvetica Roma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257242" marR="0" indent="-25724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1pPr>
      <a:lvl2pPr marL="587984" marR="0" indent="-244994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2pPr>
      <a:lvl3pPr marL="914643" marR="0" indent="-228660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3pPr>
      <a:lvl4pPr marL="1303366" marR="0" indent="-27439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4pPr>
      <a:lvl5pPr marL="1646358" marR="0" indent="-27439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5pPr>
      <a:lvl6pPr marL="1989350" marR="0" indent="-27439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6pPr>
      <a:lvl7pPr marL="2332340" marR="0" indent="-27439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7pPr>
      <a:lvl8pPr marL="2675333" marR="0" indent="-27439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8pPr>
      <a:lvl9pPr marL="3018323" marR="0" indent="-274392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4"/>
          <p:cNvSpPr/>
          <p:nvPr/>
        </p:nvSpPr>
        <p:spPr>
          <a:xfrm>
            <a:off x="2" y="0"/>
            <a:ext cx="9151874" cy="6858000"/>
          </a:xfrm>
          <a:prstGeom prst="rect">
            <a:avLst/>
          </a:prstGeom>
          <a:solidFill>
            <a:srgbClr val="011B3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23" name="Title 5"/>
          <p:cNvSpPr txBox="1"/>
          <p:nvPr>
            <p:ph type="ctrTitle"/>
          </p:nvPr>
        </p:nvSpPr>
        <p:spPr>
          <a:xfrm>
            <a:off x="626683" y="1502819"/>
            <a:ext cx="8184809" cy="978698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BBBCBC"/>
                </a:solidFill>
              </a:defRPr>
            </a:lvl1pPr>
          </a:lstStyle>
          <a:p>
            <a:pPr/>
            <a:r>
              <a:t>Yelp Dataset Sentiment Analysis</a:t>
            </a:r>
          </a:p>
        </p:txBody>
      </p:sp>
      <p:sp>
        <p:nvSpPr>
          <p:cNvPr id="124" name="Subtitle 6"/>
          <p:cNvSpPr txBox="1"/>
          <p:nvPr>
            <p:ph type="subTitle" sz="quarter" idx="1"/>
          </p:nvPr>
        </p:nvSpPr>
        <p:spPr>
          <a:xfrm>
            <a:off x="626684" y="2397727"/>
            <a:ext cx="3558232" cy="547975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b="0" sz="1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Phase 2: Project Plan</a:t>
            </a:r>
          </a:p>
        </p:txBody>
      </p:sp>
      <p:pic>
        <p:nvPicPr>
          <p:cNvPr id="12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68898" y="4690386"/>
            <a:ext cx="2016790" cy="1422958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ubtitle 6"/>
          <p:cNvSpPr txBox="1"/>
          <p:nvPr/>
        </p:nvSpPr>
        <p:spPr>
          <a:xfrm>
            <a:off x="672404" y="4372203"/>
            <a:ext cx="4131250" cy="1422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Cole Hanrahan and Julia Sober</a:t>
            </a: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COSC 5540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 — </a:t>
            </a:r>
            <a:r>
              <a:t>Text Mining &amp; Analysis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Fall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Literature Review Recap — Motiv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Literature Review Recap — Motivation</a:t>
            </a:r>
          </a:p>
        </p:txBody>
      </p:sp>
      <p:sp>
        <p:nvSpPr>
          <p:cNvPr id="129" name="Yelp hosts millions of restaurant reviews.…"/>
          <p:cNvSpPr txBox="1"/>
          <p:nvPr>
            <p:ph type="body" sz="half" idx="1"/>
          </p:nvPr>
        </p:nvSpPr>
        <p:spPr>
          <a:xfrm>
            <a:off x="213474" y="1338867"/>
            <a:ext cx="8686428" cy="2545082"/>
          </a:xfrm>
          <a:prstGeom prst="rect">
            <a:avLst/>
          </a:prstGeom>
        </p:spPr>
        <p:txBody>
          <a:bodyPr/>
          <a:lstStyle/>
          <a:p>
            <a:pPr marL="216084" indent="-216084" defTabSz="288112">
              <a:spcBef>
                <a:spcPts val="400"/>
              </a:spcBef>
              <a:defRPr sz="2016"/>
            </a:pPr>
            <a:r>
              <a:t>Yelp hosts millions of restaurant reviews.</a:t>
            </a:r>
          </a:p>
          <a:p>
            <a:pPr marL="216084" indent="-216084" defTabSz="288112">
              <a:spcBef>
                <a:spcPts val="400"/>
              </a:spcBef>
              <a:defRPr sz="2016"/>
            </a:pPr>
            <a:r>
              <a:t>Star ratings summarize satisfaction but are </a:t>
            </a:r>
            <a:r>
              <a:rPr b="1"/>
              <a:t>subjective and inconsistent</a:t>
            </a:r>
            <a:r>
              <a:t>.</a:t>
            </a:r>
          </a:p>
          <a:p>
            <a:pPr marL="216084" indent="-216084" defTabSz="288112">
              <a:spcBef>
                <a:spcPts val="400"/>
              </a:spcBef>
              <a:defRPr sz="2016"/>
            </a:pPr>
            <a:r>
              <a:t>Automatically predicting ratings from text helps:</a:t>
            </a:r>
          </a:p>
          <a:p>
            <a:pPr lvl="1" marL="504196" indent="-216084" defTabSz="288112">
              <a:spcBef>
                <a:spcPts val="400"/>
              </a:spcBef>
              <a:buChar char="•"/>
              <a:defRPr sz="2016"/>
            </a:pPr>
            <a:r>
              <a:t>Users gauge sentiment quickly</a:t>
            </a:r>
          </a:p>
          <a:p>
            <a:pPr lvl="1" marL="504196" indent="-216084" defTabSz="288112">
              <a:spcBef>
                <a:spcPts val="400"/>
              </a:spcBef>
              <a:buChar char="•"/>
              <a:defRPr sz="2016"/>
            </a:pPr>
            <a:r>
              <a:t>Businesses identify improvement areas</a:t>
            </a:r>
          </a:p>
          <a:p>
            <a:pPr lvl="1" marL="504196" indent="-216084" defTabSz="288112">
              <a:spcBef>
                <a:spcPts val="400"/>
              </a:spcBef>
              <a:buChar char="•"/>
              <a:defRPr sz="2016"/>
            </a:pPr>
            <a:r>
              <a:t>Researchers study drivers of satisfaction</a:t>
            </a:r>
          </a:p>
        </p:txBody>
      </p:sp>
      <p:pic>
        <p:nvPicPr>
          <p:cNvPr id="130" name="image3.png" descr="image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3362" y="3588207"/>
            <a:ext cx="5266651" cy="2046526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Source: Asghar et al."/>
          <p:cNvSpPr txBox="1"/>
          <p:nvPr/>
        </p:nvSpPr>
        <p:spPr>
          <a:xfrm>
            <a:off x="3377879" y="5540134"/>
            <a:ext cx="2000134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Asghar et al.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Literature Review Recap — Find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Literature Review Recap — Findings</a:t>
            </a:r>
          </a:p>
        </p:txBody>
      </p:sp>
      <p:sp>
        <p:nvSpPr>
          <p:cNvPr id="134" name="What prior work found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1808" indent="-241808" defTabSz="322411">
              <a:spcBef>
                <a:spcPts val="400"/>
              </a:spcBef>
              <a:defRPr sz="2256"/>
            </a:pPr>
            <a:r>
              <a:t>What prior work found: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Binary sentiment classification (positive vs. negative) → High accuracy (≈ 90%)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Multi-class star prediction (1–5) → Lower accuracy (≈ 60–65%)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Best features: </a:t>
            </a:r>
            <a:r>
              <a:rPr b="1"/>
              <a:t>TF-IDF + n-grams</a:t>
            </a:r>
            <a:endParaRPr b="1"/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Best models: </a:t>
            </a:r>
            <a:r>
              <a:rPr b="1"/>
              <a:t>Logistic Regression, SVM</a:t>
            </a:r>
            <a:endParaRPr b="1"/>
          </a:p>
          <a:p>
            <a:pPr marL="241808" indent="-241808" defTabSz="322411">
              <a:spcBef>
                <a:spcPts val="400"/>
              </a:spcBef>
              <a:defRPr sz="2256"/>
            </a:pPr>
            <a:r>
              <a:t>Deep models (CNNs, Bi-LSTMs, BERT) show promise but struggle with: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b="1" sz="2256"/>
            </a:pPr>
            <a:r>
              <a:t>Middle ratings (2–3 stars)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rPr b="1"/>
              <a:t>Imbalanced data</a:t>
            </a:r>
            <a:r>
              <a:t> (too many 4–5s)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b="1" sz="2256"/>
            </a:pPr>
            <a:r>
              <a:t>Sarcasm and slang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Literature Review Recap — Key Ga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Literature Review Recap — Key Gaps</a:t>
            </a:r>
          </a:p>
        </p:txBody>
      </p:sp>
      <p:sp>
        <p:nvSpPr>
          <p:cNvPr id="137" name="Context understanding still limited (“Great job burning my pizza!”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Context understanding still limited (“Great job burning my pizza!”).</a:t>
            </a:r>
          </a:p>
          <a:p>
            <a:pPr/>
            <a:r>
              <a:t>4–5 star dominance causes skewed learning.</a:t>
            </a:r>
          </a:p>
          <a:p>
            <a:pPr/>
            <a:r>
              <a:t>Aspect-level and ordinal sentiment analysis underexplored.</a:t>
            </a:r>
          </a:p>
          <a:p>
            <a:pPr/>
            <a:r>
              <a:t>Deep models improve nuance but need more explainability.</a:t>
            </a:r>
          </a:p>
        </p:txBody>
      </p:sp>
      <p:pic>
        <p:nvPicPr>
          <p:cNvPr id="138" name="Screenshot 2025-10-24 at 9.58.04 AM.png" descr="Screenshot 2025-10-24 at 9.58.04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2500" y="3496524"/>
            <a:ext cx="2479882" cy="2254439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ource: Asghar et al."/>
          <p:cNvSpPr txBox="1"/>
          <p:nvPr/>
        </p:nvSpPr>
        <p:spPr>
          <a:xfrm>
            <a:off x="752374" y="5656535"/>
            <a:ext cx="2000135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Asghar et al.</a:t>
            </a:r>
          </a:p>
        </p:txBody>
      </p:sp>
      <p:pic>
        <p:nvPicPr>
          <p:cNvPr id="140" name="Screenshot 2025-10-24 at 12.17.18 PM.png" descr="Screenshot 2025-10-24 at 12.17.18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35685" y="3419098"/>
            <a:ext cx="4737101" cy="208280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ource: Fan &amp; Khademi"/>
          <p:cNvSpPr txBox="1"/>
          <p:nvPr/>
        </p:nvSpPr>
        <p:spPr>
          <a:xfrm>
            <a:off x="5173303" y="5562730"/>
            <a:ext cx="2254519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Fan &amp; Khademi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roject Go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Goal</a:t>
            </a:r>
          </a:p>
        </p:txBody>
      </p:sp>
      <p:sp>
        <p:nvSpPr>
          <p:cNvPr id="144" name="Primary Goal: Predict restaurant review star ratings (1–5) from tex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1808" indent="-241808" defTabSz="322411">
              <a:spcBef>
                <a:spcPts val="400"/>
              </a:spcBef>
              <a:defRPr sz="2256"/>
            </a:pPr>
            <a:r>
              <a:rPr b="1"/>
              <a:t>Primary Goal: </a:t>
            </a:r>
            <a:r>
              <a:t>Predict restaurant review star ratings (1–5) from text.</a:t>
            </a:r>
          </a:p>
          <a:p>
            <a:pPr marL="241808" indent="-241808" defTabSz="322411">
              <a:spcBef>
                <a:spcPts val="400"/>
              </a:spcBef>
              <a:defRPr b="1" sz="2256"/>
            </a:pPr>
            <a:r>
              <a:t>Secondary Goals: 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Compare </a:t>
            </a:r>
            <a:r>
              <a:rPr b="1"/>
              <a:t>text feature extraction methods</a:t>
            </a:r>
            <a:r>
              <a:t>: n-grams, TF-IDF, embeddings.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Evaluate </a:t>
            </a:r>
            <a:r>
              <a:rPr b="1"/>
              <a:t>model families</a:t>
            </a:r>
            <a:r>
              <a:t>: linear, tree-based, neural, ensemble.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Handle </a:t>
            </a:r>
            <a:r>
              <a:rPr b="1"/>
              <a:t>class imbalance</a:t>
            </a:r>
            <a:r>
              <a:t> and analyze </a:t>
            </a:r>
            <a:r>
              <a:rPr b="1"/>
              <a:t>per-class performance</a:t>
            </a:r>
            <a:r>
              <a:t>.</a:t>
            </a:r>
          </a:p>
          <a:p>
            <a:pPr lvl="1" marL="564219" indent="-241808" defTabSz="322411">
              <a:spcBef>
                <a:spcPts val="400"/>
              </a:spcBef>
              <a:buChar char="•"/>
              <a:defRPr sz="2256"/>
            </a:pPr>
            <a:r>
              <a:t>Explore </a:t>
            </a:r>
            <a:r>
              <a:rPr b="1"/>
              <a:t>regression</a:t>
            </a:r>
            <a:r>
              <a:t> and </a:t>
            </a:r>
            <a:r>
              <a:rPr b="1"/>
              <a:t>ordinal</a:t>
            </a:r>
            <a:r>
              <a:t> </a:t>
            </a:r>
            <a:r>
              <a:rPr b="1"/>
              <a:t>approaches</a:t>
            </a:r>
            <a:r>
              <a:t> to better model star order.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Algorithms &amp; Method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Algorithms &amp; Methods</a:t>
            </a:r>
          </a:p>
        </p:txBody>
      </p:sp>
      <p:sp>
        <p:nvSpPr>
          <p:cNvPr id="147" name="Baseline Model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49525" indent="-249525" defTabSz="332701">
              <a:spcBef>
                <a:spcPts val="400"/>
              </a:spcBef>
              <a:defRPr b="1" sz="2328"/>
            </a:pPr>
            <a:r>
              <a:t>Baseline Models:</a:t>
            </a:r>
          </a:p>
          <a:p>
            <a:pPr lvl="1" marL="582227" indent="-249525" defTabSz="332701">
              <a:spcBef>
                <a:spcPts val="400"/>
              </a:spcBef>
              <a:buChar char="•"/>
              <a:defRPr sz="2328"/>
            </a:pPr>
            <a:r>
              <a:t>Logistic Regression, Naive Bayes, SVM, Passive-Aggressive</a:t>
            </a:r>
          </a:p>
          <a:p>
            <a:pPr marL="249525" indent="-249525" defTabSz="332701">
              <a:spcBef>
                <a:spcPts val="400"/>
              </a:spcBef>
              <a:defRPr b="1" sz="2328"/>
            </a:pPr>
            <a:r>
              <a:t>Advanced Models:</a:t>
            </a:r>
          </a:p>
          <a:p>
            <a:pPr lvl="1" marL="582227" indent="-249525" defTabSz="332701">
              <a:spcBef>
                <a:spcPts val="400"/>
              </a:spcBef>
              <a:buChar char="•"/>
              <a:defRPr sz="2328"/>
            </a:pPr>
            <a:r>
              <a:t>Random Forest, Gradient Boosting, AdaBoost</a:t>
            </a:r>
          </a:p>
          <a:p>
            <a:pPr lvl="1" marL="582227" indent="-249525" defTabSz="332701">
              <a:spcBef>
                <a:spcPts val="400"/>
              </a:spcBef>
              <a:buChar char="•"/>
              <a:defRPr sz="2328"/>
            </a:pPr>
            <a:r>
              <a:t>Neural networks (MLP + BERT embeddings)</a:t>
            </a:r>
          </a:p>
          <a:p>
            <a:pPr lvl="1" marL="582227" indent="-249525" defTabSz="332701">
              <a:spcBef>
                <a:spcPts val="400"/>
              </a:spcBef>
              <a:buChar char="•"/>
              <a:defRPr sz="2328"/>
            </a:pPr>
            <a:r>
              <a:t>Ensemble / stacking combinations</a:t>
            </a:r>
          </a:p>
          <a:p>
            <a:pPr marL="249525" indent="-249525" defTabSz="332701">
              <a:spcBef>
                <a:spcPts val="400"/>
              </a:spcBef>
              <a:defRPr b="1" sz="2328"/>
            </a:pPr>
            <a:r>
              <a:t>Experimental Variations:</a:t>
            </a:r>
          </a:p>
          <a:p>
            <a:pPr lvl="1" marL="582227" indent="-249525" defTabSz="332701">
              <a:spcBef>
                <a:spcPts val="400"/>
              </a:spcBef>
              <a:buChar char="•"/>
              <a:defRPr sz="2328"/>
            </a:pPr>
            <a:r>
              <a:t>Regression vs. Classification</a:t>
            </a:r>
          </a:p>
          <a:p>
            <a:pPr lvl="1" marL="582227" indent="-249525" defTabSz="332701">
              <a:spcBef>
                <a:spcPts val="400"/>
              </a:spcBef>
              <a:buChar char="•"/>
              <a:defRPr sz="2328"/>
            </a:pPr>
            <a:r>
              <a:t>Ordinal Logistic Regression</a:t>
            </a:r>
          </a:p>
          <a:p>
            <a:pPr lvl="1" marL="582227" indent="-249525" defTabSz="332701">
              <a:spcBef>
                <a:spcPts val="400"/>
              </a:spcBef>
              <a:buChar char="•"/>
              <a:defRPr sz="2328"/>
            </a:pPr>
            <a:r>
              <a:t>Multi-stage models (e.g., sentiment first → star regression)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Data Prepar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Preparation</a:t>
            </a:r>
          </a:p>
        </p:txBody>
      </p:sp>
      <p:sp>
        <p:nvSpPr>
          <p:cNvPr id="150" name="Dataset: Yelp Open Dataset (subset: specific state restaurant reviews).…"/>
          <p:cNvSpPr txBox="1"/>
          <p:nvPr>
            <p:ph type="body" idx="1"/>
          </p:nvPr>
        </p:nvSpPr>
        <p:spPr>
          <a:xfrm>
            <a:off x="213474" y="1338867"/>
            <a:ext cx="6343742" cy="4262712"/>
          </a:xfrm>
          <a:prstGeom prst="rect">
            <a:avLst/>
          </a:prstGeom>
        </p:spPr>
        <p:txBody>
          <a:bodyPr/>
          <a:lstStyle/>
          <a:p>
            <a:pPr marL="488948" indent="-322325" defTabSz="322411">
              <a:lnSpc>
                <a:spcPct val="90000"/>
              </a:lnSpc>
              <a:spcBef>
                <a:spcPts val="400"/>
              </a:spcBef>
              <a:defRPr b="1" sz="2256"/>
            </a:pPr>
            <a:r>
              <a:t>Dataset: </a:t>
            </a:r>
            <a:r>
              <a:rPr b="0"/>
              <a:t>Yelp Open Dataset (subset: specific state restaurant reviews).</a:t>
            </a:r>
          </a:p>
          <a:p>
            <a:pPr marL="488948" indent="-322325" defTabSz="322411">
              <a:lnSpc>
                <a:spcPct val="90000"/>
              </a:lnSpc>
              <a:spcBef>
                <a:spcPts val="400"/>
              </a:spcBef>
              <a:defRPr b="1" sz="2256"/>
            </a:pPr>
            <a:r>
              <a:t>Tasks:</a:t>
            </a:r>
          </a:p>
          <a:p>
            <a:pPr lvl="1" marL="799845" indent="-322325" defTabSz="322411">
              <a:lnSpc>
                <a:spcPct val="90000"/>
              </a:lnSpc>
              <a:spcBef>
                <a:spcPts val="400"/>
              </a:spcBef>
              <a:buChar char="•"/>
              <a:defRPr sz="2256"/>
            </a:pPr>
            <a:r>
              <a:t>Filter restaurant reviews.</a:t>
            </a:r>
          </a:p>
          <a:p>
            <a:pPr lvl="1" marL="799845" indent="-322325" defTabSz="322411">
              <a:lnSpc>
                <a:spcPct val="90000"/>
              </a:lnSpc>
              <a:spcBef>
                <a:spcPts val="400"/>
              </a:spcBef>
              <a:buChar char="•"/>
              <a:defRPr sz="2256"/>
            </a:pPr>
            <a:r>
              <a:t>Clean and normalize text (lowercasing, punctuation removal, stopword removal).</a:t>
            </a:r>
          </a:p>
          <a:p>
            <a:pPr lvl="1" marL="799845" indent="-322325" defTabSz="322411">
              <a:lnSpc>
                <a:spcPct val="90000"/>
              </a:lnSpc>
              <a:spcBef>
                <a:spcPts val="400"/>
              </a:spcBef>
              <a:buChar char="•"/>
              <a:defRPr sz="2256"/>
            </a:pPr>
            <a:r>
              <a:t>Derive auxiliary features (e.g., review length, punctuation counts).</a:t>
            </a:r>
          </a:p>
          <a:p>
            <a:pPr lvl="1" marL="799845" indent="-322325" defTabSz="322411">
              <a:lnSpc>
                <a:spcPct val="90000"/>
              </a:lnSpc>
              <a:spcBef>
                <a:spcPts val="400"/>
              </a:spcBef>
              <a:buChar char="•"/>
              <a:defRPr sz="2256"/>
            </a:pPr>
            <a:r>
              <a:t>Split data into training, validation, and test sets. (90% training, 10% test)</a:t>
            </a:r>
            <a:endParaRPr b="1"/>
          </a:p>
          <a:p>
            <a:pPr marL="488948" indent="-322325" defTabSz="322411">
              <a:lnSpc>
                <a:spcPct val="90000"/>
              </a:lnSpc>
              <a:spcBef>
                <a:spcPts val="400"/>
              </a:spcBef>
              <a:defRPr b="1" sz="2256"/>
            </a:pPr>
            <a:r>
              <a:t>Output: </a:t>
            </a:r>
            <a:r>
              <a:rPr b="0"/>
              <a:t>Cleaned, balanced dataset ready for modeling.</a:t>
            </a:r>
          </a:p>
        </p:txBody>
      </p:sp>
      <p:pic>
        <p:nvPicPr>
          <p:cNvPr id="15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27220" y="1571434"/>
            <a:ext cx="2134110" cy="2134110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ource: Columbia University"/>
          <p:cNvSpPr txBox="1"/>
          <p:nvPr/>
        </p:nvSpPr>
        <p:spPr>
          <a:xfrm>
            <a:off x="6438024" y="3668236"/>
            <a:ext cx="2712501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Columbia University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eature Engineer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Feature Engineering</a:t>
            </a:r>
          </a:p>
        </p:txBody>
      </p:sp>
      <p:sp>
        <p:nvSpPr>
          <p:cNvPr id="155" name="Compare multiple text representations:…"/>
          <p:cNvSpPr txBox="1"/>
          <p:nvPr>
            <p:ph type="body" sz="half" idx="1"/>
          </p:nvPr>
        </p:nvSpPr>
        <p:spPr>
          <a:xfrm>
            <a:off x="213474" y="1338867"/>
            <a:ext cx="8686428" cy="1838334"/>
          </a:xfrm>
          <a:prstGeom prst="rect">
            <a:avLst/>
          </a:prstGeom>
        </p:spPr>
        <p:txBody>
          <a:bodyPr/>
          <a:lstStyle/>
          <a:p>
            <a:pPr marL="159490" indent="-159490" defTabSz="212654">
              <a:spcBef>
                <a:spcPts val="300"/>
              </a:spcBef>
              <a:defRPr sz="1488"/>
            </a:pPr>
            <a:r>
              <a:t>Compare multiple text representations:</a:t>
            </a:r>
          </a:p>
          <a:p>
            <a:pPr lvl="1" marL="372145" indent="-159490" defTabSz="212654">
              <a:spcBef>
                <a:spcPts val="300"/>
              </a:spcBef>
              <a:buChar char="•"/>
              <a:defRPr b="1" sz="1488"/>
            </a:pPr>
            <a:r>
              <a:t>Bag-of-Words (BoW)</a:t>
            </a:r>
          </a:p>
          <a:p>
            <a:pPr lvl="1" marL="372145" indent="-159490" defTabSz="212654">
              <a:spcBef>
                <a:spcPts val="300"/>
              </a:spcBef>
              <a:buChar char="•"/>
              <a:defRPr sz="1488"/>
            </a:pPr>
            <a:r>
              <a:rPr b="1"/>
              <a:t>TF-IDF</a:t>
            </a:r>
            <a:r>
              <a:t> (uni-, bi-, tri-grams)</a:t>
            </a:r>
          </a:p>
          <a:p>
            <a:pPr lvl="1" marL="372145" indent="-159490" defTabSz="212654">
              <a:spcBef>
                <a:spcPts val="300"/>
              </a:spcBef>
              <a:buChar char="•"/>
              <a:defRPr sz="1488"/>
            </a:pPr>
            <a:r>
              <a:rPr b="1"/>
              <a:t>Hashing Vectorizer</a:t>
            </a:r>
            <a:r>
              <a:t> (scalable)</a:t>
            </a:r>
          </a:p>
          <a:p>
            <a:pPr lvl="1" marL="372145" indent="-159490" defTabSz="212654">
              <a:spcBef>
                <a:spcPts val="300"/>
              </a:spcBef>
              <a:buChar char="•"/>
              <a:defRPr sz="1488"/>
            </a:pPr>
            <a:r>
              <a:rPr b="1"/>
              <a:t>Latent Semantic Indexing</a:t>
            </a:r>
            <a:r>
              <a:t> (SVD/LSI)</a:t>
            </a:r>
          </a:p>
          <a:p>
            <a:pPr lvl="1" marL="372145" indent="-159490" defTabSz="212654">
              <a:spcBef>
                <a:spcPts val="300"/>
              </a:spcBef>
              <a:buChar char="•"/>
              <a:defRPr sz="1488"/>
            </a:pPr>
            <a:r>
              <a:t>Contextual embeddings (</a:t>
            </a:r>
            <a:r>
              <a:rPr b="1"/>
              <a:t>BERT</a:t>
            </a:r>
            <a:r>
              <a:t>)</a:t>
            </a:r>
          </a:p>
          <a:p>
            <a:pPr lvl="1" marL="372145" indent="-159490" defTabSz="212654">
              <a:spcBef>
                <a:spcPts val="300"/>
              </a:spcBef>
              <a:buChar char="•"/>
              <a:defRPr sz="1488"/>
            </a:pPr>
            <a:r>
              <a:rPr b="1"/>
              <a:t>Optional</a:t>
            </a:r>
            <a:r>
              <a:t>: sentiment polarity, review length, user votes</a:t>
            </a:r>
          </a:p>
        </p:txBody>
      </p:sp>
      <p:pic>
        <p:nvPicPr>
          <p:cNvPr id="15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784554" y="3193953"/>
            <a:ext cx="4776493" cy="2745942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ource: Medium"/>
          <p:cNvSpPr txBox="1"/>
          <p:nvPr/>
        </p:nvSpPr>
        <p:spPr>
          <a:xfrm>
            <a:off x="774405" y="5487023"/>
            <a:ext cx="1633906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Medium</a:t>
            </a:r>
          </a:p>
        </p:txBody>
      </p:sp>
      <p:pic>
        <p:nvPicPr>
          <p:cNvPr id="158" name="Screenshot 2025-10-24 at 10.03.33 AM.png" descr="Screenshot 2025-10-24 at 10.03.3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85651" y="720201"/>
            <a:ext cx="3497451" cy="1976820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ource: Asghar et al."/>
          <p:cNvSpPr txBox="1"/>
          <p:nvPr/>
        </p:nvSpPr>
        <p:spPr>
          <a:xfrm>
            <a:off x="6714727" y="2410222"/>
            <a:ext cx="2000135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Asghar et al.</a:t>
            </a:r>
          </a:p>
        </p:txBody>
      </p:sp>
      <p:pic>
        <p:nvPicPr>
          <p:cNvPr id="160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38457" y="2933751"/>
            <a:ext cx="3054890" cy="2232116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Source: Wandb"/>
          <p:cNvSpPr txBox="1"/>
          <p:nvPr/>
        </p:nvSpPr>
        <p:spPr>
          <a:xfrm>
            <a:off x="6505456" y="5175660"/>
            <a:ext cx="1514695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Source: Wandb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Experimental Pla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Experimental Plan</a:t>
            </a:r>
          </a:p>
        </p:txBody>
      </p:sp>
      <p:sp>
        <p:nvSpPr>
          <p:cNvPr id="164" name="We will run experiments acros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will run experiments across:</a:t>
            </a:r>
          </a:p>
          <a:p>
            <a:pPr lvl="1" marL="600234" indent="-257243">
              <a:buChar char="•"/>
            </a:pPr>
            <a:r>
              <a:t>Different </a:t>
            </a:r>
            <a:r>
              <a:rPr b="1"/>
              <a:t>feature extraction methods</a:t>
            </a:r>
          </a:p>
          <a:p>
            <a:pPr lvl="1" marL="600234" indent="-257243">
              <a:buChar char="•"/>
            </a:pPr>
            <a:r>
              <a:t>Different </a:t>
            </a:r>
            <a:r>
              <a:rPr b="1"/>
              <a:t>model families</a:t>
            </a:r>
            <a:endParaRPr b="1"/>
          </a:p>
          <a:p>
            <a:pPr lvl="1" marL="600234" indent="-257243">
              <a:buChar char="•"/>
            </a:pPr>
            <a:r>
              <a:t>Both </a:t>
            </a:r>
            <a:r>
              <a:rPr b="1"/>
              <a:t>classification</a:t>
            </a:r>
            <a:r>
              <a:t> and </a:t>
            </a:r>
            <a:r>
              <a:rPr b="1"/>
              <a:t>regression/ordinal</a:t>
            </a:r>
            <a:r>
              <a:t> settings</a:t>
            </a:r>
          </a:p>
          <a:p>
            <a:pPr lvl="1" marL="600234" indent="-257243">
              <a:buChar char="•"/>
            </a:pPr>
            <a:r>
              <a:t>Evaluate effect of </a:t>
            </a:r>
            <a:r>
              <a:rPr b="1"/>
              <a:t>balancing techniques</a:t>
            </a:r>
            <a:r>
              <a:t> (class weights, resampling)</a:t>
            </a:r>
          </a:p>
          <a:p>
            <a:pPr/>
            <a:r>
              <a:rPr b="1"/>
              <a:t>Baseline:</a:t>
            </a:r>
            <a:r>
              <a:t> TF-IDF + Logistic Regression</a:t>
            </a:r>
          </a:p>
          <a:p>
            <a:pPr/>
            <a:r>
              <a:rPr b="1"/>
              <a:t>Advanced:</a:t>
            </a:r>
            <a:r>
              <a:t> BERT embeddings + Neural or Ensemble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Evaluation Metr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Evaluation Metrics</a:t>
            </a:r>
          </a:p>
        </p:txBody>
      </p:sp>
      <p:sp>
        <p:nvSpPr>
          <p:cNvPr id="167" name="Validation: k-fold cross-validation on training data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0157" indent="-342900">
              <a:defRPr b="1"/>
            </a:pPr>
            <a:r>
              <a:t>Validation:</a:t>
            </a:r>
            <a:r>
              <a:rPr b="0"/>
              <a:t> k-fold cross-validation on training data.</a:t>
            </a:r>
          </a:p>
          <a:p>
            <a:pPr marL="520157" indent="-342900">
              <a:defRPr b="1"/>
            </a:pPr>
            <a:r>
              <a:t>Metrics:</a:t>
            </a:r>
            <a:r>
              <a:rPr b="0"/>
              <a:t> Accuracy, RMSE, and macro-F1; per-class recall for minority ratings.</a:t>
            </a:r>
            <a:endParaRPr b="0"/>
          </a:p>
          <a:p>
            <a:pPr marL="520157" indent="-342900">
              <a:defRPr b="1"/>
            </a:pPr>
            <a:r>
              <a:t>Analysis:</a:t>
            </a:r>
          </a:p>
          <a:p>
            <a:pPr lvl="1" marL="850900" indent="-342900">
              <a:buChar char="•"/>
            </a:pPr>
            <a:r>
              <a:t>Confusion matrix to diagnose class confusion.</a:t>
            </a:r>
          </a:p>
          <a:p>
            <a:pPr lvl="1" marL="850900" indent="-342900">
              <a:buChar char="•"/>
            </a:pPr>
            <a:r>
              <a:t>Feature importance or interpretability (keywords, SHAP values).</a:t>
            </a:r>
            <a:endParaRPr b="1"/>
          </a:p>
          <a:p>
            <a:pPr marL="520157" indent="-342900"/>
            <a:r>
              <a:t>Test performance on held-out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rogress &amp; Next Ste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Progress &amp; Next Steps</a:t>
            </a:r>
          </a:p>
        </p:txBody>
      </p:sp>
      <p:sp>
        <p:nvSpPr>
          <p:cNvPr id="170" name="Completed so far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54670" indent="-254670" defTabSz="339561">
              <a:spcBef>
                <a:spcPts val="400"/>
              </a:spcBef>
              <a:defRPr b="1" sz="2376"/>
            </a:pPr>
            <a:r>
              <a:t>Completed so far:</a:t>
            </a:r>
          </a:p>
          <a:p>
            <a:pPr lvl="1" marL="594231" indent="-254670" defTabSz="339561">
              <a:spcBef>
                <a:spcPts val="400"/>
              </a:spcBef>
              <a:buChar char="•"/>
              <a:defRPr sz="2376"/>
            </a:pPr>
            <a:r>
              <a:t>Literature review</a:t>
            </a:r>
          </a:p>
          <a:p>
            <a:pPr lvl="1" marL="594231" indent="-254670" defTabSz="339561">
              <a:spcBef>
                <a:spcPts val="400"/>
              </a:spcBef>
              <a:buChar char="•"/>
              <a:defRPr sz="2376"/>
            </a:pPr>
            <a:r>
              <a:t>Dataset exploration</a:t>
            </a:r>
          </a:p>
          <a:p>
            <a:pPr lvl="1" marL="594231" indent="-254670" defTabSz="339561">
              <a:spcBef>
                <a:spcPts val="400"/>
              </a:spcBef>
              <a:buChar char="•"/>
              <a:defRPr sz="2376"/>
            </a:pPr>
            <a:r>
              <a:t>Initial preprocessing + TF-IDF pipeline setup</a:t>
            </a:r>
          </a:p>
          <a:p>
            <a:pPr marL="254670" indent="-254670" defTabSz="339561">
              <a:spcBef>
                <a:spcPts val="400"/>
              </a:spcBef>
              <a:defRPr b="1" sz="2376"/>
            </a:pPr>
            <a:r>
              <a:t>In progress:</a:t>
            </a:r>
          </a:p>
          <a:p>
            <a:pPr lvl="1" marL="594231" indent="-254670" defTabSz="339561">
              <a:spcBef>
                <a:spcPts val="400"/>
              </a:spcBef>
              <a:buChar char="•"/>
              <a:defRPr sz="2376"/>
            </a:pPr>
            <a:r>
              <a:t>Feature extraction comparisons</a:t>
            </a:r>
          </a:p>
          <a:p>
            <a:pPr lvl="1" marL="594231" indent="-254670" defTabSz="339561">
              <a:spcBef>
                <a:spcPts val="400"/>
              </a:spcBef>
              <a:buChar char="•"/>
              <a:defRPr sz="2376"/>
            </a:pPr>
            <a:r>
              <a:t>Baseline model training (Logistic Regression, SVM)</a:t>
            </a:r>
          </a:p>
          <a:p>
            <a:pPr marL="254670" indent="-254670" defTabSz="339561">
              <a:spcBef>
                <a:spcPts val="400"/>
              </a:spcBef>
              <a:defRPr b="1" sz="2376"/>
            </a:pPr>
            <a:r>
              <a:t>Next:</a:t>
            </a:r>
          </a:p>
          <a:p>
            <a:pPr lvl="1" marL="594231" indent="-254670" defTabSz="339561">
              <a:spcBef>
                <a:spcPts val="400"/>
              </a:spcBef>
              <a:buChar char="•"/>
              <a:defRPr sz="2376"/>
            </a:pPr>
            <a:r>
              <a:t>Implement ensemble and BERT models</a:t>
            </a:r>
          </a:p>
          <a:p>
            <a:pPr lvl="1" marL="594231" indent="-254670" defTabSz="339561">
              <a:spcBef>
                <a:spcPts val="400"/>
              </a:spcBef>
              <a:buChar char="•"/>
              <a:defRPr sz="2376"/>
            </a:pPr>
            <a:r>
              <a:t>Conduct evaluation and interpret 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Insights &amp; Repor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Insights &amp; Reporting</a:t>
            </a:r>
          </a:p>
        </p:txBody>
      </p:sp>
      <p:sp>
        <p:nvSpPr>
          <p:cNvPr id="173" name="Deliverable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20157" indent="-342900">
              <a:defRPr b="1"/>
            </a:pPr>
            <a:r>
              <a:t>Deliverables:</a:t>
            </a:r>
          </a:p>
          <a:p>
            <a:pPr lvl="1" marL="850900" indent="-342900">
              <a:buChar char="•"/>
            </a:pPr>
            <a:r>
              <a:t>Summary of best-performing model(s).</a:t>
            </a:r>
          </a:p>
          <a:p>
            <a:pPr lvl="1" marL="850900" indent="-342900">
              <a:buChar char="•"/>
            </a:pPr>
            <a:r>
              <a:t>Key drivers of star ratings (important words, features).</a:t>
            </a:r>
          </a:p>
          <a:p>
            <a:pPr lvl="1" marL="850900" indent="-342900">
              <a:buChar char="•"/>
            </a:pPr>
            <a:r>
              <a:t>Error analysis—where and why predictions fail.</a:t>
            </a:r>
            <a:endParaRPr b="1"/>
          </a:p>
          <a:p>
            <a:pPr marL="520157" indent="-342900">
              <a:defRPr b="1"/>
            </a:pPr>
            <a:r>
              <a:t>Expected findings:</a:t>
            </a:r>
          </a:p>
          <a:p>
            <a:pPr lvl="1" marL="850900" indent="-342900">
              <a:buChar char="•"/>
            </a:pPr>
            <a:r>
              <a:t>Contextual embeddings and ensembles outperform simple TF-IDF models.</a:t>
            </a:r>
          </a:p>
          <a:p>
            <a:pPr lvl="1" marL="850900" indent="-342900">
              <a:buChar char="•"/>
            </a:pPr>
            <a:r>
              <a:t>2- and 3-star reviews remain hardest to classify due to overlapping language.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Expected Outcom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Expected Outcomes</a:t>
            </a:r>
          </a:p>
        </p:txBody>
      </p:sp>
      <p:sp>
        <p:nvSpPr>
          <p:cNvPr id="176" name="Working Yelp text-to-rating model (~60–70% accuracy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Working Yelp text-to-rating model (~60–70% accuracy)</a:t>
            </a:r>
          </a:p>
          <a:p>
            <a:pPr/>
            <a:r>
              <a:t>Comparison of traditional vs. contextual representations</a:t>
            </a:r>
          </a:p>
          <a:p>
            <a:pPr/>
            <a:r>
              <a:t>Insights into </a:t>
            </a:r>
            <a:r>
              <a:rPr b="1"/>
              <a:t>key language features</a:t>
            </a:r>
            <a:r>
              <a:t> driving satisfaction</a:t>
            </a:r>
          </a:p>
          <a:p>
            <a:pPr/>
            <a:r>
              <a:t>Identification of </a:t>
            </a:r>
            <a:r>
              <a:rPr b="1"/>
              <a:t>weak performance zones</a:t>
            </a:r>
            <a:r>
              <a:t> (mid-ratings, sarcasm)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ourc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Sources</a:t>
            </a:r>
          </a:p>
        </p:txBody>
      </p:sp>
      <p:sp>
        <p:nvSpPr>
          <p:cNvPr id="179" name="Sentiment Analysis on Product Reviews Using Machine Learning Techniques; Rajkumar S. Jagdale, Vishal S. Shirsat and Sachin N. Deshmuk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on Product Reviews Using Machine Learning Techniques</a:t>
            </a:r>
            <a:r>
              <a:t>; Rajkumar S. Jagdale, Vishal S. Shirsat and Sachin N. Deshmuk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Yelp Dataset Challenge: Review Rating Prediction</a:t>
            </a:r>
            <a:r>
              <a:t>; Nabiha Asghar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Analysis: A Systematic Case Study with Yelp Scores</a:t>
            </a:r>
            <a:r>
              <a:t>; Wenping Wang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Ensemble Sentiment Analysis Using Bi-LSTM and CNN</a:t>
            </a:r>
            <a:r>
              <a:t>; Puneet Singh Lamba Et al.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of Restaurant Reviews using Combined CNN-LSTM</a:t>
            </a:r>
            <a:r>
              <a:t>; Naimul Hossain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of Yelp Reviews by Machine Learning</a:t>
            </a:r>
            <a:r>
              <a:t>; Hemalatha S, Ramathmika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on Food Review using Machine Learning Approach</a:t>
            </a:r>
            <a:r>
              <a:t>; Nourin Islam, Ms. Nasrin Akter, Abdus Sattar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using Machine Learning Techniques on Python</a:t>
            </a:r>
            <a:r>
              <a:t>; Ratheee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of Yelp‘s Ratings Based on Text Reviews;</a:t>
            </a:r>
            <a:r>
              <a:t> Xu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Predicting a Business’ Star in Yelp from Its Reviews’ Text Alone</a:t>
            </a:r>
            <a:r>
              <a:t>; Fan, Khademi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