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DD6"/>
          </a:solidFill>
        </a:fill>
      </a:tcStyle>
    </a:wholeTbl>
    <a:band2H>
      <a:tcTxStyle b="def" i="def"/>
      <a:tcStyle>
        <a:tcBdr/>
        <a:fill>
          <a:solidFill>
            <a:srgbClr val="E6E7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0EC"/>
          </a:solidFill>
        </a:fill>
      </a:tcStyle>
    </a:wholeTbl>
    <a:band2H>
      <a:tcTxStyle b="def" i="def"/>
      <a:tcStyle>
        <a:tcBdr/>
        <a:fill>
          <a:solidFill>
            <a:srgbClr val="E6F0F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ACB"/>
          </a:solidFill>
        </a:fill>
      </a:tcStyle>
    </a:wholeTbl>
    <a:band2H>
      <a:tcTxStyle b="def" i="def"/>
      <a:tcStyle>
        <a:tcBdr/>
        <a:fill>
          <a:solidFill>
            <a:srgbClr val="E9E6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DD6"/>
          </a:solidFill>
        </a:fill>
      </a:tcStyle>
    </a:wholeTbl>
    <a:band2H>
      <a:tcTxStyle b="def" i="def"/>
      <a:tcStyle>
        <a:tcBdr/>
        <a:fill>
          <a:solidFill>
            <a:srgbClr val="E6E7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3" name="Shape 12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/>
          <p:nvPr>
            <p:ph type="title"/>
          </p:nvPr>
        </p:nvSpPr>
        <p:spPr>
          <a:xfrm>
            <a:off x="427893" y="530103"/>
            <a:ext cx="5267658" cy="173195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" name="Body Level One…"/>
          <p:cNvSpPr txBox="1"/>
          <p:nvPr>
            <p:ph type="body" sz="quarter" idx="1"/>
          </p:nvPr>
        </p:nvSpPr>
        <p:spPr>
          <a:xfrm>
            <a:off x="427896" y="2479367"/>
            <a:ext cx="5267655" cy="97861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/>
          <p:nvPr>
            <p:ph type="sldNum" sz="quarter" idx="2"/>
          </p:nvPr>
        </p:nvSpPr>
        <p:spPr>
          <a:xfrm>
            <a:off x="427896" y="621069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/>
          <p:nvPr>
            <p:ph type="title"/>
          </p:nvPr>
        </p:nvSpPr>
        <p:spPr>
          <a:xfrm>
            <a:off x="722312" y="4406905"/>
            <a:ext cx="7772401" cy="1362078"/>
          </a:xfrm>
          <a:prstGeom prst="rect">
            <a:avLst/>
          </a:prstGeom>
        </p:spPr>
        <p:txBody>
          <a:bodyPr/>
          <a:lstStyle>
            <a:lvl1pPr>
              <a:defRPr cap="all" sz="3000"/>
            </a:lvl1pPr>
          </a:lstStyle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4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5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5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6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7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8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87" name="Title Text"/>
          <p:cNvSpPr txBox="1"/>
          <p:nvPr>
            <p:ph type="title"/>
          </p:nvPr>
        </p:nvSpPr>
        <p:spPr>
          <a:xfrm>
            <a:off x="457203" y="273050"/>
            <a:ext cx="3008316" cy="1162050"/>
          </a:xfrm>
          <a:prstGeom prst="rect">
            <a:avLst/>
          </a:prstGeom>
        </p:spPr>
        <p:txBody>
          <a:bodyPr anchor="b"/>
          <a:lstStyle>
            <a:lvl1pPr>
              <a:defRPr sz="1500"/>
            </a:lvl1pPr>
          </a:lstStyle>
          <a:p>
            <a:pPr/>
            <a:r>
              <a:t>Title Text</a:t>
            </a:r>
          </a:p>
        </p:txBody>
      </p:sp>
      <p:sp>
        <p:nvSpPr>
          <p:cNvPr id="88" name="Body Level One…"/>
          <p:cNvSpPr txBox="1"/>
          <p:nvPr>
            <p:ph type="body" idx="1"/>
          </p:nvPr>
        </p:nvSpPr>
        <p:spPr>
          <a:xfrm>
            <a:off x="3575050" y="273056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Text Placeholder 3"/>
          <p:cNvSpPr/>
          <p:nvPr>
            <p:ph type="body" sz="half" idx="21"/>
          </p:nvPr>
        </p:nvSpPr>
        <p:spPr>
          <a:xfrm>
            <a:off x="457201" y="1435103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9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1792288" y="4800600"/>
            <a:ext cx="5486403" cy="566738"/>
          </a:xfrm>
          <a:prstGeom prst="rect">
            <a:avLst/>
          </a:prstGeom>
        </p:spPr>
        <p:txBody>
          <a:bodyPr anchor="b"/>
          <a:lstStyle>
            <a:lvl1pPr>
              <a:defRPr sz="1500"/>
            </a:lvl1pPr>
          </a:lstStyle>
          <a:p>
            <a:pPr/>
            <a:r>
              <a:t>Title Text</a:t>
            </a:r>
          </a:p>
        </p:txBody>
      </p:sp>
      <p:sp>
        <p:nvSpPr>
          <p:cNvPr id="101" name="Picture Placeholder 2"/>
          <p:cNvSpPr/>
          <p:nvPr>
            <p:ph type="pic" sz="half" idx="21"/>
          </p:nvPr>
        </p:nvSpPr>
        <p:spPr>
          <a:xfrm>
            <a:off x="1792288" y="612775"/>
            <a:ext cx="5486403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2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3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FontTx/>
              <a:buNone/>
              <a:defRPr sz="1000"/>
            </a:lvl1pPr>
            <a:lvl2pPr marL="0" indent="0">
              <a:spcBef>
                <a:spcPts val="200"/>
              </a:spcBef>
              <a:buSzTx/>
              <a:buFontTx/>
              <a:buNone/>
              <a:defRPr sz="1000"/>
            </a:lvl2pPr>
            <a:lvl3pPr marL="0" indent="0">
              <a:spcBef>
                <a:spcPts val="200"/>
              </a:spcBef>
              <a:buSzTx/>
              <a:buFontTx/>
              <a:buNone/>
              <a:defRPr sz="1000"/>
            </a:lvl3pPr>
            <a:lvl4pPr marL="0" indent="0">
              <a:spcBef>
                <a:spcPts val="200"/>
              </a:spcBef>
              <a:buSzTx/>
              <a:buFontTx/>
              <a:buNone/>
              <a:defRPr sz="1000"/>
            </a:lvl4pPr>
            <a:lvl5pPr marL="0" indent="0">
              <a:spcBef>
                <a:spcPts val="200"/>
              </a:spcBef>
              <a:buSzTx/>
              <a:buFontTx/>
              <a:buNone/>
              <a:defRPr sz="1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11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1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4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1800"/>
            </a:lvl1pPr>
            <a:lvl2pPr marL="0" indent="0">
              <a:buSzTx/>
              <a:buFontTx/>
              <a:buNone/>
              <a:defRPr b="1" sz="1800"/>
            </a:lvl2pPr>
            <a:lvl3pPr marL="0" indent="0">
              <a:buSzTx/>
              <a:buFontTx/>
              <a:buNone/>
              <a:defRPr b="1" sz="1800"/>
            </a:lvl3pPr>
            <a:lvl4pPr marL="0" indent="0">
              <a:buSzTx/>
              <a:buFontTx/>
              <a:buNone/>
              <a:defRPr b="1" sz="1800"/>
            </a:lvl4pPr>
            <a:lvl5pPr marL="0" indent="0">
              <a:buSzTx/>
              <a:buFontTx/>
              <a:buNone/>
              <a:defRPr b="1"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5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1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5" name="Title Text"/>
          <p:cNvSpPr txBox="1"/>
          <p:nvPr>
            <p:ph type="title"/>
          </p:nvPr>
        </p:nvSpPr>
        <p:spPr>
          <a:xfrm>
            <a:off x="213474" y="341767"/>
            <a:ext cx="8686428" cy="878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" name="Body Level One…"/>
          <p:cNvSpPr txBox="1"/>
          <p:nvPr>
            <p:ph type="body" idx="1"/>
          </p:nvPr>
        </p:nvSpPr>
        <p:spPr>
          <a:xfrm>
            <a:off x="213474" y="1338867"/>
            <a:ext cx="8686428" cy="426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/>
          <p:nvPr>
            <p:ph type="sldNum" sz="quarter" idx="2"/>
          </p:nvPr>
        </p:nvSpPr>
        <p:spPr>
          <a:xfrm>
            <a:off x="6553200" y="6259832"/>
            <a:ext cx="203020" cy="1930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>
              <a:defRPr sz="700">
                <a:solidFill>
                  <a:srgbClr val="FFFFFF"/>
                </a:solidFill>
                <a:latin typeface="55 Helvetica Roman"/>
                <a:ea typeface="55 Helvetica Roman"/>
                <a:cs typeface="55 Helvetica Roman"/>
                <a:sym typeface="55 Helvetica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257242" marR="0" indent="-257242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1pPr>
      <a:lvl2pPr marL="587984" marR="0" indent="-244994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2pPr>
      <a:lvl3pPr marL="914643" marR="0" indent="-228659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3pPr>
      <a:lvl4pPr marL="1303365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4pPr>
      <a:lvl5pPr marL="1646358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5pPr>
      <a:lvl6pPr marL="1989350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6pPr>
      <a:lvl7pPr marL="2332340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7pPr>
      <a:lvl8pPr marL="2675333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8pPr>
      <a:lvl9pPr marL="3018322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9pPr>
    </p:bodyStyle>
    <p:other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tif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tif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4"/>
          <p:cNvSpPr/>
          <p:nvPr/>
        </p:nvSpPr>
        <p:spPr>
          <a:xfrm>
            <a:off x="2" y="0"/>
            <a:ext cx="9151874" cy="6858000"/>
          </a:xfrm>
          <a:prstGeom prst="rect">
            <a:avLst/>
          </a:prstGeom>
          <a:solidFill>
            <a:srgbClr val="011B3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26" name="Title 5"/>
          <p:cNvSpPr txBox="1"/>
          <p:nvPr>
            <p:ph type="ctrTitle"/>
          </p:nvPr>
        </p:nvSpPr>
        <p:spPr>
          <a:xfrm>
            <a:off x="626683" y="1502819"/>
            <a:ext cx="8184810" cy="9786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BBBCBC"/>
                </a:solidFill>
              </a:defRPr>
            </a:lvl1pPr>
          </a:lstStyle>
          <a:p>
            <a:pPr/>
            <a:r>
              <a:t>Yelp Dataset Sentiment Analysis</a:t>
            </a:r>
          </a:p>
        </p:txBody>
      </p:sp>
      <p:sp>
        <p:nvSpPr>
          <p:cNvPr id="127" name="Subtitle 6"/>
          <p:cNvSpPr txBox="1"/>
          <p:nvPr>
            <p:ph type="subTitle" sz="quarter" idx="1"/>
          </p:nvPr>
        </p:nvSpPr>
        <p:spPr>
          <a:xfrm>
            <a:off x="626683" y="2397727"/>
            <a:ext cx="3558234" cy="547976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b="0" sz="18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Phase 2: Project Plan</a:t>
            </a:r>
          </a:p>
        </p:txBody>
      </p:sp>
      <p:pic>
        <p:nvPicPr>
          <p:cNvPr id="12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68898" y="4690386"/>
            <a:ext cx="2016791" cy="1422959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Subtitle 6"/>
          <p:cNvSpPr txBox="1"/>
          <p:nvPr/>
        </p:nvSpPr>
        <p:spPr>
          <a:xfrm>
            <a:off x="672403" y="4372202"/>
            <a:ext cx="4131252" cy="1422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Cole Hanrahan and Julia Sober</a:t>
            </a:r>
          </a:p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COSC 5540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 — </a:t>
            </a:r>
            <a:r>
              <a:t>Text Mining &amp; Analysis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Fall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Literature Review Reca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Literature Review Recap</a:t>
            </a:r>
          </a:p>
        </p:txBody>
      </p:sp>
      <p:sp>
        <p:nvSpPr>
          <p:cNvPr id="132" name="Motivation:…"/>
          <p:cNvSpPr txBox="1"/>
          <p:nvPr>
            <p:ph type="body" idx="1"/>
          </p:nvPr>
        </p:nvSpPr>
        <p:spPr>
          <a:xfrm>
            <a:off x="213474" y="963390"/>
            <a:ext cx="8239262" cy="4638189"/>
          </a:xfrm>
          <a:prstGeom prst="rect">
            <a:avLst/>
          </a:prstGeom>
        </p:spPr>
        <p:txBody>
          <a:bodyPr/>
          <a:lstStyle/>
          <a:p>
            <a:pPr marL="127489" indent="-127489" defTabSz="169986">
              <a:spcBef>
                <a:spcPts val="200"/>
              </a:spcBef>
              <a:defRPr b="1" sz="1179"/>
            </a:pPr>
            <a:r>
              <a:t>Motivation:</a:t>
            </a:r>
          </a:p>
          <a:p>
            <a:pPr lvl="1" marL="297475" indent="-127489" defTabSz="169986">
              <a:spcBef>
                <a:spcPts val="200"/>
              </a:spcBef>
              <a:buChar char="•"/>
              <a:defRPr sz="1179"/>
            </a:pPr>
            <a:r>
              <a:t>Star ratings summarize satisfaction but are </a:t>
            </a:r>
            <a:r>
              <a:rPr b="1"/>
              <a:t>subjective and inconsistent</a:t>
            </a:r>
            <a:r>
              <a:t>.</a:t>
            </a:r>
          </a:p>
          <a:p>
            <a:pPr lvl="1" marL="297475" indent="-127489" defTabSz="169986">
              <a:spcBef>
                <a:spcPts val="200"/>
              </a:spcBef>
              <a:buChar char="•"/>
              <a:defRPr sz="1179"/>
            </a:pPr>
            <a:r>
              <a:t>Automatically predicting ratings from text helps:</a:t>
            </a:r>
          </a:p>
          <a:p>
            <a:pPr lvl="2" marL="532219" indent="-127489" defTabSz="169986">
              <a:spcBef>
                <a:spcPts val="200"/>
              </a:spcBef>
              <a:defRPr sz="1179"/>
            </a:pPr>
            <a:r>
              <a:t>Users gauge sentiment quickly</a:t>
            </a:r>
          </a:p>
          <a:p>
            <a:pPr lvl="2" marL="532219" indent="-127489" defTabSz="169986">
              <a:spcBef>
                <a:spcPts val="200"/>
              </a:spcBef>
              <a:defRPr sz="1179"/>
            </a:pPr>
            <a:r>
              <a:t>Businesses identify improvement areas</a:t>
            </a:r>
          </a:p>
          <a:p>
            <a:pPr lvl="2" marL="532219" indent="-127489" defTabSz="169986">
              <a:spcBef>
                <a:spcPts val="200"/>
              </a:spcBef>
              <a:defRPr sz="1179"/>
            </a:pPr>
            <a:r>
              <a:t>Researchers study drivers of satisfaction</a:t>
            </a:r>
          </a:p>
          <a:p>
            <a:pPr marL="127489" indent="-127489" defTabSz="169986">
              <a:spcBef>
                <a:spcPts val="200"/>
              </a:spcBef>
              <a:defRPr b="1" sz="1179"/>
            </a:pPr>
            <a:r>
              <a:t>Findings:</a:t>
            </a:r>
          </a:p>
          <a:p>
            <a:pPr lvl="1" marL="332889" indent="-142666" defTabSz="190222">
              <a:spcBef>
                <a:spcPts val="200"/>
              </a:spcBef>
              <a:buChar char="•"/>
              <a:defRPr sz="1298"/>
            </a:pPr>
            <a:r>
              <a:t>Binary sentiment classification (positive vs. negative) → High accuracy (≈ 90%)</a:t>
            </a:r>
          </a:p>
          <a:p>
            <a:pPr lvl="1" marL="332889" indent="-142666" defTabSz="190222">
              <a:spcBef>
                <a:spcPts val="200"/>
              </a:spcBef>
              <a:buChar char="•"/>
              <a:defRPr sz="1298"/>
            </a:pPr>
            <a:r>
              <a:t>Multi-class star prediction (1–5) → Lower accuracy (≈ 60–65%)</a:t>
            </a:r>
          </a:p>
          <a:p>
            <a:pPr lvl="1" marL="332889" indent="-142666" defTabSz="190222">
              <a:spcBef>
                <a:spcPts val="200"/>
              </a:spcBef>
              <a:buChar char="•"/>
              <a:defRPr sz="1298"/>
            </a:pPr>
            <a:r>
              <a:t>Best features: </a:t>
            </a:r>
            <a:r>
              <a:rPr b="1"/>
              <a:t>TF-IDF + n-grams</a:t>
            </a:r>
            <a:endParaRPr b="1"/>
          </a:p>
          <a:p>
            <a:pPr lvl="1" marL="332889" indent="-142666" defTabSz="190222">
              <a:spcBef>
                <a:spcPts val="200"/>
              </a:spcBef>
              <a:buChar char="•"/>
              <a:defRPr sz="1298"/>
            </a:pPr>
            <a:r>
              <a:t>Best models: </a:t>
            </a:r>
            <a:r>
              <a:rPr b="1"/>
              <a:t>Logistic Regression, SVM</a:t>
            </a:r>
            <a:endParaRPr b="1"/>
          </a:p>
          <a:p>
            <a:pPr lvl="1" marL="332889" indent="-142666" defTabSz="190222">
              <a:spcBef>
                <a:spcPts val="200"/>
              </a:spcBef>
              <a:buChar char="•"/>
              <a:defRPr sz="1298"/>
            </a:pPr>
            <a:r>
              <a:t>Deep models (CNNs, Bi-LSTMs, BERT) show promise but struggle with:</a:t>
            </a:r>
          </a:p>
          <a:p>
            <a:pPr lvl="2" marL="547396" indent="-142666" defTabSz="190222">
              <a:spcBef>
                <a:spcPts val="200"/>
              </a:spcBef>
              <a:defRPr b="1" sz="1298"/>
            </a:pPr>
            <a:r>
              <a:t>Middle ratings (2–3 stars)</a:t>
            </a:r>
          </a:p>
          <a:p>
            <a:pPr lvl="2" marL="547396" indent="-142666" defTabSz="190222">
              <a:spcBef>
                <a:spcPts val="200"/>
              </a:spcBef>
              <a:defRPr b="1" sz="1298"/>
            </a:pPr>
            <a:r>
              <a:t>Imbalanced data</a:t>
            </a:r>
            <a:r>
              <a:rPr b="0"/>
              <a:t> (too many 4–5s)</a:t>
            </a:r>
          </a:p>
          <a:p>
            <a:pPr lvl="2" marL="547396" indent="-142666" defTabSz="190222">
              <a:spcBef>
                <a:spcPts val="200"/>
              </a:spcBef>
              <a:defRPr b="1" sz="1298"/>
            </a:pPr>
            <a:r>
              <a:t>Sarcasm and slang</a:t>
            </a:r>
          </a:p>
          <a:p>
            <a:pPr marL="142666" indent="-142666" defTabSz="190222">
              <a:spcBef>
                <a:spcPts val="200"/>
              </a:spcBef>
              <a:defRPr b="1" sz="1298"/>
            </a:pPr>
            <a:r>
              <a:t>Key Gaps:</a:t>
            </a:r>
          </a:p>
          <a:p>
            <a:pPr lvl="1" marL="354136" indent="-151772" defTabSz="202364">
              <a:spcBef>
                <a:spcPts val="200"/>
              </a:spcBef>
              <a:buChar char="•"/>
              <a:defRPr sz="1416"/>
            </a:pPr>
            <a:r>
              <a:t>Context understanding still limited (“Great job burning my pizza!”).</a:t>
            </a:r>
          </a:p>
          <a:p>
            <a:pPr lvl="1" marL="354136" indent="-151772" defTabSz="202364">
              <a:spcBef>
                <a:spcPts val="200"/>
              </a:spcBef>
              <a:buChar char="•"/>
              <a:defRPr sz="1416"/>
            </a:pPr>
            <a:r>
              <a:t>4–5 star dominance causes skewed learning.</a:t>
            </a:r>
          </a:p>
          <a:p>
            <a:pPr lvl="1" marL="354136" indent="-151772" defTabSz="202364">
              <a:spcBef>
                <a:spcPts val="200"/>
              </a:spcBef>
              <a:buChar char="•"/>
              <a:defRPr sz="1416"/>
            </a:pPr>
            <a:r>
              <a:t>Ordinal sentiment analysis under-explored.</a:t>
            </a:r>
          </a:p>
          <a:p>
            <a:pPr lvl="1" marL="354136" indent="-151772" defTabSz="202364">
              <a:spcBef>
                <a:spcPts val="200"/>
              </a:spcBef>
              <a:buChar char="•"/>
              <a:defRPr sz="1416"/>
            </a:pPr>
            <a:r>
              <a:t>Deep models improve nuance but need more explainability.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roject Goal"/>
          <p:cNvSpPr txBox="1"/>
          <p:nvPr>
            <p:ph type="title"/>
          </p:nvPr>
        </p:nvSpPr>
        <p:spPr>
          <a:xfrm>
            <a:off x="213474" y="341767"/>
            <a:ext cx="8686428" cy="554102"/>
          </a:xfrm>
          <a:prstGeom prst="rect">
            <a:avLst/>
          </a:prstGeom>
        </p:spPr>
        <p:txBody>
          <a:bodyPr/>
          <a:lstStyle/>
          <a:p>
            <a:pPr/>
            <a:r>
              <a:t>Project Goal + Research Focus</a:t>
            </a:r>
          </a:p>
        </p:txBody>
      </p:sp>
      <p:sp>
        <p:nvSpPr>
          <p:cNvPr id="135" name="Primary Goal: Predict restaurant review star ratings (1–5) from text.…"/>
          <p:cNvSpPr txBox="1"/>
          <p:nvPr>
            <p:ph type="body" idx="1"/>
          </p:nvPr>
        </p:nvSpPr>
        <p:spPr>
          <a:xfrm>
            <a:off x="213474" y="962936"/>
            <a:ext cx="8686428" cy="4638644"/>
          </a:xfrm>
          <a:prstGeom prst="rect">
            <a:avLst/>
          </a:prstGeom>
        </p:spPr>
        <p:txBody>
          <a:bodyPr/>
          <a:lstStyle/>
          <a:p>
            <a:pPr marL="166847" indent="-166847" defTabSz="222463">
              <a:spcBef>
                <a:spcPts val="200"/>
              </a:spcBef>
              <a:defRPr b="1" sz="1518"/>
            </a:pPr>
            <a:r>
              <a:t>Project Type: </a:t>
            </a:r>
            <a:r>
              <a:rPr b="0"/>
              <a:t>Innovation – New Model &amp; Evaluation</a:t>
            </a:r>
            <a:endParaRPr b="0"/>
          </a:p>
          <a:p>
            <a:pPr marL="166847" indent="-166847" defTabSz="222463">
              <a:spcBef>
                <a:spcPts val="200"/>
              </a:spcBef>
              <a:defRPr b="1" sz="1518"/>
            </a:pPr>
            <a:r>
              <a:t>Research Questions / Goals:</a:t>
            </a:r>
            <a:endParaRPr b="0"/>
          </a:p>
          <a:p>
            <a:pPr lvl="1" marL="389311" indent="-166847" defTabSz="222463">
              <a:spcBef>
                <a:spcPts val="200"/>
              </a:spcBef>
              <a:buChar char="•"/>
              <a:defRPr sz="1518"/>
            </a:pPr>
            <a:r>
              <a:t>Can pretrained BERT embeddings be leveraged to improve Yelp review star rating prediction beyond traditional methods?</a:t>
            </a:r>
          </a:p>
          <a:p>
            <a:pPr lvl="1" marL="389311" indent="-166847" defTabSz="222463">
              <a:spcBef>
                <a:spcPts val="200"/>
              </a:spcBef>
              <a:buChar char="•"/>
              <a:defRPr sz="1518"/>
            </a:pPr>
            <a:r>
              <a:t>Does a multi-task learning approach that predicts sentiment and star rating jointly outperform separate models or layered classifiers?</a:t>
            </a:r>
          </a:p>
          <a:p>
            <a:pPr lvl="1" marL="389311" indent="-166847" defTabSz="222463">
              <a:spcBef>
                <a:spcPts val="200"/>
              </a:spcBef>
              <a:buChar char="•"/>
              <a:defRPr sz="1518"/>
            </a:pPr>
            <a:r>
              <a:t>How do different modeling strategies (layered classifiers, baseline embeddings, multi-task BERT) compare in terms of accuracy, macro-F1, and per-class performance?</a:t>
            </a:r>
          </a:p>
          <a:p>
            <a:pPr marL="166847" indent="-166847" defTabSz="222463">
              <a:spcBef>
                <a:spcPts val="200"/>
              </a:spcBef>
              <a:defRPr b="1" sz="1518"/>
            </a:pPr>
            <a:r>
              <a:t>Planned Approach:</a:t>
            </a:r>
          </a:p>
          <a:p>
            <a:pPr lvl="1" marL="389311" indent="-166847" defTabSz="222463">
              <a:spcBef>
                <a:spcPts val="200"/>
              </a:spcBef>
              <a:buChar char="•"/>
              <a:defRPr sz="1518"/>
            </a:pPr>
            <a:r>
              <a:rPr b="1"/>
              <a:t>Baseline Models</a:t>
            </a:r>
            <a:r>
              <a:t>: TF-IDF + Logistic Regression / Random Forest / SVM / Ordinal Regression</a:t>
            </a:r>
          </a:p>
          <a:p>
            <a:pPr lvl="1" marL="389311" indent="-166847" defTabSz="222463">
              <a:spcBef>
                <a:spcPts val="200"/>
              </a:spcBef>
              <a:buChar char="•"/>
              <a:defRPr sz="1518"/>
            </a:pPr>
            <a:r>
              <a:rPr b="1"/>
              <a:t>Layered Classifier</a:t>
            </a:r>
            <a:r>
              <a:t>: Hierarchical sentiment → star rating</a:t>
            </a:r>
          </a:p>
          <a:p>
            <a:pPr lvl="1" marL="389311" indent="-166847" defTabSz="222463">
              <a:spcBef>
                <a:spcPts val="200"/>
              </a:spcBef>
              <a:buChar char="•"/>
              <a:defRPr sz="1518"/>
            </a:pPr>
            <a:r>
              <a:rPr b="1"/>
              <a:t>Multi-Task Model</a:t>
            </a:r>
            <a:r>
              <a:t>: Shared BERT embeddings → separate sentiment &amp; star rating heads</a:t>
            </a:r>
          </a:p>
          <a:p>
            <a:pPr lvl="1" marL="389311" indent="-166847" defTabSz="222463">
              <a:spcBef>
                <a:spcPts val="200"/>
              </a:spcBef>
              <a:buChar char="•"/>
              <a:defRPr sz="1518"/>
            </a:pPr>
            <a:r>
              <a:rPr b="1"/>
              <a:t>Evaluation</a:t>
            </a:r>
            <a:r>
              <a:t>: Compare all models on accuracy, macro-F1, and confusion matrices</a:t>
            </a:r>
          </a:p>
          <a:p>
            <a:pPr marL="166847" indent="-166847" defTabSz="222463">
              <a:spcBef>
                <a:spcPts val="200"/>
              </a:spcBef>
              <a:defRPr b="1" sz="1518"/>
            </a:pPr>
            <a:r>
              <a:t>Expected Contribution / Innovation:</a:t>
            </a:r>
          </a:p>
          <a:p>
            <a:pPr lvl="1" marL="389311" indent="-166847" defTabSz="222463">
              <a:spcBef>
                <a:spcPts val="200"/>
              </a:spcBef>
              <a:buChar char="•"/>
              <a:defRPr sz="1518"/>
            </a:pPr>
            <a:r>
              <a:t>Introducing a </a:t>
            </a:r>
            <a:r>
              <a:t>multi-task BERT-based architecture</a:t>
            </a:r>
            <a:r>
              <a:t> for Yelp review analysis.</a:t>
            </a:r>
          </a:p>
          <a:p>
            <a:pPr lvl="1" marL="389311" indent="-166847" defTabSz="222463">
              <a:spcBef>
                <a:spcPts val="200"/>
              </a:spcBef>
              <a:buChar char="•"/>
              <a:defRPr sz="1518"/>
            </a:pPr>
            <a:r>
              <a:t>Comprehensive comparison between </a:t>
            </a:r>
            <a:r>
              <a:t>traditional methods, layered classifiers, and modern embedding-based models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Data Preparation"/>
          <p:cNvSpPr txBox="1"/>
          <p:nvPr>
            <p:ph type="title"/>
          </p:nvPr>
        </p:nvSpPr>
        <p:spPr>
          <a:xfrm>
            <a:off x="213474" y="341767"/>
            <a:ext cx="8686428" cy="878970"/>
          </a:xfrm>
          <a:prstGeom prst="rect">
            <a:avLst/>
          </a:prstGeom>
        </p:spPr>
        <p:txBody>
          <a:bodyPr/>
          <a:lstStyle/>
          <a:p>
            <a:pPr/>
            <a:r>
              <a:t>Data Preparation</a:t>
            </a:r>
          </a:p>
        </p:txBody>
      </p:sp>
      <p:sp>
        <p:nvSpPr>
          <p:cNvPr id="138" name="Dataset: Yelp Open Dataset (subset: specific state restaurant reviews).…"/>
          <p:cNvSpPr txBox="1"/>
          <p:nvPr>
            <p:ph type="body" idx="1"/>
          </p:nvPr>
        </p:nvSpPr>
        <p:spPr>
          <a:xfrm>
            <a:off x="213473" y="1338867"/>
            <a:ext cx="5992215" cy="4262713"/>
          </a:xfrm>
          <a:prstGeom prst="rect">
            <a:avLst/>
          </a:prstGeom>
        </p:spPr>
        <p:txBody>
          <a:bodyPr/>
          <a:lstStyle/>
          <a:p>
            <a:pPr marL="488948" indent="-322324" defTabSz="322410">
              <a:lnSpc>
                <a:spcPct val="90000"/>
              </a:lnSpc>
              <a:spcBef>
                <a:spcPts val="400"/>
              </a:spcBef>
              <a:defRPr b="1" sz="2200"/>
            </a:pPr>
            <a:r>
              <a:t>Dataset: </a:t>
            </a:r>
            <a:r>
              <a:rPr b="0"/>
              <a:t>Yelp Open Dataset (subset: specific state restaurant reviews).</a:t>
            </a:r>
          </a:p>
          <a:p>
            <a:pPr marL="488948" indent="-322324" defTabSz="322410">
              <a:lnSpc>
                <a:spcPct val="90000"/>
              </a:lnSpc>
              <a:spcBef>
                <a:spcPts val="400"/>
              </a:spcBef>
              <a:defRPr b="1" sz="2200"/>
            </a:pPr>
            <a:r>
              <a:t>Tasks:</a:t>
            </a:r>
          </a:p>
          <a:p>
            <a:pPr lvl="1" marL="799844" indent="-322324" defTabSz="322410">
              <a:lnSpc>
                <a:spcPct val="90000"/>
              </a:lnSpc>
              <a:spcBef>
                <a:spcPts val="400"/>
              </a:spcBef>
              <a:buChar char="•"/>
              <a:defRPr sz="2200"/>
            </a:pPr>
            <a:r>
              <a:t>Filter restaurant reviews.</a:t>
            </a:r>
          </a:p>
          <a:p>
            <a:pPr lvl="1" marL="799844" indent="-322324" defTabSz="322410">
              <a:lnSpc>
                <a:spcPct val="90000"/>
              </a:lnSpc>
              <a:spcBef>
                <a:spcPts val="400"/>
              </a:spcBef>
              <a:buChar char="•"/>
              <a:defRPr sz="2200"/>
            </a:pPr>
            <a:r>
              <a:t>Clean and normalize text (lowercasing, punctuation removal, stopword removal).</a:t>
            </a:r>
          </a:p>
          <a:p>
            <a:pPr lvl="1" marL="799844" indent="-322324" defTabSz="322410">
              <a:lnSpc>
                <a:spcPct val="90000"/>
              </a:lnSpc>
              <a:spcBef>
                <a:spcPts val="400"/>
              </a:spcBef>
              <a:buChar char="•"/>
              <a:defRPr sz="2200"/>
            </a:pPr>
            <a:r>
              <a:t>Derive auxiliary features (e.g., review length, punctuation counts).</a:t>
            </a:r>
            <a:endParaRPr b="1"/>
          </a:p>
          <a:p>
            <a:pPr marL="488948" indent="-322324" defTabSz="322410">
              <a:lnSpc>
                <a:spcPct val="90000"/>
              </a:lnSpc>
              <a:spcBef>
                <a:spcPts val="400"/>
              </a:spcBef>
              <a:defRPr b="1" sz="2200"/>
            </a:pPr>
            <a:r>
              <a:t>Output: </a:t>
            </a:r>
            <a:r>
              <a:rPr b="0"/>
              <a:t>Cleaned, balanced dataset ready for modeling.</a:t>
            </a:r>
          </a:p>
        </p:txBody>
      </p:sp>
      <p:pic>
        <p:nvPicPr>
          <p:cNvPr id="13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07349" y="1778370"/>
            <a:ext cx="2134111" cy="2134111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Source: Columbia University"/>
          <p:cNvSpPr txBox="1"/>
          <p:nvPr/>
        </p:nvSpPr>
        <p:spPr>
          <a:xfrm>
            <a:off x="6218154" y="4060612"/>
            <a:ext cx="2712498" cy="33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Source: Columbia University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Modeling Approaches + Preliminary resul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Modeling Approaches + Preliminary results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aselines w/ TF-IDF + n-gra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Baselines w/ TF-IDF + n-grams</a:t>
            </a:r>
          </a:p>
        </p:txBody>
      </p:sp>
      <p:sp>
        <p:nvSpPr>
          <p:cNvPr id="145" name="Input Features: TF-IDF vectors of clean Yelp review text (unigrams + bigrams, max 10k features)…"/>
          <p:cNvSpPr txBox="1"/>
          <p:nvPr>
            <p:ph type="body" idx="1"/>
          </p:nvPr>
        </p:nvSpPr>
        <p:spPr>
          <a:xfrm>
            <a:off x="213474" y="1016842"/>
            <a:ext cx="8686428" cy="4584737"/>
          </a:xfrm>
          <a:prstGeom prst="rect">
            <a:avLst/>
          </a:prstGeom>
        </p:spPr>
        <p:txBody>
          <a:bodyPr/>
          <a:lstStyle/>
          <a:p>
            <a:pPr marL="198076" indent="-198076" defTabSz="264103">
              <a:spcBef>
                <a:spcPts val="300"/>
              </a:spcBef>
              <a:defRPr sz="1848"/>
            </a:pPr>
            <a:r>
              <a:rPr b="1"/>
              <a:t>Input Features:</a:t>
            </a:r>
            <a:r>
              <a:t> TF-IDF vectors of clean Yelp review text (unigrams + bigrams, max 10k features)</a:t>
            </a:r>
          </a:p>
          <a:p>
            <a:pPr marL="198076" indent="-198076" defTabSz="264103">
              <a:spcBef>
                <a:spcPts val="300"/>
              </a:spcBef>
              <a:defRPr b="1" sz="1848"/>
            </a:pPr>
            <a:r>
              <a:t>Models Implemented:</a:t>
            </a:r>
          </a:p>
          <a:p>
            <a:pPr lvl="1" marL="462178" indent="-198076" defTabSz="264103">
              <a:spcBef>
                <a:spcPts val="300"/>
              </a:spcBef>
              <a:buChar char="•"/>
              <a:defRPr sz="1848"/>
            </a:pPr>
            <a:r>
              <a:t>Logistic Regression</a:t>
            </a:r>
          </a:p>
          <a:p>
            <a:pPr lvl="1" marL="462178" indent="-198076" defTabSz="264103">
              <a:spcBef>
                <a:spcPts val="300"/>
              </a:spcBef>
              <a:buChar char="•"/>
              <a:defRPr sz="1848"/>
            </a:pPr>
            <a:r>
              <a:t>Naive Bayes</a:t>
            </a:r>
          </a:p>
          <a:p>
            <a:pPr lvl="1" marL="462178" indent="-198076" defTabSz="264103">
              <a:spcBef>
                <a:spcPts val="300"/>
              </a:spcBef>
              <a:buChar char="•"/>
              <a:defRPr sz="1848"/>
            </a:pPr>
            <a:r>
              <a:t>SVM (Linear)</a:t>
            </a:r>
          </a:p>
          <a:p>
            <a:pPr lvl="1" marL="462178" indent="-198076" defTabSz="264103">
              <a:spcBef>
                <a:spcPts val="300"/>
              </a:spcBef>
              <a:buChar char="•"/>
              <a:defRPr sz="1848"/>
            </a:pPr>
            <a:r>
              <a:t>Random Forest</a:t>
            </a:r>
          </a:p>
          <a:p>
            <a:pPr lvl="1" marL="462178" indent="-198076" defTabSz="264103">
              <a:spcBef>
                <a:spcPts val="300"/>
              </a:spcBef>
              <a:buChar char="•"/>
              <a:defRPr sz="1848"/>
            </a:pPr>
            <a:r>
              <a:t>Ordinal Logistic Regression</a:t>
            </a:r>
          </a:p>
          <a:p>
            <a:pPr marL="198076" indent="-198076" defTabSz="264103">
              <a:spcBef>
                <a:spcPts val="300"/>
              </a:spcBef>
              <a:defRPr b="1" sz="1848"/>
            </a:pPr>
            <a:r>
              <a:t>Output:</a:t>
            </a:r>
          </a:p>
          <a:p>
            <a:pPr lvl="1" marL="462178" indent="-198076" defTabSz="264103">
              <a:spcBef>
                <a:spcPts val="300"/>
              </a:spcBef>
              <a:buChar char="•"/>
              <a:defRPr sz="1848"/>
            </a:pPr>
            <a:r>
              <a:t>Binary sentiment classification (negative / neutral / positive)</a:t>
            </a:r>
          </a:p>
          <a:p>
            <a:pPr lvl="1" marL="462178" indent="-198076" defTabSz="264103">
              <a:spcBef>
                <a:spcPts val="300"/>
              </a:spcBef>
              <a:buChar char="•"/>
              <a:defRPr sz="1848"/>
            </a:pPr>
            <a:r>
              <a:t>1–5 star rating prediction</a:t>
            </a:r>
          </a:p>
          <a:p>
            <a:pPr marL="198076" indent="-198076" defTabSz="264103">
              <a:spcBef>
                <a:spcPts val="300"/>
              </a:spcBef>
              <a:defRPr b="1" sz="1848"/>
            </a:pPr>
            <a:r>
              <a:t>Key Notes:</a:t>
            </a:r>
          </a:p>
          <a:p>
            <a:pPr lvl="1" marL="462178" indent="-198076" defTabSz="264103">
              <a:spcBef>
                <a:spcPts val="300"/>
              </a:spcBef>
              <a:buChar char="•"/>
              <a:defRPr sz="1848"/>
            </a:pPr>
            <a:r>
              <a:t>Quick to train, interpretable</a:t>
            </a:r>
          </a:p>
          <a:p>
            <a:pPr lvl="1" marL="462178" indent="-198076" defTabSz="264103">
              <a:spcBef>
                <a:spcPts val="300"/>
              </a:spcBef>
              <a:buChar char="•"/>
              <a:defRPr sz="1848"/>
            </a:pPr>
            <a:r>
              <a:t>Performance serves as a baseline for comparison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sults (subsample n=500,000)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Results </a:t>
            </a:r>
            <a:r>
              <a:rPr sz="1500"/>
              <a:t>(subsample n=500,000)</a:t>
            </a:r>
            <a:endParaRPr sz="1500"/>
          </a:p>
          <a:p>
            <a:pPr>
              <a:defRPr sz="1600"/>
            </a:pPr>
            <a:r>
              <a:t>Features = Unigram + Bigram + TF_IDF w/ max_features = 10,000</a:t>
            </a:r>
          </a:p>
        </p:txBody>
      </p:sp>
      <p:graphicFrame>
        <p:nvGraphicFramePr>
          <p:cNvPr id="148" name="Table 2"/>
          <p:cNvGraphicFramePr/>
          <p:nvPr/>
        </p:nvGraphicFramePr>
        <p:xfrm>
          <a:off x="250233" y="1118449"/>
          <a:ext cx="8625610" cy="44757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664599"/>
                <a:gridCol w="2745440"/>
                <a:gridCol w="1491620"/>
                <a:gridCol w="1711249"/>
              </a:tblGrid>
              <a:tr h="412101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Model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Classification Type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Accuracy (%)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Macro-F1</a:t>
                      </a:r>
                    </a:p>
                  </a:txBody>
                  <a:tcPr marL="0" marR="0" marT="0" marB="0" anchor="t" anchorCtr="0" horzOverflow="overflow"/>
                </a:tc>
              </a:tr>
              <a:tr h="390844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Logistic Regression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67.66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0.5969</a:t>
                      </a:r>
                    </a:p>
                  </a:txBody>
                  <a:tcPr marL="0" marR="0" marT="0" marB="0" anchor="ctr" anchorCtr="0" horzOverflow="overflow"/>
                </a:tc>
              </a:tr>
              <a:tr h="380559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Naive Bayes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64.15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0.5187</a:t>
                      </a:r>
                    </a:p>
                  </a:txBody>
                  <a:tcPr marL="0" marR="0" marT="0" marB="0" anchor="ctr" anchorCtr="0" horzOverflow="overflow"/>
                </a:tc>
              </a:tr>
              <a:tr h="380559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SVM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44.70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0.4147</a:t>
                      </a:r>
                    </a:p>
                  </a:txBody>
                  <a:tcPr marL="0" marR="0" marT="0" marB="0" anchor="ctr" anchorCtr="0" horzOverflow="overflow"/>
                </a:tc>
              </a:tr>
              <a:tr h="380559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Random Forest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51.96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0.2869</a:t>
                      </a:r>
                    </a:p>
                  </a:txBody>
                  <a:tcPr marL="0" marR="0" marT="0" marB="0" anchor="ctr" anchorCtr="0" horzOverflow="overflow"/>
                </a:tc>
              </a:tr>
              <a:tr h="390844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Ordinal Logistic Regression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60.92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0.5268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</a:tr>
              <a:tr h="466957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Logistic Regression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87.43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0.7398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</a:tr>
              <a:tr h="454668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Naive Bayes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84.45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0.6494</a:t>
                      </a:r>
                    </a:p>
                  </a:txBody>
                  <a:tcPr marL="0" marR="0" marT="0" marB="0" anchor="ctr" anchorCtr="0" horzOverflow="overflow"/>
                </a:tc>
              </a:tr>
              <a:tr h="454668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SVM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60.63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0.5081</a:t>
                      </a:r>
                    </a:p>
                  </a:txBody>
                  <a:tcPr marL="0" marR="0" marT="0" marB="0" anchor="ctr" anchorCtr="0" horzOverflow="overflow"/>
                </a:tc>
              </a:tr>
              <a:tr h="454668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Random Forest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75.83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0.4622</a:t>
                      </a:r>
                    </a:p>
                  </a:txBody>
                  <a:tcPr marL="0" marR="0" marT="0" marB="0" anchor="ctr" anchorCtr="0" horzOverflow="overflow"/>
                </a:tc>
              </a:tr>
              <a:tr h="454668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Ordinal Logistic Regression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85.66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0.7133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Baselines w/ Pre-trained Sentence Embedding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Baselines w/ Pre-trained Sentence Embeddings</a:t>
            </a:r>
          </a:p>
        </p:txBody>
      </p:sp>
      <p:sp>
        <p:nvSpPr>
          <p:cNvPr id="151" name="Input Features:…"/>
          <p:cNvSpPr txBox="1"/>
          <p:nvPr>
            <p:ph type="body" idx="1"/>
          </p:nvPr>
        </p:nvSpPr>
        <p:spPr>
          <a:xfrm>
            <a:off x="213474" y="1016842"/>
            <a:ext cx="8686428" cy="4584737"/>
          </a:xfrm>
          <a:prstGeom prst="rect">
            <a:avLst/>
          </a:prstGeom>
        </p:spPr>
        <p:txBody>
          <a:bodyPr/>
          <a:lstStyle/>
          <a:p>
            <a:pPr marL="167207" indent="-167207" defTabSz="222944">
              <a:spcBef>
                <a:spcPts val="300"/>
              </a:spcBef>
              <a:defRPr b="1" sz="1560"/>
            </a:pPr>
            <a:r>
              <a:t>Input Features:</a:t>
            </a:r>
          </a:p>
          <a:p>
            <a:pPr lvl="1" marL="390150" indent="-167207" defTabSz="222944">
              <a:spcBef>
                <a:spcPts val="300"/>
              </a:spcBef>
              <a:buChar char="•"/>
              <a:defRPr sz="1560"/>
            </a:pPr>
            <a:r>
              <a:t>Sentence embeddings from pre-trained models (</a:t>
            </a:r>
            <a:r>
              <a:rPr sz="1365"/>
              <a:t>sentence-transformers</a:t>
            </a:r>
            <a:r>
              <a:t>)</a:t>
            </a:r>
          </a:p>
          <a:p>
            <a:pPr lvl="1" marL="390150" indent="-167207" defTabSz="222944">
              <a:spcBef>
                <a:spcPts val="300"/>
              </a:spcBef>
              <a:buChar char="•"/>
              <a:defRPr sz="1560"/>
            </a:pPr>
            <a:r>
              <a:t>Each review converted to a fixed-length vector representing semantic content</a:t>
            </a:r>
          </a:p>
          <a:p>
            <a:pPr marL="167207" indent="-167207" defTabSz="222944">
              <a:spcBef>
                <a:spcPts val="300"/>
              </a:spcBef>
              <a:defRPr b="1" sz="1560"/>
            </a:pPr>
            <a:r>
              <a:t>Models Implemented:</a:t>
            </a:r>
          </a:p>
          <a:p>
            <a:pPr lvl="1" marL="390150" indent="-167207" defTabSz="222944">
              <a:spcBef>
                <a:spcPts val="300"/>
              </a:spcBef>
              <a:buChar char="•"/>
              <a:defRPr sz="1560"/>
            </a:pPr>
            <a:r>
              <a:t>Logistic Regression</a:t>
            </a:r>
          </a:p>
          <a:p>
            <a:pPr lvl="1" marL="390150" indent="-167207" defTabSz="222944">
              <a:spcBef>
                <a:spcPts val="300"/>
              </a:spcBef>
              <a:buChar char="•"/>
              <a:defRPr sz="1560"/>
            </a:pPr>
            <a:r>
              <a:t>Naive Bayes</a:t>
            </a:r>
          </a:p>
          <a:p>
            <a:pPr lvl="1" marL="390150" indent="-167207" defTabSz="222944">
              <a:spcBef>
                <a:spcPts val="300"/>
              </a:spcBef>
              <a:buChar char="•"/>
              <a:defRPr sz="1560"/>
            </a:pPr>
            <a:r>
              <a:t>SVM (Linear)</a:t>
            </a:r>
          </a:p>
          <a:p>
            <a:pPr lvl="1" marL="390150" indent="-167207" defTabSz="222944">
              <a:spcBef>
                <a:spcPts val="300"/>
              </a:spcBef>
              <a:buChar char="•"/>
              <a:defRPr sz="1560"/>
            </a:pPr>
            <a:r>
              <a:t>Random Forest</a:t>
            </a:r>
          </a:p>
          <a:p>
            <a:pPr lvl="1" marL="390150" indent="-167207" defTabSz="222944">
              <a:spcBef>
                <a:spcPts val="300"/>
              </a:spcBef>
              <a:buChar char="•"/>
              <a:defRPr sz="1560"/>
            </a:pPr>
            <a:r>
              <a:t>Ordinal Logistic Regression</a:t>
            </a:r>
          </a:p>
          <a:p>
            <a:pPr marL="167207" indent="-167207" defTabSz="222944">
              <a:spcBef>
                <a:spcPts val="300"/>
              </a:spcBef>
              <a:defRPr b="1" sz="1560"/>
            </a:pPr>
            <a:r>
              <a:t>Output:</a:t>
            </a:r>
          </a:p>
          <a:p>
            <a:pPr lvl="1" marL="390150" indent="-167207" defTabSz="222944">
              <a:spcBef>
                <a:spcPts val="300"/>
              </a:spcBef>
              <a:buChar char="•"/>
              <a:defRPr sz="1560"/>
            </a:pPr>
            <a:r>
              <a:t>Binary sentiment classification (negative / neutral / positive)</a:t>
            </a:r>
          </a:p>
          <a:p>
            <a:pPr lvl="1" marL="390150" indent="-167207" defTabSz="222944">
              <a:spcBef>
                <a:spcPts val="300"/>
              </a:spcBef>
              <a:buChar char="•"/>
              <a:defRPr sz="1560"/>
            </a:pPr>
            <a:r>
              <a:t>1–5 star rating prediction</a:t>
            </a:r>
          </a:p>
          <a:p>
            <a:pPr marL="167207" indent="-167207" defTabSz="222944">
              <a:spcBef>
                <a:spcPts val="300"/>
              </a:spcBef>
              <a:defRPr b="1" sz="1560"/>
            </a:pPr>
            <a:r>
              <a:t>Key Notes:</a:t>
            </a:r>
          </a:p>
          <a:p>
            <a:pPr lvl="1" marL="390150" indent="-167207" defTabSz="222944">
              <a:spcBef>
                <a:spcPts val="300"/>
              </a:spcBef>
              <a:buChar char="•"/>
              <a:defRPr sz="1560"/>
            </a:pPr>
            <a:r>
              <a:t>Embeddings provide richer semantic features than TF-IDF</a:t>
            </a:r>
          </a:p>
          <a:p>
            <a:pPr lvl="1" marL="390150" indent="-167207" defTabSz="222944">
              <a:spcBef>
                <a:spcPts val="300"/>
              </a:spcBef>
              <a:buChar char="•"/>
              <a:defRPr sz="1560"/>
            </a:pPr>
            <a:r>
              <a:t>Simple classical ML models are easier to train on embeddings</a:t>
            </a:r>
          </a:p>
          <a:p>
            <a:pPr lvl="1" marL="390150" indent="-167207" defTabSz="222944">
              <a:spcBef>
                <a:spcPts val="300"/>
              </a:spcBef>
              <a:buChar char="•"/>
              <a:defRPr sz="1560"/>
            </a:pPr>
            <a:r>
              <a:t>Serves as a bridge between TF-IDF baselines and BERT-based layered / multi-task models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sults (subsample n=500,000)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Results </a:t>
            </a:r>
            <a:r>
              <a:rPr sz="1500"/>
              <a:t>(subsample n=500,000)</a:t>
            </a:r>
            <a:endParaRPr sz="1500"/>
          </a:p>
          <a:p>
            <a:pPr>
              <a:defRPr sz="1600"/>
            </a:pPr>
            <a:r>
              <a:t>Features = sentence_transformers</a:t>
            </a:r>
          </a:p>
        </p:txBody>
      </p:sp>
      <p:graphicFrame>
        <p:nvGraphicFramePr>
          <p:cNvPr id="154" name="Table 2"/>
          <p:cNvGraphicFramePr/>
          <p:nvPr/>
        </p:nvGraphicFramePr>
        <p:xfrm>
          <a:off x="250233" y="1118449"/>
          <a:ext cx="8625610" cy="44757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664599"/>
                <a:gridCol w="2745440"/>
                <a:gridCol w="1491620"/>
                <a:gridCol w="1711249"/>
              </a:tblGrid>
              <a:tr h="412101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Model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Classification Type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Accuracy (%)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Macro-F1</a:t>
                      </a:r>
                    </a:p>
                  </a:txBody>
                  <a:tcPr marL="0" marR="0" marT="0" marB="0" anchor="t" anchorCtr="0" horzOverflow="overflow"/>
                </a:tc>
              </a:tr>
              <a:tr h="390844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Logistic Regression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</a:tr>
              <a:tr h="380559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Naive Bayes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</a:tr>
              <a:tr h="380559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SVM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</a:tr>
              <a:tr h="380559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Random Forest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</a:tr>
              <a:tr h="390844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Ordinal Logistic Regression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</a:tr>
              <a:tr h="466957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Logistic Regression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</a:tr>
              <a:tr h="454668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Naive Bayes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</a:tr>
              <a:tr h="454668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SVM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</a:tr>
              <a:tr h="454668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Random Forest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</a:tr>
              <a:tr h="454668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Ordinal Logistic Regression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defRPr>
                      </a:pP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Layered Classifier with TF-IDF + n-grams &amp; Logistic Regres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18981">
              <a:defRPr sz="2511"/>
            </a:lvl1pPr>
          </a:lstStyle>
          <a:p>
            <a:pPr/>
            <a:r>
              <a:t>Layered Classifier with TF-IDF + n-grams &amp; Logistic Regression</a:t>
            </a:r>
          </a:p>
        </p:txBody>
      </p:sp>
      <p:sp>
        <p:nvSpPr>
          <p:cNvPr id="157" name="Architecture: Hierarchical classifier…"/>
          <p:cNvSpPr txBox="1"/>
          <p:nvPr>
            <p:ph type="body" idx="1"/>
          </p:nvPr>
        </p:nvSpPr>
        <p:spPr>
          <a:xfrm>
            <a:off x="213474" y="1338867"/>
            <a:ext cx="5900265" cy="4262712"/>
          </a:xfrm>
          <a:prstGeom prst="rect">
            <a:avLst/>
          </a:prstGeom>
        </p:spPr>
        <p:txBody>
          <a:bodyPr/>
          <a:lstStyle/>
          <a:p>
            <a:pPr marL="203221" indent="-203221" defTabSz="270962">
              <a:spcBef>
                <a:spcPts val="300"/>
              </a:spcBef>
              <a:defRPr sz="1896"/>
            </a:pPr>
            <a:r>
              <a:rPr b="1"/>
              <a:t>Architecture:</a:t>
            </a:r>
            <a:r>
              <a:t> Hierarchical classifier</a:t>
            </a:r>
          </a:p>
          <a:p>
            <a:pPr lvl="1" marL="474183" indent="-203221" defTabSz="270962">
              <a:spcBef>
                <a:spcPts val="300"/>
              </a:spcBef>
              <a:buChar char="•"/>
              <a:defRPr sz="1896"/>
            </a:pPr>
            <a:r>
              <a:t>Stage 1: Sentiment classification (negative/neutral/positive)</a:t>
            </a:r>
          </a:p>
          <a:p>
            <a:pPr lvl="1" marL="474183" indent="-203221" defTabSz="270962">
              <a:spcBef>
                <a:spcPts val="300"/>
              </a:spcBef>
              <a:buChar char="•"/>
              <a:defRPr sz="1896"/>
            </a:pPr>
            <a:r>
              <a:t>Stage 2a: Negative reviews → 1 vs 2 stars</a:t>
            </a:r>
          </a:p>
          <a:p>
            <a:pPr lvl="1" marL="474183" indent="-203221" defTabSz="270962">
              <a:spcBef>
                <a:spcPts val="300"/>
              </a:spcBef>
              <a:buChar char="•"/>
              <a:defRPr sz="1896"/>
            </a:pPr>
            <a:r>
              <a:t>Stage 2b: Positive reviews → 4 vs 5 stars</a:t>
            </a:r>
          </a:p>
          <a:p>
            <a:pPr lvl="1" marL="474183" indent="-203221" defTabSz="270962">
              <a:spcBef>
                <a:spcPts val="300"/>
              </a:spcBef>
              <a:buChar char="•"/>
              <a:defRPr sz="1896"/>
            </a:pPr>
            <a:r>
              <a:t>Neutral reviews → automatically assigned 3 stars</a:t>
            </a:r>
          </a:p>
          <a:p>
            <a:pPr marL="203221" indent="-203221" defTabSz="270962">
              <a:spcBef>
                <a:spcPts val="300"/>
              </a:spcBef>
              <a:defRPr sz="1896"/>
            </a:pPr>
            <a:r>
              <a:rPr b="1"/>
              <a:t>Input Features:</a:t>
            </a:r>
            <a:r>
              <a:t> TF-IDF vectors of review text</a:t>
            </a:r>
          </a:p>
          <a:p>
            <a:pPr marL="203221" indent="-203221" defTabSz="270962">
              <a:spcBef>
                <a:spcPts val="300"/>
              </a:spcBef>
              <a:defRPr sz="1896"/>
            </a:pPr>
            <a:r>
              <a:rPr b="1"/>
              <a:t>Output:</a:t>
            </a:r>
            <a:r>
              <a:t> 1–5 star rating</a:t>
            </a:r>
          </a:p>
          <a:p>
            <a:pPr marL="203221" indent="-203221" defTabSz="270962">
              <a:spcBef>
                <a:spcPts val="300"/>
              </a:spcBef>
              <a:defRPr b="1" sz="1896"/>
            </a:pPr>
            <a:r>
              <a:t>Key Notes:</a:t>
            </a:r>
          </a:p>
          <a:p>
            <a:pPr lvl="1" marL="474183" indent="-203221" defTabSz="270962">
              <a:spcBef>
                <a:spcPts val="300"/>
              </a:spcBef>
              <a:buChar char="•"/>
              <a:defRPr sz="1896"/>
            </a:pPr>
            <a:r>
              <a:t>Slightly better than baseline in some classes, worse in others, but limited improvement overall (&lt; 0.02%)</a:t>
            </a:r>
          </a:p>
        </p:txBody>
      </p:sp>
      <p:pic>
        <p:nvPicPr>
          <p:cNvPr id="158" name="Screenshot 2025-11-07 at 11.38.22 AM.png" descr="Screenshot 2025-11-07 at 11.38.22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9751" y="1405081"/>
            <a:ext cx="2905147" cy="40478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Layered Classifier with Pre-trained Embeddings + Soft Routing &amp; Logistic Regres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18981">
              <a:defRPr sz="2511"/>
            </a:lvl1pPr>
          </a:lstStyle>
          <a:p>
            <a:pPr/>
            <a:r>
              <a:t>Layered Classifier with Pre-trained Embeddings + Soft Routing &amp; Logistic Regression</a:t>
            </a:r>
          </a:p>
        </p:txBody>
      </p:sp>
      <p:sp>
        <p:nvSpPr>
          <p:cNvPr id="161" name="Architecture:…"/>
          <p:cNvSpPr txBox="1"/>
          <p:nvPr>
            <p:ph type="body" sz="half" idx="1"/>
          </p:nvPr>
        </p:nvSpPr>
        <p:spPr>
          <a:xfrm>
            <a:off x="213474" y="1338867"/>
            <a:ext cx="4040616" cy="4262712"/>
          </a:xfrm>
          <a:prstGeom prst="rect">
            <a:avLst/>
          </a:prstGeom>
        </p:spPr>
        <p:txBody>
          <a:bodyPr/>
          <a:lstStyle/>
          <a:p>
            <a:pPr marL="162062" indent="-162062" defTabSz="216084">
              <a:spcBef>
                <a:spcPts val="300"/>
              </a:spcBef>
              <a:defRPr b="1" sz="1512"/>
            </a:pPr>
            <a:r>
              <a:t>Architecture:</a:t>
            </a:r>
          </a:p>
          <a:p>
            <a:pPr lvl="1" marL="378146" indent="-162062" defTabSz="216084">
              <a:spcBef>
                <a:spcPts val="300"/>
              </a:spcBef>
              <a:buChar char="•"/>
              <a:defRPr sz="1512"/>
            </a:pPr>
            <a:r>
              <a:t>Pre-trained BERT embeddings for text</a:t>
            </a:r>
          </a:p>
          <a:p>
            <a:pPr lvl="1" marL="378146" indent="-162062" defTabSz="216084">
              <a:spcBef>
                <a:spcPts val="300"/>
              </a:spcBef>
              <a:buChar char="•"/>
              <a:defRPr sz="1512"/>
            </a:pPr>
            <a:r>
              <a:t>Soft routing to 3 sub-models: negative, neutral, positive</a:t>
            </a:r>
          </a:p>
          <a:p>
            <a:pPr lvl="1" marL="378146" indent="-162062" defTabSz="216084">
              <a:spcBef>
                <a:spcPts val="300"/>
              </a:spcBef>
              <a:buChar char="•"/>
              <a:defRPr sz="1512"/>
            </a:pPr>
            <a:r>
              <a:t>Each sub-model predicts 1–2 or 4–5 stars; neutral = 3 stars</a:t>
            </a:r>
          </a:p>
          <a:p>
            <a:pPr marL="162062" indent="-162062" defTabSz="216084">
              <a:spcBef>
                <a:spcPts val="300"/>
              </a:spcBef>
              <a:defRPr sz="1512"/>
            </a:pPr>
            <a:r>
              <a:rPr b="1"/>
              <a:t>Input Features:</a:t>
            </a:r>
            <a:r>
              <a:t> CLS token embeddings from BERT</a:t>
            </a:r>
          </a:p>
          <a:p>
            <a:pPr marL="162062" indent="-162062" defTabSz="216084">
              <a:spcBef>
                <a:spcPts val="300"/>
              </a:spcBef>
              <a:defRPr sz="1512"/>
            </a:pPr>
            <a:r>
              <a:rPr b="1"/>
              <a:t>Output:</a:t>
            </a:r>
            <a:r>
              <a:t> 1–5 star rating</a:t>
            </a:r>
          </a:p>
          <a:p>
            <a:pPr marL="162062" indent="-162062" defTabSz="216084">
              <a:spcBef>
                <a:spcPts val="300"/>
              </a:spcBef>
              <a:defRPr b="1" sz="1512"/>
            </a:pPr>
            <a:r>
              <a:t>Key Notes:</a:t>
            </a:r>
          </a:p>
          <a:p>
            <a:pPr lvl="1" marL="378146" indent="-162062" defTabSz="216084">
              <a:spcBef>
                <a:spcPts val="300"/>
              </a:spcBef>
              <a:buChar char="•"/>
              <a:defRPr sz="1512"/>
            </a:pPr>
            <a:r>
              <a:t>Embeddings provide richer semantic understanding than TF-IDF</a:t>
            </a:r>
          </a:p>
          <a:p>
            <a:pPr lvl="1" marL="378146" indent="-162062" defTabSz="216084">
              <a:spcBef>
                <a:spcPts val="300"/>
              </a:spcBef>
              <a:buChar char="•"/>
              <a:defRPr sz="1512"/>
            </a:pPr>
            <a:r>
              <a:t>Still uses hierarchical routing but leverages pre-trained language model</a:t>
            </a:r>
          </a:p>
          <a:p>
            <a:pPr lvl="1" marL="378146" indent="-162062" defTabSz="216084">
              <a:spcBef>
                <a:spcPts val="300"/>
              </a:spcBef>
              <a:buChar char="•"/>
              <a:defRPr sz="1512"/>
            </a:pPr>
            <a:r>
              <a:t>Passes </a:t>
            </a:r>
            <a:r>
              <a:rPr b="1"/>
              <a:t>soft probabilities</a:t>
            </a:r>
            <a:r>
              <a:t> from layer 1 → layer 2 to avoid </a:t>
            </a:r>
            <a:r>
              <a:rPr b="1"/>
              <a:t>error propagation</a:t>
            </a:r>
          </a:p>
        </p:txBody>
      </p:sp>
      <p:pic>
        <p:nvPicPr>
          <p:cNvPr id="16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95044" y="1765193"/>
            <a:ext cx="4991420" cy="33276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imple BERT + ML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Simple BERT + MLP</a:t>
            </a:r>
          </a:p>
        </p:txBody>
      </p:sp>
      <p:sp>
        <p:nvSpPr>
          <p:cNvPr id="165" name="Architecture:…"/>
          <p:cNvSpPr txBox="1"/>
          <p:nvPr>
            <p:ph type="body" sz="half" idx="1"/>
          </p:nvPr>
        </p:nvSpPr>
        <p:spPr>
          <a:xfrm>
            <a:off x="213474" y="1338867"/>
            <a:ext cx="4932979" cy="4262712"/>
          </a:xfrm>
          <a:prstGeom prst="rect">
            <a:avLst/>
          </a:prstGeom>
        </p:spPr>
        <p:txBody>
          <a:bodyPr/>
          <a:lstStyle/>
          <a:p>
            <a:pPr marL="185214" indent="-185214" defTabSz="246953">
              <a:spcBef>
                <a:spcPts val="300"/>
              </a:spcBef>
              <a:defRPr b="1" sz="1728"/>
            </a:pPr>
            <a:r>
              <a:t>Architecture:</a:t>
            </a:r>
          </a:p>
          <a:p>
            <a:pPr lvl="1" marL="432167" indent="-185214" defTabSz="246953">
              <a:spcBef>
                <a:spcPts val="300"/>
              </a:spcBef>
              <a:buChar char="•"/>
              <a:defRPr sz="1728"/>
            </a:pPr>
            <a:r>
              <a:rPr b="1"/>
              <a:t>BERT</a:t>
            </a:r>
            <a:r>
              <a:t> (pre-trained, frozen) → outputs 768-dimensional CLS embedding.</a:t>
            </a:r>
          </a:p>
          <a:p>
            <a:pPr lvl="1" marL="432167" indent="-185214" defTabSz="246953">
              <a:spcBef>
                <a:spcPts val="300"/>
              </a:spcBef>
              <a:buChar char="•"/>
              <a:defRPr sz="1728"/>
            </a:pPr>
            <a:r>
              <a:t>Dropout + Fully Connected Layer (FC1) + ReLU</a:t>
            </a:r>
            <a:r>
              <a:t> → compress to 256 dimensions.</a:t>
            </a:r>
          </a:p>
          <a:p>
            <a:pPr lvl="1" marL="432167" indent="-185214" defTabSz="246953">
              <a:spcBef>
                <a:spcPts val="300"/>
              </a:spcBef>
              <a:buChar char="•"/>
              <a:defRPr sz="1728"/>
            </a:pPr>
            <a:r>
              <a:t>Dropout + Fully Connected Layer (FC2)</a:t>
            </a:r>
            <a:r>
              <a:t> → output 5 classes (1–5 stars).</a:t>
            </a:r>
          </a:p>
          <a:p>
            <a:pPr marL="185214" indent="-185214" defTabSz="246953">
              <a:spcBef>
                <a:spcPts val="300"/>
              </a:spcBef>
              <a:defRPr b="1" sz="1728"/>
            </a:pPr>
            <a:r>
              <a:t>Key Notes:</a:t>
            </a:r>
          </a:p>
          <a:p>
            <a:pPr lvl="1" marL="432167" indent="-185214" defTabSz="246953">
              <a:spcBef>
                <a:spcPts val="300"/>
              </a:spcBef>
              <a:buChar char="•"/>
              <a:defRPr sz="1728"/>
            </a:pPr>
            <a:r>
              <a:t>Only the MLP layers are trained; BERT weights remain frozen.</a:t>
            </a:r>
          </a:p>
          <a:p>
            <a:pPr lvl="1" marL="432167" indent="-185214" defTabSz="246953">
              <a:spcBef>
                <a:spcPts val="300"/>
              </a:spcBef>
              <a:buChar char="•"/>
              <a:defRPr sz="1728"/>
            </a:pPr>
            <a:r>
              <a:t>Simple architecture serves as a baseline for comparing more complex models.</a:t>
            </a:r>
          </a:p>
          <a:p>
            <a:pPr lvl="1" marL="432167" indent="-185214" defTabSz="246953">
              <a:spcBef>
                <a:spcPts val="300"/>
              </a:spcBef>
              <a:buChar char="•"/>
              <a:defRPr sz="1728"/>
            </a:pPr>
            <a:r>
              <a:t>Useful for evaluating if pre-trained embeddings alone provide strong predictive power</a:t>
            </a:r>
          </a:p>
        </p:txBody>
      </p:sp>
      <p:pic>
        <p:nvPicPr>
          <p:cNvPr id="16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61191" y="1720414"/>
            <a:ext cx="4324886" cy="38244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Multi-Task BERT Model (Shared Embeddings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Multi-Task BERT Model (Shared Embeddings)</a:t>
            </a:r>
          </a:p>
        </p:txBody>
      </p:sp>
      <p:sp>
        <p:nvSpPr>
          <p:cNvPr id="169" name="Architecture:…"/>
          <p:cNvSpPr txBox="1"/>
          <p:nvPr>
            <p:ph type="body" sz="half" idx="1"/>
          </p:nvPr>
        </p:nvSpPr>
        <p:spPr>
          <a:xfrm>
            <a:off x="213474" y="1338867"/>
            <a:ext cx="4687394" cy="4262712"/>
          </a:xfrm>
          <a:prstGeom prst="rect">
            <a:avLst/>
          </a:prstGeom>
        </p:spPr>
        <p:txBody>
          <a:bodyPr/>
          <a:lstStyle/>
          <a:p>
            <a:pPr marL="162062" indent="-162062" defTabSz="216084">
              <a:spcBef>
                <a:spcPts val="300"/>
              </a:spcBef>
              <a:defRPr b="1" sz="1512"/>
            </a:pPr>
            <a:r>
              <a:t>Architecture:</a:t>
            </a:r>
          </a:p>
          <a:p>
            <a:pPr lvl="1" marL="378146" indent="-162062" defTabSz="216084">
              <a:spcBef>
                <a:spcPts val="300"/>
              </a:spcBef>
              <a:buChar char="•"/>
              <a:defRPr sz="1512"/>
            </a:pPr>
            <a:r>
              <a:t>Pre-trained BERT → shared 256-dim hidden layer</a:t>
            </a:r>
          </a:p>
          <a:p>
            <a:pPr lvl="1" marL="378146" indent="-162062" defTabSz="216084">
              <a:spcBef>
                <a:spcPts val="300"/>
              </a:spcBef>
              <a:buChar char="•"/>
              <a:defRPr sz="1512"/>
            </a:pPr>
            <a:r>
              <a:t>Two output heads:</a:t>
            </a:r>
          </a:p>
          <a:p>
            <a:pPr lvl="2" marL="594231" indent="-162062" defTabSz="216084">
              <a:spcBef>
                <a:spcPts val="300"/>
              </a:spcBef>
              <a:defRPr sz="1512"/>
            </a:pPr>
            <a:r>
              <a:t>Sentiment (3 classes)</a:t>
            </a:r>
          </a:p>
          <a:p>
            <a:pPr lvl="2" marL="594231" indent="-162062" defTabSz="216084">
              <a:spcBef>
                <a:spcPts val="300"/>
              </a:spcBef>
              <a:defRPr sz="1512"/>
            </a:pPr>
            <a:r>
              <a:t>Star rating (5 classes)</a:t>
            </a:r>
          </a:p>
          <a:p>
            <a:pPr marL="162062" indent="-162062" defTabSz="216084">
              <a:spcBef>
                <a:spcPts val="300"/>
              </a:spcBef>
              <a:defRPr sz="1512"/>
            </a:pPr>
            <a:r>
              <a:rPr b="1"/>
              <a:t>Input Features:</a:t>
            </a:r>
            <a:r>
              <a:t> CLS token embeddings from BERT</a:t>
            </a:r>
          </a:p>
          <a:p>
            <a:pPr marL="162062" indent="-162062" defTabSz="216084">
              <a:spcBef>
                <a:spcPts val="300"/>
              </a:spcBef>
              <a:defRPr b="1" sz="1512"/>
            </a:pPr>
            <a:r>
              <a:t>Output:</a:t>
            </a:r>
          </a:p>
          <a:p>
            <a:pPr lvl="1" marL="378146" indent="-162062" defTabSz="216084">
              <a:spcBef>
                <a:spcPts val="300"/>
              </a:spcBef>
              <a:buChar char="•"/>
              <a:defRPr sz="1512"/>
            </a:pPr>
            <a:r>
              <a:t>Joint prediction of sentiment and star rating</a:t>
            </a:r>
          </a:p>
          <a:p>
            <a:pPr marL="162062" indent="-162062" defTabSz="216084">
              <a:spcBef>
                <a:spcPts val="300"/>
              </a:spcBef>
              <a:defRPr b="1" sz="1512"/>
            </a:pPr>
            <a:r>
              <a:t>Key Notes:</a:t>
            </a:r>
          </a:p>
          <a:p>
            <a:pPr lvl="1" marL="378146" indent="-162062" defTabSz="216084">
              <a:spcBef>
                <a:spcPts val="300"/>
              </a:spcBef>
              <a:buChar char="•"/>
              <a:defRPr sz="1512"/>
            </a:pPr>
            <a:r>
              <a:t>Learns shared representation for both tasks</a:t>
            </a:r>
          </a:p>
          <a:p>
            <a:pPr lvl="1" marL="378146" indent="-162062" defTabSz="216084">
              <a:spcBef>
                <a:spcPts val="300"/>
              </a:spcBef>
              <a:buChar char="•"/>
              <a:defRPr sz="1512"/>
            </a:pPr>
            <a:r>
              <a:t>Enables simultaneous optimization and potential performance gains</a:t>
            </a:r>
          </a:p>
          <a:p>
            <a:pPr lvl="1" marL="378146" indent="-162062" defTabSz="216084">
              <a:spcBef>
                <a:spcPts val="300"/>
              </a:spcBef>
              <a:buChar char="•"/>
              <a:defRPr sz="1512"/>
            </a:pPr>
            <a:r>
              <a:t>Can analyze correlation between sentiment and star predictions</a:t>
            </a:r>
          </a:p>
        </p:txBody>
      </p:sp>
      <p:pic>
        <p:nvPicPr>
          <p:cNvPr id="17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01262" y="2130347"/>
            <a:ext cx="3883821" cy="25973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roject Statu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Project Status</a:t>
            </a:r>
          </a:p>
        </p:txBody>
      </p:sp>
      <p:sp>
        <p:nvSpPr>
          <p:cNvPr id="173" name="Already Completed…"/>
          <p:cNvSpPr txBox="1"/>
          <p:nvPr>
            <p:ph type="body" sz="quarter" idx="1"/>
          </p:nvPr>
        </p:nvSpPr>
        <p:spPr>
          <a:xfrm>
            <a:off x="416857" y="1074551"/>
            <a:ext cx="2513069" cy="4708898"/>
          </a:xfrm>
          <a:prstGeom prst="rect">
            <a:avLst/>
          </a:prstGeom>
        </p:spPr>
        <p:txBody>
          <a:bodyPr/>
          <a:lstStyle/>
          <a:p>
            <a:pPr marL="0" indent="0" algn="ctr" defTabSz="185215">
              <a:spcBef>
                <a:spcPts val="200"/>
              </a:spcBef>
              <a:buSzTx/>
              <a:buFontTx/>
              <a:buNone/>
              <a:defRPr b="1" sz="1620" u="sng"/>
            </a:pPr>
            <a:r>
              <a:t>Already Completed</a:t>
            </a:r>
          </a:p>
          <a:p>
            <a:pPr marL="138910" indent="-138910" defTabSz="185215">
              <a:spcBef>
                <a:spcPts val="200"/>
              </a:spcBef>
              <a:defRPr sz="1350"/>
            </a:pPr>
            <a:r>
              <a:t>Data collection/wrangling</a:t>
            </a:r>
          </a:p>
          <a:p>
            <a:pPr marL="138910" indent="-138910" defTabSz="185215">
              <a:spcBef>
                <a:spcPts val="200"/>
              </a:spcBef>
              <a:defRPr sz="1350"/>
            </a:pPr>
            <a:r>
              <a:t>Preprocessing</a:t>
            </a:r>
          </a:p>
          <a:p>
            <a:pPr marL="138910" indent="-138910" defTabSz="185215">
              <a:spcBef>
                <a:spcPts val="200"/>
              </a:spcBef>
              <a:defRPr sz="1350"/>
            </a:pPr>
            <a:r>
              <a:t>Model pipelines built + tested:</a:t>
            </a:r>
          </a:p>
          <a:p>
            <a:pPr lvl="1" marL="324125" indent="-138910" defTabSz="185215">
              <a:spcBef>
                <a:spcPts val="200"/>
              </a:spcBef>
              <a:buChar char="•"/>
              <a:defRPr sz="1350"/>
            </a:pPr>
            <a:r>
              <a:t>Baselines with TF-IDF</a:t>
            </a:r>
          </a:p>
          <a:p>
            <a:pPr lvl="1" marL="324125" indent="-138910" defTabSz="185215">
              <a:spcBef>
                <a:spcPts val="200"/>
              </a:spcBef>
              <a:buChar char="•"/>
              <a:defRPr sz="1350"/>
            </a:pPr>
            <a:r>
              <a:t>Baselines with embeddings</a:t>
            </a:r>
          </a:p>
          <a:p>
            <a:pPr lvl="1" marL="324125" indent="-138910" defTabSz="185215">
              <a:spcBef>
                <a:spcPts val="200"/>
              </a:spcBef>
              <a:buChar char="•"/>
              <a:defRPr sz="1350"/>
            </a:pPr>
            <a:r>
              <a:t>Layered classifier with TF-IDF</a:t>
            </a:r>
          </a:p>
          <a:p>
            <a:pPr marL="138910" indent="-138910" defTabSz="185215">
              <a:spcBef>
                <a:spcPts val="200"/>
              </a:spcBef>
              <a:defRPr sz="1350"/>
            </a:pPr>
            <a:r>
              <a:t>Pipelines (mostly) built (not yet tested):</a:t>
            </a:r>
          </a:p>
          <a:p>
            <a:pPr lvl="1" marL="324125" indent="-138910" defTabSz="185215">
              <a:spcBef>
                <a:spcPts val="200"/>
              </a:spcBef>
              <a:buChar char="•"/>
              <a:defRPr sz="1350"/>
            </a:pPr>
            <a:r>
              <a:t>Layered classifier with embeddings + soft routing (probability-based)</a:t>
            </a:r>
          </a:p>
          <a:p>
            <a:pPr lvl="1" marL="324125" indent="-138910" defTabSz="185215">
              <a:spcBef>
                <a:spcPts val="200"/>
              </a:spcBef>
              <a:buChar char="•"/>
              <a:defRPr sz="1350"/>
            </a:pPr>
            <a:r>
              <a:t>Simple MLP + BERT (2 layers) </a:t>
            </a:r>
          </a:p>
          <a:p>
            <a:pPr lvl="1" marL="324125" indent="-138910" defTabSz="185215">
              <a:spcBef>
                <a:spcPts val="200"/>
              </a:spcBef>
              <a:buChar char="•"/>
              <a:defRPr sz="1350"/>
            </a:pPr>
            <a:r>
              <a:t>Multi-task BERT model (shared embeddings → sentiment &amp; star heads) </a:t>
            </a:r>
          </a:p>
        </p:txBody>
      </p:sp>
      <p:sp>
        <p:nvSpPr>
          <p:cNvPr id="174" name="In Progress…"/>
          <p:cNvSpPr txBox="1"/>
          <p:nvPr/>
        </p:nvSpPr>
        <p:spPr>
          <a:xfrm>
            <a:off x="3389450" y="1100418"/>
            <a:ext cx="2513069" cy="4534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ctr" defTabSz="301832">
              <a:spcBef>
                <a:spcPts val="400"/>
              </a:spcBef>
              <a:defRPr b="1" sz="1496" u="sng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In Progress</a:t>
            </a:r>
          </a:p>
          <a:p>
            <a:pPr marL="226372" indent="-226372" defTabSz="301832">
              <a:spcBef>
                <a:spcPts val="400"/>
              </a:spcBef>
              <a:buSzPct val="100000"/>
              <a:buFont typeface="Arial"/>
              <a:buChar char="•"/>
              <a:defRPr sz="1232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Test (run) models (will take a few days):</a:t>
            </a:r>
          </a:p>
          <a:p>
            <a:pPr lvl="1" marL="528204" indent="-226372" defTabSz="301832">
              <a:spcBef>
                <a:spcPts val="400"/>
              </a:spcBef>
              <a:buSzPct val="100000"/>
              <a:buFont typeface="Arial"/>
              <a:buChar char="•"/>
              <a:defRPr sz="1232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Layered classifier + soft routing</a:t>
            </a:r>
          </a:p>
          <a:p>
            <a:pPr lvl="1" marL="528204" indent="-226372" defTabSz="301832">
              <a:spcBef>
                <a:spcPts val="400"/>
              </a:spcBef>
              <a:buSzPct val="100000"/>
              <a:buFont typeface="Arial"/>
              <a:buChar char="•"/>
              <a:defRPr sz="1232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Simple MLP + BERT</a:t>
            </a:r>
          </a:p>
          <a:p>
            <a:pPr lvl="1" marL="528204" indent="-226372" defTabSz="301832">
              <a:spcBef>
                <a:spcPts val="400"/>
              </a:spcBef>
              <a:buSzPct val="100000"/>
              <a:buFont typeface="Arial"/>
              <a:buChar char="•"/>
              <a:defRPr sz="1232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Multi-Task BERT model</a:t>
            </a:r>
          </a:p>
          <a:p>
            <a:pPr marL="226372" indent="-226372" defTabSz="301832">
              <a:spcBef>
                <a:spcPts val="400"/>
              </a:spcBef>
              <a:buSzPct val="100000"/>
              <a:buFont typeface="Arial"/>
              <a:buChar char="•"/>
              <a:defRPr sz="1232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Evaluation &amp; comparison across all models </a:t>
            </a:r>
          </a:p>
          <a:p>
            <a:pPr lvl="1" marL="528204" indent="-226372" defTabSz="301832">
              <a:spcBef>
                <a:spcPts val="400"/>
              </a:spcBef>
              <a:buSzPct val="100000"/>
              <a:buFont typeface="Arial"/>
              <a:buChar char="•"/>
              <a:defRPr sz="1232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Will be easy to do once done running</a:t>
            </a:r>
          </a:p>
          <a:p>
            <a:pPr marL="226372" indent="-226372" defTabSz="301832">
              <a:spcBef>
                <a:spcPts val="400"/>
              </a:spcBef>
              <a:buSzPct val="100000"/>
              <a:buFont typeface="Arial"/>
              <a:buChar char="•"/>
              <a:defRPr sz="1232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Hyperparameter tuning and model adjustments</a:t>
            </a:r>
          </a:p>
          <a:p>
            <a:pPr lvl="1" marL="528204" indent="-226372" defTabSz="301832">
              <a:spcBef>
                <a:spcPts val="400"/>
              </a:spcBef>
              <a:buSzPct val="100000"/>
              <a:buFont typeface="Arial"/>
              <a:buChar char="•"/>
              <a:defRPr sz="1232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1 week for tuning + rerunning </a:t>
            </a:r>
          </a:p>
          <a:p>
            <a:pPr marL="226372" indent="-226372" defTabSz="301832">
              <a:spcBef>
                <a:spcPts val="400"/>
              </a:spcBef>
              <a:buSzPct val="100000"/>
              <a:buFont typeface="Arial"/>
              <a:buChar char="•"/>
              <a:defRPr sz="1232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Visualization of results (confusion matrices, metric tables)</a:t>
            </a:r>
          </a:p>
          <a:p>
            <a:pPr lvl="1" marL="528204" indent="-226372" defTabSz="301832">
              <a:spcBef>
                <a:spcPts val="400"/>
              </a:spcBef>
              <a:buSzPct val="100000"/>
              <a:buFont typeface="Arial"/>
              <a:buChar char="•"/>
              <a:defRPr sz="1232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Couple hours</a:t>
            </a:r>
          </a:p>
        </p:txBody>
      </p:sp>
      <p:sp>
        <p:nvSpPr>
          <p:cNvPr id="175" name="Not Started…"/>
          <p:cNvSpPr txBox="1"/>
          <p:nvPr/>
        </p:nvSpPr>
        <p:spPr>
          <a:xfrm>
            <a:off x="6183450" y="1074551"/>
            <a:ext cx="2513069" cy="456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ctr" defTabSz="342991">
              <a:spcBef>
                <a:spcPts val="500"/>
              </a:spcBef>
              <a:defRPr b="1" sz="1600" u="sng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Not Started</a:t>
            </a:r>
          </a:p>
          <a:p>
            <a:pPr marL="257242" indent="-257242" defTabSz="342991">
              <a:spcBef>
                <a:spcPts val="500"/>
              </a:spcBef>
              <a:buSzPct val="100000"/>
              <a:buFont typeface="Arial"/>
              <a:buChar char="•"/>
              <a:defRPr sz="1400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Report + presentation slides</a:t>
            </a:r>
          </a:p>
          <a:p>
            <a:pPr marL="257242" indent="-257242" defTabSz="342991">
              <a:spcBef>
                <a:spcPts val="500"/>
              </a:spcBef>
              <a:buSzPct val="100000"/>
              <a:buFont typeface="Arial"/>
              <a:buChar char="•"/>
              <a:defRPr sz="1400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Additional analysis:</a:t>
            </a:r>
          </a:p>
          <a:p>
            <a:pPr lvl="1" marL="600232" indent="-257242" defTabSz="342991">
              <a:spcBef>
                <a:spcPts val="500"/>
              </a:spcBef>
              <a:buSzPct val="100000"/>
              <a:buFont typeface="Arial"/>
              <a:buChar char="•"/>
              <a:defRPr sz="1400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Per-class performance</a:t>
            </a:r>
          </a:p>
          <a:p>
            <a:pPr lvl="1" marL="600232" indent="-257242" defTabSz="342991">
              <a:spcBef>
                <a:spcPts val="500"/>
              </a:spcBef>
              <a:buSzPct val="100000"/>
              <a:buFont typeface="Arial"/>
              <a:buChar char="•"/>
              <a:defRPr sz="1400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Error analysis</a:t>
            </a:r>
          </a:p>
          <a:p>
            <a:pPr marL="257242" indent="-257242" defTabSz="342991">
              <a:spcBef>
                <a:spcPts val="500"/>
              </a:spcBef>
              <a:buSzPct val="100000"/>
              <a:buFont typeface="Arial"/>
              <a:buChar char="•"/>
              <a:defRPr sz="1400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A week or so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